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80" r:id="rId11"/>
    <p:sldId id="281" r:id="rId12"/>
    <p:sldId id="284" r:id="rId13"/>
    <p:sldId id="269" r:id="rId14"/>
    <p:sldId id="283" r:id="rId15"/>
    <p:sldId id="28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3CD8C-37CA-440D-AA33-8BF9FC79C9E4}" v="12" dt="2025-12-15T09:25:13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undo custSel addSld delSld modSld">
      <pc:chgData name="Pal, Soumyendu" userId="68503d3d-ac8d-4828-9c3f-abc5a97f3674" providerId="ADAL" clId="{92440D97-2063-49B4-9BF5-3A22B04E4F12}" dt="2025-12-20T11:34:10.367" v="392" actId="20577"/>
      <pc:docMkLst>
        <pc:docMk/>
      </pc:docMkLst>
      <pc:sldChg chg="modSp mod">
        <pc:chgData name="Pal, Soumyendu" userId="68503d3d-ac8d-4828-9c3f-abc5a97f3674" providerId="ADAL" clId="{92440D97-2063-49B4-9BF5-3A22B04E4F12}" dt="2025-12-15T06:52:17.635" v="308" actId="1076"/>
        <pc:sldMkLst>
          <pc:docMk/>
          <pc:sldMk cId="0" sldId="256"/>
        </pc:sldMkLst>
        <pc:spChg chg="mod">
          <ac:chgData name="Pal, Soumyendu" userId="68503d3d-ac8d-4828-9c3f-abc5a97f3674" providerId="ADAL" clId="{92440D97-2063-49B4-9BF5-3A22B04E4F12}" dt="2025-12-15T06:52:17.635" v="30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2-15T06:52:10.828" v="307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l, Soumyendu" userId="68503d3d-ac8d-4828-9c3f-abc5a97f3674" providerId="ADAL" clId="{92440D97-2063-49B4-9BF5-3A22B04E4F12}" dt="2025-12-15T06:31:15.673" v="129" actId="1076"/>
        <pc:sldMkLst>
          <pc:docMk/>
          <pc:sldMk cId="0" sldId="258"/>
        </pc:sldMkLst>
        <pc:spChg chg="mod">
          <ac:chgData name="Pal, Soumyendu" userId="68503d3d-ac8d-4828-9c3f-abc5a97f3674" providerId="ADAL" clId="{92440D97-2063-49B4-9BF5-3A22B04E4F12}" dt="2025-12-15T06:31:15.673" v="129" actId="1076"/>
          <ac:spMkLst>
            <pc:docMk/>
            <pc:sldMk cId="0" sldId="258"/>
            <ac:spMk id="8" creationId="{68708C7F-69BC-9334-FEC7-02E57F8CFB7F}"/>
          </ac:spMkLst>
        </pc:spChg>
      </pc:sldChg>
      <pc:sldChg chg="modSp mod">
        <pc:chgData name="Pal, Soumyendu" userId="68503d3d-ac8d-4828-9c3f-abc5a97f3674" providerId="ADAL" clId="{92440D97-2063-49B4-9BF5-3A22B04E4F12}" dt="2025-12-20T11:34:10.367" v="392" actId="20577"/>
        <pc:sldMkLst>
          <pc:docMk/>
          <pc:sldMk cId="0" sldId="260"/>
        </pc:sldMkLst>
        <pc:spChg chg="mod">
          <ac:chgData name="Pal, Soumyendu" userId="68503d3d-ac8d-4828-9c3f-abc5a97f3674" providerId="ADAL" clId="{92440D97-2063-49B4-9BF5-3A22B04E4F12}" dt="2025-12-20T11:34:10.367" v="392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Pal, Soumyendu" userId="68503d3d-ac8d-4828-9c3f-abc5a97f3674" providerId="ADAL" clId="{92440D97-2063-49B4-9BF5-3A22B04E4F12}" dt="2025-12-15T08:24:52.453" v="354" actId="1076"/>
        <pc:sldMkLst>
          <pc:docMk/>
          <pc:sldMk cId="0" sldId="262"/>
        </pc:sldMkLst>
        <pc:spChg chg="mod">
          <ac:chgData name="Pal, Soumyendu" userId="68503d3d-ac8d-4828-9c3f-abc5a97f3674" providerId="ADAL" clId="{92440D97-2063-49B4-9BF5-3A22B04E4F12}" dt="2025-12-15T06:30:09.648" v="121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2-15T06:30:14.701" v="124" actId="2763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Pal, Soumyendu" userId="68503d3d-ac8d-4828-9c3f-abc5a97f3674" providerId="ADAL" clId="{92440D97-2063-49B4-9BF5-3A22B04E4F12}" dt="2025-12-15T08:24:52.453" v="354" actId="1076"/>
          <ac:picMkLst>
            <pc:docMk/>
            <pc:sldMk cId="0" sldId="262"/>
            <ac:picMk id="6" creationId="{8118CA27-15A5-EBAF-0386-55AD91048016}"/>
          </ac:picMkLst>
        </pc:picChg>
      </pc:sldChg>
      <pc:sldChg chg="addSp delSp modSp mod">
        <pc:chgData name="Pal, Soumyendu" userId="68503d3d-ac8d-4828-9c3f-abc5a97f3674" providerId="ADAL" clId="{92440D97-2063-49B4-9BF5-3A22B04E4F12}" dt="2025-12-15T06:34:51.808" v="148" actId="1076"/>
        <pc:sldMkLst>
          <pc:docMk/>
          <pc:sldMk cId="2092322379" sldId="279"/>
        </pc:sldMkLst>
        <pc:spChg chg="mod">
          <ac:chgData name="Pal, Soumyendu" userId="68503d3d-ac8d-4828-9c3f-abc5a97f3674" providerId="ADAL" clId="{92440D97-2063-49B4-9BF5-3A22B04E4F12}" dt="2025-12-15T06:34:51.808" v="148" actId="1076"/>
          <ac:spMkLst>
            <pc:docMk/>
            <pc:sldMk cId="2092322379" sldId="279"/>
            <ac:spMk id="2" creationId="{48B67E33-C637-90DB-D80A-3B3B5831079D}"/>
          </ac:spMkLst>
        </pc:spChg>
        <pc:spChg chg="mod">
          <ac:chgData name="Pal, Soumyendu" userId="68503d3d-ac8d-4828-9c3f-abc5a97f3674" providerId="ADAL" clId="{92440D97-2063-49B4-9BF5-3A22B04E4F12}" dt="2025-12-15T06:34:49.684" v="147" actId="1076"/>
          <ac:spMkLst>
            <pc:docMk/>
            <pc:sldMk cId="2092322379" sldId="279"/>
            <ac:spMk id="7" creationId="{98FCCA02-9A12-7510-9419-A4ABB2BA51A8}"/>
          </ac:spMkLst>
        </pc:spChg>
        <pc:picChg chg="add mod">
          <ac:chgData name="Pal, Soumyendu" userId="68503d3d-ac8d-4828-9c3f-abc5a97f3674" providerId="ADAL" clId="{92440D97-2063-49B4-9BF5-3A22B04E4F12}" dt="2025-12-15T06:34:09.598" v="137" actId="1076"/>
          <ac:picMkLst>
            <pc:docMk/>
            <pc:sldMk cId="2092322379" sldId="279"/>
            <ac:picMk id="12" creationId="{C7C7A750-0F3F-4043-5A2D-12B65CE67F7B}"/>
          </ac:picMkLst>
        </pc:picChg>
      </pc:sldChg>
      <pc:sldChg chg="addSp delSp modSp mod">
        <pc:chgData name="Pal, Soumyendu" userId="68503d3d-ac8d-4828-9c3f-abc5a97f3674" providerId="ADAL" clId="{92440D97-2063-49B4-9BF5-3A22B04E4F12}" dt="2025-12-15T06:49:14.732" v="306" actId="20577"/>
        <pc:sldMkLst>
          <pc:docMk/>
          <pc:sldMk cId="1746518169" sldId="280"/>
        </pc:sldMkLst>
        <pc:spChg chg="mod">
          <ac:chgData name="Pal, Soumyendu" userId="68503d3d-ac8d-4828-9c3f-abc5a97f3674" providerId="ADAL" clId="{92440D97-2063-49B4-9BF5-3A22B04E4F12}" dt="2025-12-15T06:47:01.723" v="221" actId="1035"/>
          <ac:spMkLst>
            <pc:docMk/>
            <pc:sldMk cId="1746518169" sldId="280"/>
            <ac:spMk id="2" creationId="{CA4AD65F-6C3C-9757-D131-EC2EB63EF81F}"/>
          </ac:spMkLst>
        </pc:spChg>
        <pc:spChg chg="add mod">
          <ac:chgData name="Pal, Soumyendu" userId="68503d3d-ac8d-4828-9c3f-abc5a97f3674" providerId="ADAL" clId="{92440D97-2063-49B4-9BF5-3A22B04E4F12}" dt="2025-12-15T06:49:14.732" v="306" actId="20577"/>
          <ac:spMkLst>
            <pc:docMk/>
            <pc:sldMk cId="1746518169" sldId="280"/>
            <ac:spMk id="7" creationId="{2E95DE7E-36F7-1B9A-C69A-CD613D7ACFE1}"/>
          </ac:spMkLst>
        </pc:spChg>
        <pc:spChg chg="mod">
          <ac:chgData name="Pal, Soumyendu" userId="68503d3d-ac8d-4828-9c3f-abc5a97f3674" providerId="ADAL" clId="{92440D97-2063-49B4-9BF5-3A22B04E4F12}" dt="2025-12-15T06:47:08.964" v="251" actId="1035"/>
          <ac:spMkLst>
            <pc:docMk/>
            <pc:sldMk cId="1746518169" sldId="280"/>
            <ac:spMk id="15" creationId="{ED517783-B50D-4720-D332-14CFAC3E7EDE}"/>
          </ac:spMkLst>
        </pc:spChg>
        <pc:picChg chg="add mod">
          <ac:chgData name="Pal, Soumyendu" userId="68503d3d-ac8d-4828-9c3f-abc5a97f3674" providerId="ADAL" clId="{92440D97-2063-49B4-9BF5-3A22B04E4F12}" dt="2025-12-15T06:48:16.089" v="265" actId="1076"/>
          <ac:picMkLst>
            <pc:docMk/>
            <pc:sldMk cId="1746518169" sldId="280"/>
            <ac:picMk id="10" creationId="{FAB4B241-CEEB-136E-671D-B3C1DA5FE34A}"/>
          </ac:picMkLst>
        </pc:picChg>
      </pc:sldChg>
      <pc:sldChg chg="addSp delSp modSp mod">
        <pc:chgData name="Pal, Soumyendu" userId="68503d3d-ac8d-4828-9c3f-abc5a97f3674" providerId="ADAL" clId="{92440D97-2063-49B4-9BF5-3A22B04E4F12}" dt="2025-12-15T09:22:32.596" v="372" actId="14100"/>
        <pc:sldMkLst>
          <pc:docMk/>
          <pc:sldMk cId="1700442119" sldId="281"/>
        </pc:sldMkLst>
        <pc:spChg chg="mod">
          <ac:chgData name="Pal, Soumyendu" userId="68503d3d-ac8d-4828-9c3f-abc5a97f3674" providerId="ADAL" clId="{92440D97-2063-49B4-9BF5-3A22B04E4F12}" dt="2025-12-15T06:10:14.174" v="65" actId="404"/>
          <ac:spMkLst>
            <pc:docMk/>
            <pc:sldMk cId="1700442119" sldId="281"/>
            <ac:spMk id="2" creationId="{1C019467-B4D7-D033-4888-A31268423FAD}"/>
          </ac:spMkLst>
        </pc:spChg>
        <pc:spChg chg="mod">
          <ac:chgData name="Pal, Soumyendu" userId="68503d3d-ac8d-4828-9c3f-abc5a97f3674" providerId="ADAL" clId="{92440D97-2063-49B4-9BF5-3A22B04E4F12}" dt="2025-12-15T09:22:26.972" v="371" actId="20577"/>
          <ac:spMkLst>
            <pc:docMk/>
            <pc:sldMk cId="1700442119" sldId="281"/>
            <ac:spMk id="3" creationId="{EAC08E23-C4EB-A941-FBF2-2E5743773AC9}"/>
          </ac:spMkLst>
        </pc:spChg>
        <pc:picChg chg="add mod">
          <ac:chgData name="Pal, Soumyendu" userId="68503d3d-ac8d-4828-9c3f-abc5a97f3674" providerId="ADAL" clId="{92440D97-2063-49B4-9BF5-3A22B04E4F12}" dt="2025-12-15T09:22:32.596" v="372" actId="14100"/>
          <ac:picMkLst>
            <pc:docMk/>
            <pc:sldMk cId="1700442119" sldId="281"/>
            <ac:picMk id="8" creationId="{08C2D5F5-84F4-39D4-E6B2-0975DA92479C}"/>
          </ac:picMkLst>
        </pc:picChg>
      </pc:sldChg>
      <pc:sldChg chg="addSp delSp modSp add mod">
        <pc:chgData name="Pal, Soumyendu" userId="68503d3d-ac8d-4828-9c3f-abc5a97f3674" providerId="ADAL" clId="{92440D97-2063-49B4-9BF5-3A22B04E4F12}" dt="2025-12-15T09:16:52.100" v="369" actId="404"/>
        <pc:sldMkLst>
          <pc:docMk/>
          <pc:sldMk cId="290561121" sldId="284"/>
        </pc:sldMkLst>
        <pc:spChg chg="add mod">
          <ac:chgData name="Pal, Soumyendu" userId="68503d3d-ac8d-4828-9c3f-abc5a97f3674" providerId="ADAL" clId="{92440D97-2063-49B4-9BF5-3A22B04E4F12}" dt="2025-12-15T08:22:41.800" v="338" actId="27636"/>
          <ac:spMkLst>
            <pc:docMk/>
            <pc:sldMk cId="290561121" sldId="284"/>
            <ac:spMk id="7" creationId="{CBBBF3BA-0ADC-031D-394B-904A31115084}"/>
          </ac:spMkLst>
        </pc:spChg>
        <pc:spChg chg="add mod">
          <ac:chgData name="Pal, Soumyendu" userId="68503d3d-ac8d-4828-9c3f-abc5a97f3674" providerId="ADAL" clId="{92440D97-2063-49B4-9BF5-3A22B04E4F12}" dt="2025-12-15T09:16:52.100" v="369" actId="404"/>
          <ac:spMkLst>
            <pc:docMk/>
            <pc:sldMk cId="290561121" sldId="284"/>
            <ac:spMk id="12" creationId="{3AA6BA5C-A2F9-1271-C7EF-AFD6A5D752AC}"/>
          </ac:spMkLst>
        </pc:spChg>
        <pc:picChg chg="add mod">
          <ac:chgData name="Pal, Soumyendu" userId="68503d3d-ac8d-4828-9c3f-abc5a97f3674" providerId="ADAL" clId="{92440D97-2063-49B4-9BF5-3A22B04E4F12}" dt="2025-12-15T08:24:11.918" v="351" actId="1076"/>
          <ac:picMkLst>
            <pc:docMk/>
            <pc:sldMk cId="290561121" sldId="284"/>
            <ac:picMk id="17" creationId="{621CF280-274C-39BD-9FA6-7F1582462DFF}"/>
          </ac:picMkLst>
        </pc:picChg>
      </pc:sldChg>
      <pc:sldChg chg="addSp delSp modSp add mod setBg delDesignElem">
        <pc:chgData name="Pal, Soumyendu" userId="68503d3d-ac8d-4828-9c3f-abc5a97f3674" providerId="ADAL" clId="{92440D97-2063-49B4-9BF5-3A22B04E4F12}" dt="2025-12-15T09:36:12.694" v="391" actId="1076"/>
        <pc:sldMkLst>
          <pc:docMk/>
          <pc:sldMk cId="739361863" sldId="285"/>
        </pc:sldMkLst>
        <pc:spChg chg="add mod">
          <ac:chgData name="Pal, Soumyendu" userId="68503d3d-ac8d-4828-9c3f-abc5a97f3674" providerId="ADAL" clId="{92440D97-2063-49B4-9BF5-3A22B04E4F12}" dt="2025-12-15T09:36:12.694" v="391" actId="1076"/>
          <ac:spMkLst>
            <pc:docMk/>
            <pc:sldMk cId="739361863" sldId="285"/>
            <ac:spMk id="2" creationId="{1B7D8B70-DCD5-35F2-66D3-5B44B9F84E52}"/>
          </ac:spMkLst>
        </pc:spChg>
        <pc:spChg chg="add mod">
          <ac:chgData name="Pal, Soumyendu" userId="68503d3d-ac8d-4828-9c3f-abc5a97f3674" providerId="ADAL" clId="{92440D97-2063-49B4-9BF5-3A22B04E4F12}" dt="2025-12-15T09:36:05.577" v="389" actId="120"/>
          <ac:spMkLst>
            <pc:docMk/>
            <pc:sldMk cId="739361863" sldId="285"/>
            <ac:spMk id="3" creationId="{43A322F2-46D5-830C-1B8C-2665F59D5220}"/>
          </ac:spMkLst>
        </pc:spChg>
        <pc:spChg chg="add mod">
          <ac:chgData name="Pal, Soumyendu" userId="68503d3d-ac8d-4828-9c3f-abc5a97f3674" providerId="ADAL" clId="{92440D97-2063-49B4-9BF5-3A22B04E4F12}" dt="2025-12-15T09:36:00.046" v="386" actId="1076"/>
          <ac:spMkLst>
            <pc:docMk/>
            <pc:sldMk cId="739361863" sldId="285"/>
            <ac:spMk id="8" creationId="{DA3E7D86-720B-24C5-8AE2-E378CC035415}"/>
          </ac:spMkLst>
        </pc:spChg>
        <pc:spChg chg="add mod">
          <ac:chgData name="Pal, Soumyendu" userId="68503d3d-ac8d-4828-9c3f-abc5a97f3674" providerId="ADAL" clId="{92440D97-2063-49B4-9BF5-3A22B04E4F12}" dt="2025-12-15T09:25:13.718" v="378"/>
          <ac:spMkLst>
            <pc:docMk/>
            <pc:sldMk cId="739361863" sldId="285"/>
            <ac:spMk id="10" creationId="{130B7C42-7A87-DEAA-65B9-AD521C6C68E8}"/>
          </ac:spMkLst>
        </pc:spChg>
        <pc:picChg chg="add mod">
          <ac:chgData name="Pal, Soumyendu" userId="68503d3d-ac8d-4828-9c3f-abc5a97f3674" providerId="ADAL" clId="{92440D97-2063-49B4-9BF5-3A22B04E4F12}" dt="2025-12-15T09:35:57.711" v="385" actId="14100"/>
          <ac:picMkLst>
            <pc:docMk/>
            <pc:sldMk cId="739361863" sldId="285"/>
            <ac:picMk id="6" creationId="{A6CE27C9-B862-ED30-DB90-27EEE9BEF6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8E013-6527-47F3-AE52-8F2C67BC63AA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F8702-6691-45D5-BA49-2234DAE24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65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F8702-6691-45D5-BA49-2234DAE2491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4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F8702-6691-45D5-BA49-2234DAE2491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9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3422" y="623275"/>
            <a:ext cx="6923558" cy="3542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7000" dirty="0">
                <a:solidFill>
                  <a:srgbClr val="002060"/>
                </a:solidFill>
              </a:rPr>
              <a:t>Mastering Jinja2 for Ansible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000" dirty="0">
                <a:solidFill>
                  <a:srgbClr val="002060"/>
                </a:solidFill>
              </a:rPr>
              <a:t>Dynamic Automation with Jinja2</a:t>
            </a:r>
          </a:p>
          <a:p>
            <a:pPr algn="l"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000" dirty="0" err="1">
                <a:solidFill>
                  <a:srgbClr val="002060"/>
                </a:solidFill>
              </a:rPr>
              <a:t>AutomateOps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468879" cy="4480726"/>
          </a:xfrm>
        </p:spPr>
        <p:txBody>
          <a:bodyPr>
            <a:normAutofit/>
          </a:bodyPr>
          <a:lstStyle/>
          <a:p>
            <a:pPr algn="r"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4800" b="1" dirty="0">
                <a:solidFill>
                  <a:srgbClr val="002060"/>
                </a:solidFill>
              </a:rPr>
              <a:t>What is Jinja2?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741" y="1529098"/>
            <a:ext cx="3867529" cy="3560260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US" sz="2100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dirty="0">
                <a:solidFill>
                  <a:srgbClr val="002060"/>
                </a:solidFill>
              </a:rPr>
              <a:t>A Python-based templating engine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dirty="0">
                <a:solidFill>
                  <a:srgbClr val="002060"/>
                </a:solidFill>
              </a:rPr>
              <a:t>Used for dynamic content rendering in Ansible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dirty="0">
                <a:solidFill>
                  <a:srgbClr val="002060"/>
                </a:solidFill>
              </a:rPr>
              <a:t>Enables logic, loops, filters, and variable manipulation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3640"/>
            <a:ext cx="6056111" cy="586063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4000" dirty="0">
                <a:solidFill>
                  <a:srgbClr val="002060"/>
                </a:solidFill>
              </a:rPr>
              <a:t>Jinja2 in Ansible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19" y="1402488"/>
            <a:ext cx="6056111" cy="1209339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Dynamic playbooks and templates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Conditional execution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Simplifies complex configurations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708C7F-69BC-9334-FEC7-02E57F8CFB7F}"/>
              </a:ext>
            </a:extLst>
          </p:cNvPr>
          <p:cNvSpPr txBox="1"/>
          <p:nvPr/>
        </p:nvSpPr>
        <p:spPr>
          <a:xfrm>
            <a:off x="557531" y="2884598"/>
            <a:ext cx="68216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Purpose of Jinja2 in Ansible:</a:t>
            </a:r>
          </a:p>
          <a:p>
            <a:r>
              <a:rPr lang="en-US" sz="1600" b="1" dirty="0">
                <a:solidFill>
                  <a:srgbClr val="002060"/>
                </a:solidFill>
                <a:latin typeface="Arial"/>
              </a:rPr>
              <a:t>Dynamic Content Rendering: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Jinja2 allows you to create templates that adapt based on variables, facts, and conditions.</a:t>
            </a: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rial"/>
              </a:rPr>
              <a:t>Logic in Templates: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Enables if, for, and other control structures inside playbooks and configuration files</a:t>
            </a:r>
            <a:r>
              <a:rPr lang="en-US" sz="1600" b="1" dirty="0">
                <a:solidFill>
                  <a:srgbClr val="002060"/>
                </a:solidFill>
                <a:latin typeface="Arial"/>
              </a:rPr>
              <a:t>.</a:t>
            </a:r>
          </a:p>
          <a:p>
            <a:endParaRPr lang="en-US" sz="1600" b="1" dirty="0">
              <a:solidFill>
                <a:srgbClr val="002060"/>
              </a:solidFill>
              <a:latin typeface="Arial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rial"/>
              </a:rPr>
              <a:t>Data Transformation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: Filters and tests help manipulate data (e.g., converting lists to strings, checking variable types).</a:t>
            </a: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  <a:latin typeface="Arial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rial"/>
              </a:rPr>
              <a:t>Reusable Templates: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Arial"/>
              </a:rPr>
              <a:t>Simplifies configuration management by avoiding hardcoding values.</a:t>
            </a:r>
            <a:endParaRPr lang="en-IN" sz="1600" b="1" dirty="0">
              <a:solidFill>
                <a:schemeClr val="accent5">
                  <a:lumMod val="75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5" y="1188637"/>
            <a:ext cx="2697478" cy="448072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3600" b="1" dirty="0">
                <a:solidFill>
                  <a:srgbClr val="002060"/>
                </a:solidFill>
              </a:rPr>
              <a:t>Core Syntax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2053" y="1497816"/>
            <a:ext cx="3527136" cy="3560260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IN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100" b="1" dirty="0">
                <a:solidFill>
                  <a:srgbClr val="002060"/>
                </a:solidFill>
              </a:rPr>
              <a:t>{{ ... }} → Expressions for output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100" b="1" dirty="0">
                <a:solidFill>
                  <a:srgbClr val="002060"/>
                </a:solidFill>
              </a:rPr>
              <a:t>{% ... %} → Statements (control structures)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100" b="1" dirty="0">
                <a:solidFill>
                  <a:srgbClr val="002060"/>
                </a:solidFill>
              </a:rPr>
              <a:t>{# ... #} → Comments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1" y="1188637"/>
            <a:ext cx="2468880" cy="4480726"/>
          </a:xfrm>
        </p:spPr>
        <p:txBody>
          <a:bodyPr>
            <a:normAutofit/>
          </a:bodyPr>
          <a:lstStyle/>
          <a:p>
            <a:pPr algn="r"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3100" b="1" dirty="0">
                <a:solidFill>
                  <a:srgbClr val="002060"/>
                </a:solidFill>
              </a:rPr>
              <a:t>Whitespace Control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US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-{% and %}- for trimming spaces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5400" b="1" dirty="0">
                <a:solidFill>
                  <a:srgbClr val="002060"/>
                </a:solidFill>
              </a:rPr>
              <a:t>Accessing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1474515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US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Ansible facts and custom variables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Nested variables and dot notation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10" y="854481"/>
            <a:ext cx="6056111" cy="467309"/>
          </a:xfrm>
        </p:spPr>
        <p:txBody>
          <a:bodyPr anchor="ctr">
            <a:no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3000" b="1" dirty="0">
                <a:solidFill>
                  <a:srgbClr val="002060"/>
                </a:solidFill>
              </a:rPr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209" y="1488141"/>
            <a:ext cx="6056111" cy="1373931"/>
          </a:xfrm>
        </p:spPr>
        <p:txBody>
          <a:bodyPr anchor="t">
            <a:normAutofit lnSpcReduction="10000"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IN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100" b="1" dirty="0">
                <a:solidFill>
                  <a:srgbClr val="002060"/>
                </a:solidFill>
              </a:rPr>
              <a:t>Common filters: default, upper, lower, join, split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100" b="1" dirty="0">
                <a:solidFill>
                  <a:srgbClr val="002060"/>
                </a:solidFill>
              </a:rPr>
              <a:t>Syntax: {{ variable | filter }}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18CA27-15A5-EBAF-0386-55AD91048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80" y="3665123"/>
            <a:ext cx="8662670" cy="3039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800" b="1" dirty="0">
                <a:solidFill>
                  <a:srgbClr val="002060"/>
                </a:solidFill>
              </a:rPr>
              <a:t>Conditional Statements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US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if, </a:t>
            </a:r>
            <a:r>
              <a:rPr lang="en-US" sz="2100" b="1" dirty="0" err="1">
                <a:solidFill>
                  <a:srgbClr val="002060"/>
                </a:solidFill>
              </a:rPr>
              <a:t>elif</a:t>
            </a:r>
            <a:r>
              <a:rPr lang="en-US" sz="2100" b="1" dirty="0">
                <a:solidFill>
                  <a:srgbClr val="002060"/>
                </a:solidFill>
              </a:rPr>
              <a:t>, else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Logical operators: and, or, not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Example: hostname-based conditions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B21A1-EFF3-8646-E253-8A07CBCE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82F1E9-71D0-35A0-C3A8-52A2083E7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37E6E62A-08BA-8590-C52F-A683B8C0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E8C74-4376-435E-DA3D-D88010A5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67E33-C637-90DB-D80A-3B3B5831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562121"/>
            <a:ext cx="5422392" cy="59831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800" b="1" dirty="0">
                <a:solidFill>
                  <a:srgbClr val="002060"/>
                </a:solidFill>
              </a:rPr>
              <a:t>If – </a:t>
            </a:r>
            <a:r>
              <a:rPr lang="en-IN" sz="2800" b="1" dirty="0" err="1">
                <a:solidFill>
                  <a:srgbClr val="002060"/>
                </a:solidFill>
              </a:rPr>
              <a:t>elif</a:t>
            </a:r>
            <a:r>
              <a:rPr lang="en-IN" sz="2800" b="1" dirty="0">
                <a:solidFill>
                  <a:srgbClr val="002060"/>
                </a:solidFill>
              </a:rPr>
              <a:t> Conditional Statements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F0B08F-6455-A322-11AB-CF1EED3FE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2A744B94-CCED-FCE4-9886-1AE1F5EFF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FCCA02-9A12-7510-9419-A4ABB2BA51A8}"/>
              </a:ext>
            </a:extLst>
          </p:cNvPr>
          <p:cNvSpPr txBox="1"/>
          <p:nvPr/>
        </p:nvSpPr>
        <p:spPr>
          <a:xfrm>
            <a:off x="3573019" y="1388405"/>
            <a:ext cx="4893840" cy="213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sz="1900" b="1" dirty="0">
                <a:solidFill>
                  <a:srgbClr val="002060"/>
                </a:solidFill>
              </a:rPr>
              <a:t>{% if </a:t>
            </a:r>
            <a:r>
              <a:rPr sz="1900" b="1" dirty="0" err="1">
                <a:solidFill>
                  <a:srgbClr val="002060"/>
                </a:solidFill>
              </a:rPr>
              <a:t>ansible_hostname</a:t>
            </a:r>
            <a:r>
              <a:rPr sz="1900" b="1" dirty="0">
                <a:solidFill>
                  <a:srgbClr val="002060"/>
                </a:solidFill>
              </a:rPr>
              <a:t> == 'Control' %}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This is a control Server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{% </a:t>
            </a:r>
            <a:r>
              <a:rPr sz="1900" b="1" dirty="0" err="1">
                <a:solidFill>
                  <a:srgbClr val="002060"/>
                </a:solidFill>
              </a:rPr>
              <a:t>elif</a:t>
            </a:r>
            <a:r>
              <a:rPr sz="1900" b="1" dirty="0">
                <a:solidFill>
                  <a:srgbClr val="002060"/>
                </a:solidFill>
              </a:rPr>
              <a:t> </a:t>
            </a:r>
            <a:r>
              <a:rPr sz="1900" b="1" dirty="0" err="1">
                <a:solidFill>
                  <a:srgbClr val="002060"/>
                </a:solidFill>
              </a:rPr>
              <a:t>ansible_hostname</a:t>
            </a:r>
            <a:r>
              <a:rPr sz="1900" b="1" dirty="0">
                <a:solidFill>
                  <a:srgbClr val="002060"/>
                </a:solidFill>
              </a:rPr>
              <a:t> == 'Target1' %}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This is Target1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{% else %}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Other host</a:t>
            </a:r>
            <a:br>
              <a:rPr sz="1900" b="1" dirty="0">
                <a:solidFill>
                  <a:srgbClr val="002060"/>
                </a:solidFill>
              </a:rPr>
            </a:br>
            <a:r>
              <a:rPr sz="1900" b="1" dirty="0">
                <a:solidFill>
                  <a:srgbClr val="002060"/>
                </a:solidFill>
              </a:rPr>
              <a:t>{% endif %}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C7A750-0F3F-4043-5A2D-12B65CE67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3588606"/>
            <a:ext cx="9144000" cy="309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2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D7161-5DAC-A0E4-5A59-AC0A18B4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A0D38-C806-05F0-859F-ADEC7A42F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4275B758-26C5-565B-80EB-A3C50B294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33D950-77B0-2F80-5798-8C9EAE879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AD65F-6C3C-9757-D131-EC2EB63E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24" y="532489"/>
            <a:ext cx="6056111" cy="694816"/>
          </a:xfrm>
        </p:spPr>
        <p:txBody>
          <a:bodyPr anchor="ctr">
            <a:no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3000" b="1" dirty="0">
                <a:solidFill>
                  <a:srgbClr val="002060"/>
                </a:solidFill>
              </a:rPr>
              <a:t>F</a:t>
            </a:r>
            <a:r>
              <a:rPr lang="en-IN" sz="3000" b="1" dirty="0" err="1">
                <a:solidFill>
                  <a:srgbClr val="002060"/>
                </a:solidFill>
              </a:rPr>
              <a:t>ilters</a:t>
            </a:r>
            <a:endParaRPr lang="en-IN" sz="3000" b="1" dirty="0">
              <a:solidFill>
                <a:srgbClr val="002060"/>
              </a:solidFill>
            </a:endParaRPr>
          </a:p>
        </p:txBody>
      </p:sp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9FB14722-EF7F-26D1-5E6C-2468B67AF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517783-B50D-4720-D332-14CFAC3E7EDE}"/>
              </a:ext>
            </a:extLst>
          </p:cNvPr>
          <p:cNvSpPr txBox="1"/>
          <p:nvPr/>
        </p:nvSpPr>
        <p:spPr>
          <a:xfrm>
            <a:off x="1090224" y="1090145"/>
            <a:ext cx="6961002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FFFFFF"/>
                </a:solidFill>
                <a:latin typeface="Arial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length, replace, map,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selectattr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FFFFFF"/>
                </a:solidFill>
                <a:latin typeface="Arial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Chaining filters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5DE7E-36F7-1B9A-C69A-CD613D7ACFE1}"/>
              </a:ext>
            </a:extLst>
          </p:cNvPr>
          <p:cNvSpPr txBox="1"/>
          <p:nvPr/>
        </p:nvSpPr>
        <p:spPr>
          <a:xfrm>
            <a:off x="562897" y="1974193"/>
            <a:ext cx="82178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Sample Code </a:t>
            </a:r>
            <a:r>
              <a:rPr lang="en-IN" sz="1400" b="1">
                <a:solidFill>
                  <a:schemeClr val="tx2"/>
                </a:solidFill>
              </a:rPr>
              <a:t>using Replace Filter:</a:t>
            </a:r>
            <a:endParaRPr lang="en-IN" sz="1400" b="1" dirty="0">
              <a:solidFill>
                <a:schemeClr val="tx2"/>
              </a:solidFill>
            </a:endParaRPr>
          </a:p>
          <a:p>
            <a:r>
              <a:rPr lang="en-IN" sz="1400" b="1" dirty="0">
                <a:solidFill>
                  <a:schemeClr val="tx2"/>
                </a:solidFill>
              </a:rPr>
              <a:t>---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- name: Replace demo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hosts: all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gather_facts: false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vars: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  </a:t>
            </a:r>
            <a:r>
              <a:rPr lang="en-IN" sz="1400" b="1" dirty="0" err="1">
                <a:solidFill>
                  <a:schemeClr val="tx2"/>
                </a:solidFill>
              </a:rPr>
              <a:t>test_str</a:t>
            </a:r>
            <a:r>
              <a:rPr lang="en-IN" sz="1400" b="1" dirty="0">
                <a:solidFill>
                  <a:schemeClr val="tx2"/>
                </a:solidFill>
              </a:rPr>
              <a:t>: "Hello World!"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tasks: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  - name: Displaying String before and after  modification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    ansible.builtin.debug:</a:t>
            </a:r>
          </a:p>
          <a:p>
            <a:r>
              <a:rPr lang="en-IN" sz="1400" b="1" dirty="0">
                <a:solidFill>
                  <a:schemeClr val="tx2"/>
                </a:solidFill>
              </a:rPr>
              <a:t>        msg: "Original String: {{</a:t>
            </a:r>
            <a:r>
              <a:rPr lang="en-IN" sz="1400" b="1" dirty="0" err="1">
                <a:solidFill>
                  <a:schemeClr val="tx2"/>
                </a:solidFill>
              </a:rPr>
              <a:t>test_str</a:t>
            </a:r>
            <a:r>
              <a:rPr lang="en-IN" sz="1400" b="1" dirty="0">
                <a:solidFill>
                  <a:schemeClr val="tx2"/>
                </a:solidFill>
              </a:rPr>
              <a:t> }}, Replacing 'Hello' with word 'Bye':  {{ </a:t>
            </a:r>
            <a:r>
              <a:rPr lang="en-IN" sz="1400" b="1" dirty="0" err="1">
                <a:solidFill>
                  <a:schemeClr val="tx2"/>
                </a:solidFill>
              </a:rPr>
              <a:t>test_str</a:t>
            </a:r>
            <a:r>
              <a:rPr lang="en-IN" sz="1400" b="1" dirty="0">
                <a:solidFill>
                  <a:schemeClr val="tx2"/>
                </a:solidFill>
              </a:rPr>
              <a:t> | replace('Hello', 'Bye')}}"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B4B241-CEEB-136E-671D-B3C1DA5FE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53810"/>
            <a:ext cx="9144000" cy="196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1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BAE9-CDE2-EEB4-BADA-5F2326DC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9467-B4D7-D033-4888-A3126842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20" y="391825"/>
            <a:ext cx="6056111" cy="592224"/>
          </a:xfrm>
        </p:spPr>
        <p:txBody>
          <a:bodyPr anchor="ctr">
            <a:no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4800" b="1" dirty="0">
                <a:solidFill>
                  <a:srgbClr val="002060"/>
                </a:solidFill>
              </a:rPr>
              <a:t>Tests</a:t>
            </a:r>
            <a:endParaRPr lang="en-IN" sz="4800" b="1" dirty="0">
              <a:solidFill>
                <a:srgbClr val="002060"/>
              </a:solidFill>
            </a:endParaRPr>
          </a:p>
        </p:txBody>
      </p:sp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F4127538-A05D-2996-DCA6-E00904832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8E23-C4EB-A941-FBF2-2E5743773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1595929"/>
            <a:ext cx="8083296" cy="2059152"/>
          </a:xfrm>
        </p:spPr>
        <p:txBody>
          <a:bodyPr anchor="ctr">
            <a:no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</a:defRPr>
            </a:pPr>
            <a:endParaRPr sz="1200" b="1" dirty="0">
              <a:solidFill>
                <a:srgbClr val="002060"/>
              </a:solidFill>
            </a:endParaRP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sz="1200" b="1" dirty="0">
                <a:solidFill>
                  <a:srgbClr val="002060"/>
                </a:solidFill>
              </a:rPr>
              <a:t>is defined, is string, is number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sz="1200" b="1" dirty="0">
                <a:solidFill>
                  <a:srgbClr val="002060"/>
                </a:solidFill>
              </a:rPr>
              <a:t>Example: </a:t>
            </a:r>
            <a:r>
              <a:rPr lang="en-US" sz="1200" b="1" dirty="0">
                <a:solidFill>
                  <a:srgbClr val="002060"/>
                </a:solidFill>
              </a:rPr>
              <a:t> Check if variable is a number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=====================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{% set </a:t>
            </a:r>
            <a:r>
              <a:rPr lang="en-US" sz="1200" b="1" dirty="0" err="1">
                <a:solidFill>
                  <a:srgbClr val="002060"/>
                </a:solidFill>
              </a:rPr>
              <a:t>my_var</a:t>
            </a:r>
            <a:r>
              <a:rPr lang="en-US" sz="1200" b="1" dirty="0">
                <a:solidFill>
                  <a:srgbClr val="002060"/>
                </a:solidFill>
              </a:rPr>
              <a:t> = 42 %}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{% if </a:t>
            </a:r>
            <a:r>
              <a:rPr lang="en-US" sz="1200" b="1" dirty="0" err="1">
                <a:solidFill>
                  <a:srgbClr val="002060"/>
                </a:solidFill>
              </a:rPr>
              <a:t>my_var</a:t>
            </a:r>
            <a:r>
              <a:rPr lang="en-US" sz="1200" b="1" dirty="0">
                <a:solidFill>
                  <a:srgbClr val="002060"/>
                </a:solidFill>
              </a:rPr>
              <a:t> is number %}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  </a:t>
            </a:r>
            <a:r>
              <a:rPr lang="en-US" sz="1200" b="1" dirty="0" err="1">
                <a:solidFill>
                  <a:srgbClr val="002060"/>
                </a:solidFill>
              </a:rPr>
              <a:t>my_var</a:t>
            </a:r>
            <a:r>
              <a:rPr lang="en-US" sz="1200" b="1" dirty="0">
                <a:solidFill>
                  <a:srgbClr val="002060"/>
                </a:solidFill>
              </a:rPr>
              <a:t> is a number: {{ </a:t>
            </a:r>
            <a:r>
              <a:rPr lang="en-US" sz="1200" b="1" dirty="0" err="1">
                <a:solidFill>
                  <a:srgbClr val="002060"/>
                </a:solidFill>
              </a:rPr>
              <a:t>my_var</a:t>
            </a:r>
            <a:r>
              <a:rPr lang="en-US" sz="1200" b="1" dirty="0">
                <a:solidFill>
                  <a:srgbClr val="002060"/>
                </a:solidFill>
              </a:rPr>
              <a:t> }}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{% else %}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  </a:t>
            </a:r>
            <a:r>
              <a:rPr lang="en-US" sz="1200" b="1" dirty="0" err="1">
                <a:solidFill>
                  <a:srgbClr val="002060"/>
                </a:solidFill>
              </a:rPr>
              <a:t>my_var</a:t>
            </a:r>
            <a:r>
              <a:rPr lang="en-US" sz="1200" b="1" dirty="0">
                <a:solidFill>
                  <a:srgbClr val="002060"/>
                </a:solidFill>
              </a:rPr>
              <a:t> is NOT a number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{% endif %}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1200" b="1" dirty="0">
                <a:solidFill>
                  <a:srgbClr val="002060"/>
                </a:solidFill>
              </a:rPr>
              <a:t>=====================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Arial"/>
              </a:defRPr>
            </a:pPr>
            <a:endParaRPr lang="en-IN" sz="1200" b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C2D5F5-84F4-39D4-E6B2-0975DA924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63" y="3794760"/>
            <a:ext cx="8903674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4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B49E3-9B31-27D2-1CB2-C4F3B5F4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9ED2A7-0138-D593-F1B9-F3691BAD9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9D82AEF-9942-F893-2FA8-8A442AC34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7871FC-AAE5-E57C-D704-E0ECA634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8A5D8C56-A209-FA1F-936E-46ED5B14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BBBF3BA-0ADC-031D-394B-904A31115084}"/>
              </a:ext>
            </a:extLst>
          </p:cNvPr>
          <p:cNvSpPr txBox="1">
            <a:spLocks/>
          </p:cNvSpPr>
          <p:nvPr/>
        </p:nvSpPr>
        <p:spPr>
          <a:xfrm>
            <a:off x="953423" y="783027"/>
            <a:ext cx="5408354" cy="369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2000" b="1" dirty="0">
                <a:solidFill>
                  <a:srgbClr val="002060"/>
                </a:solidFill>
                <a:latin typeface="Arial"/>
              </a:rPr>
              <a:t>Data Transformation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AA6BA5C-A2F9-1271-C7EF-AFD6A5D75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676" y="1330055"/>
            <a:ext cx="5037963" cy="1060154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000" b="1" dirty="0">
                <a:solidFill>
                  <a:srgbClr val="002060"/>
                </a:solidFill>
              </a:rPr>
              <a:t>dict2items and items2dict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000" b="1" dirty="0">
                <a:solidFill>
                  <a:srgbClr val="002060"/>
                </a:solidFill>
              </a:rPr>
              <a:t>Practical use cases in Ansible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1CF280-274C-39BD-9FA6-7F1582462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" y="2493872"/>
            <a:ext cx="9015984" cy="43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659333"/>
          </a:xfrm>
        </p:spPr>
        <p:txBody>
          <a:bodyPr anchor="ctr">
            <a:normAutofit fontScale="90000"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6300" b="1" dirty="0">
                <a:solidFill>
                  <a:srgbClr val="002060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873" y="2483114"/>
            <a:ext cx="6056111" cy="1618490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lang="en-US" sz="2100" b="1" dirty="0">
              <a:solidFill>
                <a:srgbClr val="002060"/>
              </a:solidFill>
            </a:endParaR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Avoid complex logic in templates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Use </a:t>
            </a:r>
            <a:r>
              <a:rPr lang="en-US" sz="2100" b="1" dirty="0" err="1">
                <a:solidFill>
                  <a:srgbClr val="002060"/>
                </a:solidFill>
              </a:rPr>
              <a:t>set_fact</a:t>
            </a:r>
            <a:r>
              <a:rPr lang="en-US" sz="2100" b="1" dirty="0">
                <a:solidFill>
                  <a:srgbClr val="002060"/>
                </a:solidFill>
              </a:rPr>
              <a:t> for readability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US" sz="2100" b="1" dirty="0">
                <a:solidFill>
                  <a:srgbClr val="002060"/>
                </a:solidFill>
              </a:rPr>
              <a:t>Debugging with ansible.builtin.debug</a:t>
            </a:r>
          </a:p>
        </p:txBody>
      </p:sp>
      <p:pic>
        <p:nvPicPr>
          <p:cNvPr id="4" name="Picture 3" descr="Channel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3FCE2-04EB-C2C6-217F-42065D53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9407E-3097-9544-A38B-5703C969A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6A0CA0C-85D9-0B6C-F4EC-D7295B571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DEB700-FBEF-721F-5A82-62BD8AFCB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B39B3285-1359-A053-DAB8-B3450B5FF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6A2A240-DC4E-B713-B1FE-D24E8D08CC7D}"/>
              </a:ext>
            </a:extLst>
          </p:cNvPr>
          <p:cNvSpPr txBox="1">
            <a:spLocks/>
          </p:cNvSpPr>
          <p:nvPr/>
        </p:nvSpPr>
        <p:spPr>
          <a:xfrm>
            <a:off x="376429" y="689158"/>
            <a:ext cx="6056111" cy="6075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4000" b="1" dirty="0">
                <a:solidFill>
                  <a:srgbClr val="002060"/>
                </a:solidFill>
                <a:latin typeface="Arial"/>
              </a:rPr>
              <a:t>Use cases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5A5BAC-CE6F-B170-0136-F21775F26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45" y="1342657"/>
            <a:ext cx="7434072" cy="1655064"/>
          </a:xfrm>
        </p:spPr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7030A0"/>
                </a:solidFill>
              </a:rPr>
              <a:t>Practical Use Cases of Jinja2 in Real-World Ansible Projects: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Dynamic Configuration Files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Generating </a:t>
            </a:r>
            <a:r>
              <a:rPr lang="en-IN" sz="1100" b="1" dirty="0" err="1">
                <a:solidFill>
                  <a:srgbClr val="002060"/>
                </a:solidFill>
              </a:rPr>
              <a:t>nginx.conf</a:t>
            </a:r>
            <a:r>
              <a:rPr lang="en-IN" sz="1100" b="1" dirty="0">
                <a:solidFill>
                  <a:srgbClr val="002060"/>
                </a:solidFill>
              </a:rPr>
              <a:t> or </a:t>
            </a:r>
            <a:r>
              <a:rPr lang="en-IN" sz="1100" b="1" dirty="0" err="1">
                <a:solidFill>
                  <a:srgbClr val="002060"/>
                </a:solidFill>
              </a:rPr>
              <a:t>httpd.conf</a:t>
            </a:r>
            <a:r>
              <a:rPr lang="en-IN" sz="1100" b="1" dirty="0">
                <a:solidFill>
                  <a:srgbClr val="002060"/>
                </a:solidFill>
              </a:rPr>
              <a:t> based on inventory variables.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            Jinja2 loops iterate over virtual hosts, applying conditions for SSL or redirects.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Conditional Service Deployment: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Install and configure services only if certain conditions are met (e.g., OS type, environment).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Use if statements to include tasks or templates dynamically.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Inventory Customization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Building dynamic inventories from external sources (e.g., cloud APIs).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Jinja2 filters format hostnames, IP addresses, and tags.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Complex Data Handling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Transform dictionaries using dict2items and items2dict for looping over key-value pairs.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Useful in network automation for device configurations.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Dynamic Firewall Rules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Generate iptables or </a:t>
            </a:r>
            <a:r>
              <a:rPr lang="en-IN" sz="1100" b="1" dirty="0" err="1">
                <a:solidFill>
                  <a:srgbClr val="002060"/>
                </a:solidFill>
              </a:rPr>
              <a:t>firewalld</a:t>
            </a:r>
            <a:r>
              <a:rPr lang="en-IN" sz="1100" b="1" dirty="0">
                <a:solidFill>
                  <a:srgbClr val="002060"/>
                </a:solidFill>
              </a:rPr>
              <a:t> rules from a list of ports and protocols.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	Jinja2 loops and conditions simplify rule generation.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chemeClr val="accent2"/>
                </a:solidFill>
              </a:rPr>
              <a:t>Template-Based Application Deployment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Arial"/>
              </a:defRPr>
            </a:pPr>
            <a:r>
              <a:rPr lang="en-IN" sz="1100" b="1" dirty="0">
                <a:solidFill>
                  <a:srgbClr val="002060"/>
                </a:solidFill>
              </a:rPr>
              <a:t>Example: Docker Compose or Kubernetes YAML files generated dynamically based on environment variables.</a:t>
            </a:r>
            <a:endParaRPr sz="11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57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05C2-56A3-9A87-9BD5-C48AB52D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nnel Image.png">
            <a:extLst>
              <a:ext uri="{FF2B5EF4-FFF2-40B4-BE49-F238E27FC236}">
                <a16:creationId xmlns:a16="http://schemas.microsoft.com/office/drawing/2014/main" id="{0208C890-47DB-4E1D-E631-A913CD3FC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7D8B70-DCD5-35F2-66D3-5B44B9F84E52}"/>
              </a:ext>
            </a:extLst>
          </p:cNvPr>
          <p:cNvSpPr txBox="1"/>
          <p:nvPr/>
        </p:nvSpPr>
        <p:spPr>
          <a:xfrm>
            <a:off x="606755" y="1535072"/>
            <a:ext cx="3104376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Like • Share • Comment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322F2-46D5-830C-1B8C-2665F59D5220}"/>
              </a:ext>
            </a:extLst>
          </p:cNvPr>
          <p:cNvSpPr txBox="1"/>
          <p:nvPr/>
        </p:nvSpPr>
        <p:spPr>
          <a:xfrm>
            <a:off x="380433" y="1965959"/>
            <a:ext cx="4319583" cy="3570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✔ Learn IT Automation with Ansible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✔ Like, Share &amp; Subscribe for more DevOps content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Follow us: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YouTube: youtube.com/</a:t>
            </a:r>
            <a:r>
              <a:rPr kumimoji="0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  <a:t>AutomateOps</a:t>
            </a:r>
            <a:b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pic>
        <p:nvPicPr>
          <p:cNvPr id="6" name="Picture 5" descr="A qr code with a red and black square">
            <a:extLst>
              <a:ext uri="{FF2B5EF4-FFF2-40B4-BE49-F238E27FC236}">
                <a16:creationId xmlns:a16="http://schemas.microsoft.com/office/drawing/2014/main" id="{A6CE27C9-B862-ED30-DB90-27EEE9BEF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502" y="2194238"/>
            <a:ext cx="3683889" cy="3100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3E7D86-720B-24C5-8AE2-E378CC035415}"/>
              </a:ext>
            </a:extLst>
          </p:cNvPr>
          <p:cNvSpPr txBox="1"/>
          <p:nvPr/>
        </p:nvSpPr>
        <p:spPr>
          <a:xfrm>
            <a:off x="5650027" y="1683067"/>
            <a:ext cx="250317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2200" b="1" dirty="0">
                <a:solidFill>
                  <a:srgbClr val="002060"/>
                </a:solidFill>
                <a:latin typeface="Aptos" panose="020B0004020202020204" pitchFamily="34" charset="0"/>
              </a:rPr>
              <a:t>Scan to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B7C42-7A87-DEAA-65B9-AD521C6C68E8}"/>
              </a:ext>
            </a:extLst>
          </p:cNvPr>
          <p:cNvSpPr txBox="1"/>
          <p:nvPr/>
        </p:nvSpPr>
        <p:spPr>
          <a:xfrm>
            <a:off x="457200" y="457200"/>
            <a:ext cx="505952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accent5">
                    <a:lumMod val="50000"/>
                  </a:schemeClr>
                </a:solidFill>
                <a:latin typeface="Aptos" panose="020B0004020202020204" pitchFamily="34" charset="0"/>
              </a:rPr>
              <a:t>📢 Subscribe for more DevOps magic!</a:t>
            </a:r>
          </a:p>
        </p:txBody>
      </p:sp>
    </p:spTree>
    <p:extLst>
      <p:ext uri="{BB962C8B-B14F-4D97-AF65-F5344CB8AC3E}">
        <p14:creationId xmlns:p14="http://schemas.microsoft.com/office/powerpoint/2010/main" val="73936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678</Words>
  <Application>Microsoft Office PowerPoint</Application>
  <PresentationFormat>On-screen Show (4:3)</PresentationFormat>
  <Paragraphs>108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Mastering Jinja2 for Ansible Automation</vt:lpstr>
      <vt:lpstr>What is Jinja2?</vt:lpstr>
      <vt:lpstr>Jinja2 in Ansible</vt:lpstr>
      <vt:lpstr>Core Syntax</vt:lpstr>
      <vt:lpstr>Whitespace Control</vt:lpstr>
      <vt:lpstr>Accessing Variables</vt:lpstr>
      <vt:lpstr>Filters</vt:lpstr>
      <vt:lpstr>Conditional Statements</vt:lpstr>
      <vt:lpstr>If – elif Conditional Statements</vt:lpstr>
      <vt:lpstr>Filters</vt:lpstr>
      <vt:lpstr>Tests</vt:lpstr>
      <vt:lpstr>PowerPoint Presentation</vt:lpstr>
      <vt:lpstr>Best Practices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Pal, Soumyendu</cp:lastModifiedBy>
  <cp:revision>8</cp:revision>
  <dcterms:created xsi:type="dcterms:W3CDTF">2013-01-27T09:14:16Z</dcterms:created>
  <dcterms:modified xsi:type="dcterms:W3CDTF">2025-12-20T11:34:21Z</dcterms:modified>
  <cp:category/>
</cp:coreProperties>
</file>