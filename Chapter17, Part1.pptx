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2" r:id="rId2"/>
    <p:sldId id="271" r:id="rId3"/>
    <p:sldId id="256" r:id="rId4"/>
    <p:sldId id="258" r:id="rId5"/>
    <p:sldId id="259" r:id="rId6"/>
    <p:sldId id="267" r:id="rId7"/>
    <p:sldId id="269" r:id="rId8"/>
    <p:sldId id="268" r:id="rId9"/>
    <p:sldId id="260" r:id="rId10"/>
    <p:sldId id="262" r:id="rId11"/>
    <p:sldId id="270" r:id="rId12"/>
    <p:sldId id="274"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D61C24-89CD-49A1-BC93-A7D6C70F870E}" v="17" dt="2026-01-18T09:14:15.9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94404" autoAdjust="0"/>
  </p:normalViewPr>
  <p:slideViewPr>
    <p:cSldViewPr snapToGrid="0" snapToObjects="1">
      <p:cViewPr varScale="1">
        <p:scale>
          <a:sx n="70" d="100"/>
          <a:sy n="70" d="100"/>
        </p:scale>
        <p:origin x="1188"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 Soumyendu" userId="68503d3d-ac8d-4828-9c3f-abc5a97f3674" providerId="ADAL" clId="{92440D97-2063-49B4-9BF5-3A22B04E4F12}"/>
    <pc:docChg chg="undo custSel addSld delSld modSld">
      <pc:chgData name="Pal, Soumyendu" userId="68503d3d-ac8d-4828-9c3f-abc5a97f3674" providerId="ADAL" clId="{92440D97-2063-49B4-9BF5-3A22B04E4F12}" dt="2026-01-18T09:35:19.426" v="165" actId="1035"/>
      <pc:docMkLst>
        <pc:docMk/>
      </pc:docMkLst>
      <pc:sldChg chg="modSp mod">
        <pc:chgData name="Pal, Soumyendu" userId="68503d3d-ac8d-4828-9c3f-abc5a97f3674" providerId="ADAL" clId="{92440D97-2063-49B4-9BF5-3A22B04E4F12}" dt="2026-01-18T09:17:55.225" v="110" actId="20577"/>
        <pc:sldMkLst>
          <pc:docMk/>
          <pc:sldMk cId="2389578940" sldId="270"/>
        </pc:sldMkLst>
        <pc:graphicFrameChg chg="modGraphic">
          <ac:chgData name="Pal, Soumyendu" userId="68503d3d-ac8d-4828-9c3f-abc5a97f3674" providerId="ADAL" clId="{92440D97-2063-49B4-9BF5-3A22B04E4F12}" dt="2026-01-18T09:17:55.225" v="110" actId="20577"/>
          <ac:graphicFrameMkLst>
            <pc:docMk/>
            <pc:sldMk cId="2389578940" sldId="270"/>
            <ac:graphicFrameMk id="8" creationId="{FFAA2788-E596-EEE6-764D-EE155A308B96}"/>
          </ac:graphicFrameMkLst>
        </pc:graphicFrameChg>
      </pc:sldChg>
      <pc:sldChg chg="addSp delSp modSp mod">
        <pc:chgData name="Pal, Soumyendu" userId="68503d3d-ac8d-4828-9c3f-abc5a97f3674" providerId="ADAL" clId="{92440D97-2063-49B4-9BF5-3A22B04E4F12}" dt="2026-01-18T08:57:31.603" v="2" actId="26606"/>
        <pc:sldMkLst>
          <pc:docMk/>
          <pc:sldMk cId="4177783264" sldId="271"/>
        </pc:sldMkLst>
        <pc:spChg chg="del">
          <ac:chgData name="Pal, Soumyendu" userId="68503d3d-ac8d-4828-9c3f-abc5a97f3674" providerId="ADAL" clId="{92440D97-2063-49B4-9BF5-3A22B04E4F12}" dt="2026-01-18T08:57:31.603" v="2" actId="26606"/>
          <ac:spMkLst>
            <pc:docMk/>
            <pc:sldMk cId="4177783264" sldId="271"/>
            <ac:spMk id="9" creationId="{A4AC5506-6312-4701-8D3C-40187889A947}"/>
          </ac:spMkLst>
        </pc:spChg>
        <pc:spChg chg="add">
          <ac:chgData name="Pal, Soumyendu" userId="68503d3d-ac8d-4828-9c3f-abc5a97f3674" providerId="ADAL" clId="{92440D97-2063-49B4-9BF5-3A22B04E4F12}" dt="2026-01-18T08:57:31.603" v="2" actId="26606"/>
          <ac:spMkLst>
            <pc:docMk/>
            <pc:sldMk cId="4177783264" sldId="271"/>
            <ac:spMk id="14" creationId="{A4AC5506-6312-4701-8D3C-40187889A947}"/>
          </ac:spMkLst>
        </pc:spChg>
        <pc:picChg chg="add mod">
          <ac:chgData name="Pal, Soumyendu" userId="68503d3d-ac8d-4828-9c3f-abc5a97f3674" providerId="ADAL" clId="{92440D97-2063-49B4-9BF5-3A22B04E4F12}" dt="2026-01-18T08:57:25.877" v="1" actId="14100"/>
          <ac:picMkLst>
            <pc:docMk/>
            <pc:sldMk cId="4177783264" sldId="271"/>
            <ac:picMk id="3" creationId="{2989A6F1-A186-B4AA-4338-E5DA93D53BF5}"/>
          </ac:picMkLst>
        </pc:picChg>
        <pc:picChg chg="mod">
          <ac:chgData name="Pal, Soumyendu" userId="68503d3d-ac8d-4828-9c3f-abc5a97f3674" providerId="ADAL" clId="{92440D97-2063-49B4-9BF5-3A22B04E4F12}" dt="2026-01-18T08:57:31.603" v="2" actId="26606"/>
          <ac:picMkLst>
            <pc:docMk/>
            <pc:sldMk cId="4177783264" sldId="271"/>
            <ac:picMk id="4" creationId="{8DD6674A-B354-DF95-5300-25F06A814132}"/>
          </ac:picMkLst>
        </pc:picChg>
      </pc:sldChg>
      <pc:sldChg chg="addSp delSp modSp add mod setBg delDesignElem">
        <pc:chgData name="Pal, Soumyendu" userId="68503d3d-ac8d-4828-9c3f-abc5a97f3674" providerId="ADAL" clId="{92440D97-2063-49B4-9BF5-3A22B04E4F12}" dt="2026-01-18T09:28:15.751" v="144" actId="1036"/>
        <pc:sldMkLst>
          <pc:docMk/>
          <pc:sldMk cId="3721609020" sldId="272"/>
        </pc:sldMkLst>
        <pc:spChg chg="add mod">
          <ac:chgData name="Pal, Soumyendu" userId="68503d3d-ac8d-4828-9c3f-abc5a97f3674" providerId="ADAL" clId="{92440D97-2063-49B4-9BF5-3A22B04E4F12}" dt="2026-01-18T09:01:21.784" v="36" actId="6549"/>
          <ac:spMkLst>
            <pc:docMk/>
            <pc:sldMk cId="3721609020" sldId="272"/>
            <ac:spMk id="5" creationId="{47AB0C58-8AA1-82A8-757B-45783ADDEFF1}"/>
          </ac:spMkLst>
        </pc:spChg>
        <pc:spChg chg="add mod">
          <ac:chgData name="Pal, Soumyendu" userId="68503d3d-ac8d-4828-9c3f-abc5a97f3674" providerId="ADAL" clId="{92440D97-2063-49B4-9BF5-3A22B04E4F12}" dt="2026-01-18T08:59:43.655" v="24" actId="13822"/>
          <ac:spMkLst>
            <pc:docMk/>
            <pc:sldMk cId="3721609020" sldId="272"/>
            <ac:spMk id="7" creationId="{78F0BD49-1B5C-3854-DFBE-4C90A5C0066C}"/>
          </ac:spMkLst>
        </pc:spChg>
        <pc:spChg chg="del">
          <ac:chgData name="Pal, Soumyendu" userId="68503d3d-ac8d-4828-9c3f-abc5a97f3674" providerId="ADAL" clId="{92440D97-2063-49B4-9BF5-3A22B04E4F12}" dt="2026-01-18T08:57:37.612" v="4"/>
          <ac:spMkLst>
            <pc:docMk/>
            <pc:sldMk cId="3721609020" sldId="272"/>
            <ac:spMk id="14" creationId="{C6EE5ACC-6305-DFE5-6555-C10443A25E7A}"/>
          </ac:spMkLst>
        </pc:spChg>
        <pc:graphicFrameChg chg="add mod">
          <ac:chgData name="Pal, Soumyendu" userId="68503d3d-ac8d-4828-9c3f-abc5a97f3674" providerId="ADAL" clId="{92440D97-2063-49B4-9BF5-3A22B04E4F12}" dt="2026-01-18T08:58:47.645" v="13"/>
          <ac:graphicFrameMkLst>
            <pc:docMk/>
            <pc:sldMk cId="3721609020" sldId="272"/>
            <ac:graphicFrameMk id="6" creationId="{4CA11829-9B10-8346-1915-CF4DF0CC9A9F}"/>
          </ac:graphicFrameMkLst>
        </pc:graphicFrameChg>
        <pc:picChg chg="mod">
          <ac:chgData name="Pal, Soumyendu" userId="68503d3d-ac8d-4828-9c3f-abc5a97f3674" providerId="ADAL" clId="{92440D97-2063-49B4-9BF5-3A22B04E4F12}" dt="2026-01-18T09:28:15.751" v="144" actId="1036"/>
          <ac:picMkLst>
            <pc:docMk/>
            <pc:sldMk cId="3721609020" sldId="272"/>
            <ac:picMk id="3" creationId="{9252F5C0-CB88-6418-7BCE-927380EC20FB}"/>
          </ac:picMkLst>
        </pc:picChg>
        <pc:picChg chg="del">
          <ac:chgData name="Pal, Soumyendu" userId="68503d3d-ac8d-4828-9c3f-abc5a97f3674" providerId="ADAL" clId="{92440D97-2063-49B4-9BF5-3A22B04E4F12}" dt="2026-01-18T08:57:41.473" v="5" actId="478"/>
          <ac:picMkLst>
            <pc:docMk/>
            <pc:sldMk cId="3721609020" sldId="272"/>
            <ac:picMk id="4" creationId="{4EECFC7F-3D84-2026-D4C3-C39723512200}"/>
          </ac:picMkLst>
        </pc:picChg>
        <pc:picChg chg="add mod">
          <ac:chgData name="Pal, Soumyendu" userId="68503d3d-ac8d-4828-9c3f-abc5a97f3674" providerId="ADAL" clId="{92440D97-2063-49B4-9BF5-3A22B04E4F12}" dt="2026-01-18T09:01:43.909" v="38" actId="1582"/>
          <ac:picMkLst>
            <pc:docMk/>
            <pc:sldMk cId="3721609020" sldId="272"/>
            <ac:picMk id="9" creationId="{CCDD1B22-F9C7-1C11-B6B4-2EFE71B9B26D}"/>
          </ac:picMkLst>
        </pc:picChg>
      </pc:sldChg>
      <pc:sldChg chg="add del">
        <pc:chgData name="Pal, Soumyendu" userId="68503d3d-ac8d-4828-9c3f-abc5a97f3674" providerId="ADAL" clId="{92440D97-2063-49B4-9BF5-3A22B04E4F12}" dt="2026-01-18T09:18:17.175" v="111" actId="47"/>
        <pc:sldMkLst>
          <pc:docMk/>
          <pc:sldMk cId="1616050000" sldId="273"/>
        </pc:sldMkLst>
      </pc:sldChg>
      <pc:sldChg chg="addSp delSp modSp add mod">
        <pc:chgData name="Pal, Soumyendu" userId="68503d3d-ac8d-4828-9c3f-abc5a97f3674" providerId="ADAL" clId="{92440D97-2063-49B4-9BF5-3A22B04E4F12}" dt="2026-01-18T09:35:19.426" v="165" actId="1035"/>
        <pc:sldMkLst>
          <pc:docMk/>
          <pc:sldMk cId="425882018" sldId="274"/>
        </pc:sldMkLst>
        <pc:spChg chg="mod">
          <ac:chgData name="Pal, Soumyendu" userId="68503d3d-ac8d-4828-9c3f-abc5a97f3674" providerId="ADAL" clId="{92440D97-2063-49B4-9BF5-3A22B04E4F12}" dt="2026-01-18T09:10:55.870" v="44"/>
          <ac:spMkLst>
            <pc:docMk/>
            <pc:sldMk cId="425882018" sldId="274"/>
            <ac:spMk id="5" creationId="{B28FC958-40E7-B1CF-66A9-5F17BC8C5E25}"/>
          </ac:spMkLst>
        </pc:spChg>
        <pc:spChg chg="del mod">
          <ac:chgData name="Pal, Soumyendu" userId="68503d3d-ac8d-4828-9c3f-abc5a97f3674" providerId="ADAL" clId="{92440D97-2063-49B4-9BF5-3A22B04E4F12}" dt="2026-01-18T09:13:20.699" v="62" actId="26606"/>
          <ac:spMkLst>
            <pc:docMk/>
            <pc:sldMk cId="425882018" sldId="274"/>
            <ac:spMk id="7" creationId="{BCD84945-A8A8-E69C-2447-841F161335F8}"/>
          </ac:spMkLst>
        </pc:spChg>
        <pc:spChg chg="add mod">
          <ac:chgData name="Pal, Soumyendu" userId="68503d3d-ac8d-4828-9c3f-abc5a97f3674" providerId="ADAL" clId="{92440D97-2063-49B4-9BF5-3A22B04E4F12}" dt="2026-01-18T09:35:17.104" v="156" actId="1037"/>
          <ac:spMkLst>
            <pc:docMk/>
            <pc:sldMk cId="425882018" sldId="274"/>
            <ac:spMk id="8" creationId="{0FBDD484-F9F3-21A3-5006-1B8E38C4AF05}"/>
          </ac:spMkLst>
        </pc:spChg>
        <pc:spChg chg="add mod">
          <ac:chgData name="Pal, Soumyendu" userId="68503d3d-ac8d-4828-9c3f-abc5a97f3674" providerId="ADAL" clId="{92440D97-2063-49B4-9BF5-3A22B04E4F12}" dt="2026-01-18T09:16:46.059" v="108" actId="207"/>
          <ac:spMkLst>
            <pc:docMk/>
            <pc:sldMk cId="425882018" sldId="274"/>
            <ac:spMk id="13" creationId="{D7EFC6F4-4662-71BC-03E8-65BBD862D805}"/>
          </ac:spMkLst>
        </pc:spChg>
        <pc:graphicFrameChg chg="add del mod">
          <ac:chgData name="Pal, Soumyendu" userId="68503d3d-ac8d-4828-9c3f-abc5a97f3674" providerId="ADAL" clId="{92440D97-2063-49B4-9BF5-3A22B04E4F12}" dt="2026-01-18T09:10:58.992" v="45" actId="478"/>
          <ac:graphicFrameMkLst>
            <pc:docMk/>
            <pc:sldMk cId="425882018" sldId="274"/>
            <ac:graphicFrameMk id="4" creationId="{88C0FA4A-1389-A2E3-C7D5-F8A2ECB80D2C}"/>
          </ac:graphicFrameMkLst>
        </pc:graphicFrameChg>
        <pc:graphicFrameChg chg="add modGraphic">
          <ac:chgData name="Pal, Soumyendu" userId="68503d3d-ac8d-4828-9c3f-abc5a97f3674" providerId="ADAL" clId="{92440D97-2063-49B4-9BF5-3A22B04E4F12}" dt="2026-01-18T09:25:11.731" v="112" actId="26606"/>
          <ac:graphicFrameMkLst>
            <pc:docMk/>
            <pc:sldMk cId="425882018" sldId="274"/>
            <ac:graphicFrameMk id="10" creationId="{0DD140A2-BB03-4407-F048-E3EC09D560AA}"/>
          </ac:graphicFrameMkLst>
        </pc:graphicFrameChg>
        <pc:graphicFrameChg chg="add del mod modGraphic">
          <ac:chgData name="Pal, Soumyendu" userId="68503d3d-ac8d-4828-9c3f-abc5a97f3674" providerId="ADAL" clId="{92440D97-2063-49B4-9BF5-3A22B04E4F12}" dt="2026-01-18T09:14:59.712" v="77" actId="478"/>
          <ac:graphicFrameMkLst>
            <pc:docMk/>
            <pc:sldMk cId="425882018" sldId="274"/>
            <ac:graphicFrameMk id="11" creationId="{4B09637D-FE0C-08B2-CB9E-56AC4539B6DB}"/>
          </ac:graphicFrameMkLst>
        </pc:graphicFrameChg>
        <pc:picChg chg="add mod">
          <ac:chgData name="Pal, Soumyendu" userId="68503d3d-ac8d-4828-9c3f-abc5a97f3674" providerId="ADAL" clId="{92440D97-2063-49B4-9BF5-3A22B04E4F12}" dt="2026-01-18T09:35:19.426" v="165" actId="1035"/>
          <ac:picMkLst>
            <pc:docMk/>
            <pc:sldMk cId="425882018" sldId="274"/>
            <ac:picMk id="6" creationId="{B762ACAD-6DFC-C059-9E20-E89B61DED29F}"/>
          </ac:picMkLst>
        </pc:picChg>
        <pc:picChg chg="del">
          <ac:chgData name="Pal, Soumyendu" userId="68503d3d-ac8d-4828-9c3f-abc5a97f3674" providerId="ADAL" clId="{92440D97-2063-49B4-9BF5-3A22B04E4F12}" dt="2026-01-18T09:11:51.141" v="59" actId="478"/>
          <ac:picMkLst>
            <pc:docMk/>
            <pc:sldMk cId="425882018" sldId="274"/>
            <ac:picMk id="9" creationId="{D55BBEBC-C000-1247-A54F-3B28D32972ED}"/>
          </ac:picMkLst>
        </pc:picChg>
      </pc:sldChg>
      <pc:sldChg chg="new del">
        <pc:chgData name="Pal, Soumyendu" userId="68503d3d-ac8d-4828-9c3f-abc5a97f3674" providerId="ADAL" clId="{92440D97-2063-49B4-9BF5-3A22B04E4F12}" dt="2026-01-18T09:15:52.329" v="82" actId="680"/>
        <pc:sldMkLst>
          <pc:docMk/>
          <pc:sldMk cId="607937842" sldId="27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D14720-6C89-4C88-A8AA-3FFBBC816B7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0C5EDF75-1639-4BEA-B1DF-561FFEF04F78}">
      <dgm:prSet/>
      <dgm:spPr/>
      <dgm:t>
        <a:bodyPr/>
        <a:lstStyle/>
        <a:p>
          <a:r>
            <a:rPr lang="en-US"/>
            <a:t>Lookup plugins always run on the controller, not the target</a:t>
          </a:r>
        </a:p>
      </dgm:t>
    </dgm:pt>
    <dgm:pt modelId="{D547FE5C-96F6-46CC-B403-3173FD2BF359}" type="parTrans" cxnId="{BE4A33BF-5869-4C2E-9548-ECA3E0E0C837}">
      <dgm:prSet/>
      <dgm:spPr/>
      <dgm:t>
        <a:bodyPr/>
        <a:lstStyle/>
        <a:p>
          <a:endParaRPr lang="en-US"/>
        </a:p>
      </dgm:t>
    </dgm:pt>
    <dgm:pt modelId="{4A6A75C2-974E-464F-961B-C55A20AEB4F5}" type="sibTrans" cxnId="{BE4A33BF-5869-4C2E-9548-ECA3E0E0C837}">
      <dgm:prSet/>
      <dgm:spPr/>
      <dgm:t>
        <a:bodyPr/>
        <a:lstStyle/>
        <a:p>
          <a:endParaRPr lang="en-US"/>
        </a:p>
      </dgm:t>
    </dgm:pt>
    <dgm:pt modelId="{9E01D868-851F-4988-A8E8-B9968E899145}">
      <dgm:prSet/>
      <dgm:spPr/>
      <dgm:t>
        <a:bodyPr/>
        <a:lstStyle/>
        <a:p>
          <a:r>
            <a:rPr lang="en-US"/>
            <a:t>Great for injecting dynamic data into playbooks</a:t>
          </a:r>
        </a:p>
      </dgm:t>
    </dgm:pt>
    <dgm:pt modelId="{D3816A7C-5589-483E-98F2-FBFDA8D07FB0}" type="parTrans" cxnId="{B5058C2A-6D56-44A0-8CD3-10F906B64AB2}">
      <dgm:prSet/>
      <dgm:spPr/>
      <dgm:t>
        <a:bodyPr/>
        <a:lstStyle/>
        <a:p>
          <a:endParaRPr lang="en-US"/>
        </a:p>
      </dgm:t>
    </dgm:pt>
    <dgm:pt modelId="{FDB35A96-F166-492C-A087-1C9464CA494E}" type="sibTrans" cxnId="{B5058C2A-6D56-44A0-8CD3-10F906B64AB2}">
      <dgm:prSet/>
      <dgm:spPr/>
      <dgm:t>
        <a:bodyPr/>
        <a:lstStyle/>
        <a:p>
          <a:endParaRPr lang="en-US"/>
        </a:p>
      </dgm:t>
    </dgm:pt>
    <dgm:pt modelId="{985BFFF0-F91D-46A7-85F0-AF65D309F1FB}">
      <dgm:prSet/>
      <dgm:spPr/>
      <dgm:t>
        <a:bodyPr/>
        <a:lstStyle/>
        <a:p>
          <a:r>
            <a:rPr lang="en-US"/>
            <a:t>Helps avoid hardcoding and supports environment‑specific values</a:t>
          </a:r>
        </a:p>
      </dgm:t>
    </dgm:pt>
    <dgm:pt modelId="{5F8EA90B-7897-432E-AF6C-EF1D58CED844}" type="parTrans" cxnId="{7F9C815D-3BF9-4703-98FB-DA820C038AA7}">
      <dgm:prSet/>
      <dgm:spPr/>
      <dgm:t>
        <a:bodyPr/>
        <a:lstStyle/>
        <a:p>
          <a:endParaRPr lang="en-US"/>
        </a:p>
      </dgm:t>
    </dgm:pt>
    <dgm:pt modelId="{96CDAAF7-F213-4973-A0D4-6A9807BB7868}" type="sibTrans" cxnId="{7F9C815D-3BF9-4703-98FB-DA820C038AA7}">
      <dgm:prSet/>
      <dgm:spPr/>
      <dgm:t>
        <a:bodyPr/>
        <a:lstStyle/>
        <a:p>
          <a:endParaRPr lang="en-US"/>
        </a:p>
      </dgm:t>
    </dgm:pt>
    <dgm:pt modelId="{886A3B8A-2821-4388-AABC-41AA5C8BE7A7}">
      <dgm:prSet/>
      <dgm:spPr/>
      <dgm:t>
        <a:bodyPr/>
        <a:lstStyle/>
        <a:p>
          <a:r>
            <a:rPr lang="en-US"/>
            <a:t>Use lookup() for strings, query() for lists</a:t>
          </a:r>
        </a:p>
      </dgm:t>
    </dgm:pt>
    <dgm:pt modelId="{1A1454A3-6DF2-43FC-94D8-0B4EFB75640F}" type="parTrans" cxnId="{00CE07D2-715F-44F7-8F21-68F271B6D9DD}">
      <dgm:prSet/>
      <dgm:spPr/>
      <dgm:t>
        <a:bodyPr/>
        <a:lstStyle/>
        <a:p>
          <a:endParaRPr lang="en-US"/>
        </a:p>
      </dgm:t>
    </dgm:pt>
    <dgm:pt modelId="{7DB1EA44-637E-4B0F-9742-3CC92E4C1F5D}" type="sibTrans" cxnId="{00CE07D2-715F-44F7-8F21-68F271B6D9DD}">
      <dgm:prSet/>
      <dgm:spPr/>
      <dgm:t>
        <a:bodyPr/>
        <a:lstStyle/>
        <a:p>
          <a:endParaRPr lang="en-US"/>
        </a:p>
      </dgm:t>
    </dgm:pt>
    <dgm:pt modelId="{9B55893C-AA12-4938-8827-5ACCB82DF5CE}">
      <dgm:prSet/>
      <dgm:spPr/>
      <dgm:t>
        <a:bodyPr/>
        <a:lstStyle/>
        <a:p>
          <a:r>
            <a:rPr lang="en-US"/>
            <a:t>Combine multiple lookups (file + env + pipe) for powerful automation</a:t>
          </a:r>
        </a:p>
      </dgm:t>
    </dgm:pt>
    <dgm:pt modelId="{4916C049-51F4-4789-88E5-8959A51AD744}" type="parTrans" cxnId="{F67B8930-89F9-4889-B823-E861D0533EBB}">
      <dgm:prSet/>
      <dgm:spPr/>
      <dgm:t>
        <a:bodyPr/>
        <a:lstStyle/>
        <a:p>
          <a:endParaRPr lang="en-US"/>
        </a:p>
      </dgm:t>
    </dgm:pt>
    <dgm:pt modelId="{B1FC294D-93E4-4E72-B17D-10F7583ED99C}" type="sibTrans" cxnId="{F67B8930-89F9-4889-B823-E861D0533EBB}">
      <dgm:prSet/>
      <dgm:spPr/>
      <dgm:t>
        <a:bodyPr/>
        <a:lstStyle/>
        <a:p>
          <a:endParaRPr lang="en-US"/>
        </a:p>
      </dgm:t>
    </dgm:pt>
    <dgm:pt modelId="{A848B73F-CA80-49C5-BDE8-CA34BAE7D0DE}">
      <dgm:prSet/>
      <dgm:spPr/>
      <dgm:t>
        <a:bodyPr/>
        <a:lstStyle/>
        <a:p>
          <a:r>
            <a:rPr lang="en-US" dirty="0"/>
            <a:t>Template lookup is ideal when you want dynamic text without writing files</a:t>
          </a:r>
        </a:p>
      </dgm:t>
    </dgm:pt>
    <dgm:pt modelId="{B1A657FF-BC01-4DCE-9D48-E2E7B247D3AD}" type="parTrans" cxnId="{3FFAEED4-F3C6-4CB1-8A57-DCA56300BE2B}">
      <dgm:prSet/>
      <dgm:spPr/>
      <dgm:t>
        <a:bodyPr/>
        <a:lstStyle/>
        <a:p>
          <a:endParaRPr lang="en-US"/>
        </a:p>
      </dgm:t>
    </dgm:pt>
    <dgm:pt modelId="{8FF60241-76F2-473F-B8A2-47D0A2BFEE47}" type="sibTrans" cxnId="{3FFAEED4-F3C6-4CB1-8A57-DCA56300BE2B}">
      <dgm:prSet/>
      <dgm:spPr/>
      <dgm:t>
        <a:bodyPr/>
        <a:lstStyle/>
        <a:p>
          <a:endParaRPr lang="en-US"/>
        </a:p>
      </dgm:t>
    </dgm:pt>
    <dgm:pt modelId="{CE7429EF-033C-439C-A31E-D455C88A018F}" type="pres">
      <dgm:prSet presAssocID="{E1D14720-6C89-4C88-A8AA-3FFBBC816B77}" presName="linear" presStyleCnt="0">
        <dgm:presLayoutVars>
          <dgm:animLvl val="lvl"/>
          <dgm:resizeHandles val="exact"/>
        </dgm:presLayoutVars>
      </dgm:prSet>
      <dgm:spPr/>
    </dgm:pt>
    <dgm:pt modelId="{C09FE528-C18D-4DB6-8828-2132554F1CBB}" type="pres">
      <dgm:prSet presAssocID="{0C5EDF75-1639-4BEA-B1DF-561FFEF04F78}" presName="parentText" presStyleLbl="node1" presStyleIdx="0" presStyleCnt="6">
        <dgm:presLayoutVars>
          <dgm:chMax val="0"/>
          <dgm:bulletEnabled val="1"/>
        </dgm:presLayoutVars>
      </dgm:prSet>
      <dgm:spPr/>
    </dgm:pt>
    <dgm:pt modelId="{2FC0F68B-CBFC-4A6D-85C0-7463D9104D92}" type="pres">
      <dgm:prSet presAssocID="{4A6A75C2-974E-464F-961B-C55A20AEB4F5}" presName="spacer" presStyleCnt="0"/>
      <dgm:spPr/>
    </dgm:pt>
    <dgm:pt modelId="{C73639F8-0015-4DF9-ABD8-BF31E771B6B4}" type="pres">
      <dgm:prSet presAssocID="{9E01D868-851F-4988-A8E8-B9968E899145}" presName="parentText" presStyleLbl="node1" presStyleIdx="1" presStyleCnt="6">
        <dgm:presLayoutVars>
          <dgm:chMax val="0"/>
          <dgm:bulletEnabled val="1"/>
        </dgm:presLayoutVars>
      </dgm:prSet>
      <dgm:spPr/>
    </dgm:pt>
    <dgm:pt modelId="{A2F24CC9-6725-4ADA-98A3-5D33162A4EC5}" type="pres">
      <dgm:prSet presAssocID="{FDB35A96-F166-492C-A087-1C9464CA494E}" presName="spacer" presStyleCnt="0"/>
      <dgm:spPr/>
    </dgm:pt>
    <dgm:pt modelId="{26225C1C-60B5-473C-AE2C-20CE0E76290F}" type="pres">
      <dgm:prSet presAssocID="{985BFFF0-F91D-46A7-85F0-AF65D309F1FB}" presName="parentText" presStyleLbl="node1" presStyleIdx="2" presStyleCnt="6">
        <dgm:presLayoutVars>
          <dgm:chMax val="0"/>
          <dgm:bulletEnabled val="1"/>
        </dgm:presLayoutVars>
      </dgm:prSet>
      <dgm:spPr/>
    </dgm:pt>
    <dgm:pt modelId="{BBEB8BCD-E0DD-45FC-99DB-3B5279ECBF84}" type="pres">
      <dgm:prSet presAssocID="{96CDAAF7-F213-4973-A0D4-6A9807BB7868}" presName="spacer" presStyleCnt="0"/>
      <dgm:spPr/>
    </dgm:pt>
    <dgm:pt modelId="{8CE18B93-B7C2-4F37-97DB-D5518604C0D1}" type="pres">
      <dgm:prSet presAssocID="{886A3B8A-2821-4388-AABC-41AA5C8BE7A7}" presName="parentText" presStyleLbl="node1" presStyleIdx="3" presStyleCnt="6">
        <dgm:presLayoutVars>
          <dgm:chMax val="0"/>
          <dgm:bulletEnabled val="1"/>
        </dgm:presLayoutVars>
      </dgm:prSet>
      <dgm:spPr/>
    </dgm:pt>
    <dgm:pt modelId="{977B5A7E-CDBC-4691-AD14-C3D9E2D6FD8F}" type="pres">
      <dgm:prSet presAssocID="{7DB1EA44-637E-4B0F-9742-3CC92E4C1F5D}" presName="spacer" presStyleCnt="0"/>
      <dgm:spPr/>
    </dgm:pt>
    <dgm:pt modelId="{1938155C-341E-45E3-8050-0CA6CC779116}" type="pres">
      <dgm:prSet presAssocID="{9B55893C-AA12-4938-8827-5ACCB82DF5CE}" presName="parentText" presStyleLbl="node1" presStyleIdx="4" presStyleCnt="6">
        <dgm:presLayoutVars>
          <dgm:chMax val="0"/>
          <dgm:bulletEnabled val="1"/>
        </dgm:presLayoutVars>
      </dgm:prSet>
      <dgm:spPr/>
    </dgm:pt>
    <dgm:pt modelId="{56329C96-CBE4-4D90-BB54-A0350784FDF8}" type="pres">
      <dgm:prSet presAssocID="{B1FC294D-93E4-4E72-B17D-10F7583ED99C}" presName="spacer" presStyleCnt="0"/>
      <dgm:spPr/>
    </dgm:pt>
    <dgm:pt modelId="{C7BAE210-795C-4223-83F8-B9DC72D8217A}" type="pres">
      <dgm:prSet presAssocID="{A848B73F-CA80-49C5-BDE8-CA34BAE7D0DE}" presName="parentText" presStyleLbl="node1" presStyleIdx="5" presStyleCnt="6">
        <dgm:presLayoutVars>
          <dgm:chMax val="0"/>
          <dgm:bulletEnabled val="1"/>
        </dgm:presLayoutVars>
      </dgm:prSet>
      <dgm:spPr/>
    </dgm:pt>
  </dgm:ptLst>
  <dgm:cxnLst>
    <dgm:cxn modelId="{B5058C2A-6D56-44A0-8CD3-10F906B64AB2}" srcId="{E1D14720-6C89-4C88-A8AA-3FFBBC816B77}" destId="{9E01D868-851F-4988-A8E8-B9968E899145}" srcOrd="1" destOrd="0" parTransId="{D3816A7C-5589-483E-98F2-FBFDA8D07FB0}" sibTransId="{FDB35A96-F166-492C-A087-1C9464CA494E}"/>
    <dgm:cxn modelId="{9D23402F-7ADB-421E-AEAD-20A13F43E63F}" type="presOf" srcId="{9B55893C-AA12-4938-8827-5ACCB82DF5CE}" destId="{1938155C-341E-45E3-8050-0CA6CC779116}" srcOrd="0" destOrd="0" presId="urn:microsoft.com/office/officeart/2005/8/layout/vList2"/>
    <dgm:cxn modelId="{F67B8930-89F9-4889-B823-E861D0533EBB}" srcId="{E1D14720-6C89-4C88-A8AA-3FFBBC816B77}" destId="{9B55893C-AA12-4938-8827-5ACCB82DF5CE}" srcOrd="4" destOrd="0" parTransId="{4916C049-51F4-4789-88E5-8959A51AD744}" sibTransId="{B1FC294D-93E4-4E72-B17D-10F7583ED99C}"/>
    <dgm:cxn modelId="{B8DEC93F-AAD1-4193-AD7A-93FE6F4EE8C5}" type="presOf" srcId="{886A3B8A-2821-4388-AABC-41AA5C8BE7A7}" destId="{8CE18B93-B7C2-4F37-97DB-D5518604C0D1}" srcOrd="0" destOrd="0" presId="urn:microsoft.com/office/officeart/2005/8/layout/vList2"/>
    <dgm:cxn modelId="{7F9C815D-3BF9-4703-98FB-DA820C038AA7}" srcId="{E1D14720-6C89-4C88-A8AA-3FFBBC816B77}" destId="{985BFFF0-F91D-46A7-85F0-AF65D309F1FB}" srcOrd="2" destOrd="0" parTransId="{5F8EA90B-7897-432E-AF6C-EF1D58CED844}" sibTransId="{96CDAAF7-F213-4973-A0D4-6A9807BB7868}"/>
    <dgm:cxn modelId="{E1E13369-273C-4D8A-8825-BE3A9ABD5DB8}" type="presOf" srcId="{9E01D868-851F-4988-A8E8-B9968E899145}" destId="{C73639F8-0015-4DF9-ABD8-BF31E771B6B4}" srcOrd="0" destOrd="0" presId="urn:microsoft.com/office/officeart/2005/8/layout/vList2"/>
    <dgm:cxn modelId="{630D6A97-4855-4C3C-BA32-CD25E619E9F7}" type="presOf" srcId="{A848B73F-CA80-49C5-BDE8-CA34BAE7D0DE}" destId="{C7BAE210-795C-4223-83F8-B9DC72D8217A}" srcOrd="0" destOrd="0" presId="urn:microsoft.com/office/officeart/2005/8/layout/vList2"/>
    <dgm:cxn modelId="{A8F306AF-F348-4F27-9E9E-E34B2B25CE91}" type="presOf" srcId="{E1D14720-6C89-4C88-A8AA-3FFBBC816B77}" destId="{CE7429EF-033C-439C-A31E-D455C88A018F}" srcOrd="0" destOrd="0" presId="urn:microsoft.com/office/officeart/2005/8/layout/vList2"/>
    <dgm:cxn modelId="{87A4DDB1-B164-434F-A1E4-15ABA6886398}" type="presOf" srcId="{0C5EDF75-1639-4BEA-B1DF-561FFEF04F78}" destId="{C09FE528-C18D-4DB6-8828-2132554F1CBB}" srcOrd="0" destOrd="0" presId="urn:microsoft.com/office/officeart/2005/8/layout/vList2"/>
    <dgm:cxn modelId="{BE4A33BF-5869-4C2E-9548-ECA3E0E0C837}" srcId="{E1D14720-6C89-4C88-A8AA-3FFBBC816B77}" destId="{0C5EDF75-1639-4BEA-B1DF-561FFEF04F78}" srcOrd="0" destOrd="0" parTransId="{D547FE5C-96F6-46CC-B403-3173FD2BF359}" sibTransId="{4A6A75C2-974E-464F-961B-C55A20AEB4F5}"/>
    <dgm:cxn modelId="{550413C8-4E6B-4CFB-8731-0890D38890B8}" type="presOf" srcId="{985BFFF0-F91D-46A7-85F0-AF65D309F1FB}" destId="{26225C1C-60B5-473C-AE2C-20CE0E76290F}" srcOrd="0" destOrd="0" presId="urn:microsoft.com/office/officeart/2005/8/layout/vList2"/>
    <dgm:cxn modelId="{00CE07D2-715F-44F7-8F21-68F271B6D9DD}" srcId="{E1D14720-6C89-4C88-A8AA-3FFBBC816B77}" destId="{886A3B8A-2821-4388-AABC-41AA5C8BE7A7}" srcOrd="3" destOrd="0" parTransId="{1A1454A3-6DF2-43FC-94D8-0B4EFB75640F}" sibTransId="{7DB1EA44-637E-4B0F-9742-3CC92E4C1F5D}"/>
    <dgm:cxn modelId="{3FFAEED4-F3C6-4CB1-8A57-DCA56300BE2B}" srcId="{E1D14720-6C89-4C88-A8AA-3FFBBC816B77}" destId="{A848B73F-CA80-49C5-BDE8-CA34BAE7D0DE}" srcOrd="5" destOrd="0" parTransId="{B1A657FF-BC01-4DCE-9D48-E2E7B247D3AD}" sibTransId="{8FF60241-76F2-473F-B8A2-47D0A2BFEE47}"/>
    <dgm:cxn modelId="{1C909C9E-633F-479B-A8B7-5D3804ECE5AE}" type="presParOf" srcId="{CE7429EF-033C-439C-A31E-D455C88A018F}" destId="{C09FE528-C18D-4DB6-8828-2132554F1CBB}" srcOrd="0" destOrd="0" presId="urn:microsoft.com/office/officeart/2005/8/layout/vList2"/>
    <dgm:cxn modelId="{C7413279-09A4-4452-BD13-B4368ADF7045}" type="presParOf" srcId="{CE7429EF-033C-439C-A31E-D455C88A018F}" destId="{2FC0F68B-CBFC-4A6D-85C0-7463D9104D92}" srcOrd="1" destOrd="0" presId="urn:microsoft.com/office/officeart/2005/8/layout/vList2"/>
    <dgm:cxn modelId="{49F01375-D8E8-4948-BEC5-0563C5C9E51A}" type="presParOf" srcId="{CE7429EF-033C-439C-A31E-D455C88A018F}" destId="{C73639F8-0015-4DF9-ABD8-BF31E771B6B4}" srcOrd="2" destOrd="0" presId="urn:microsoft.com/office/officeart/2005/8/layout/vList2"/>
    <dgm:cxn modelId="{44A9849F-E2E6-44C7-BBD7-DE3A771F3841}" type="presParOf" srcId="{CE7429EF-033C-439C-A31E-D455C88A018F}" destId="{A2F24CC9-6725-4ADA-98A3-5D33162A4EC5}" srcOrd="3" destOrd="0" presId="urn:microsoft.com/office/officeart/2005/8/layout/vList2"/>
    <dgm:cxn modelId="{6796D012-5C00-40E3-BC8E-C2B5CBA8C4A1}" type="presParOf" srcId="{CE7429EF-033C-439C-A31E-D455C88A018F}" destId="{26225C1C-60B5-473C-AE2C-20CE0E76290F}" srcOrd="4" destOrd="0" presId="urn:microsoft.com/office/officeart/2005/8/layout/vList2"/>
    <dgm:cxn modelId="{63328DD6-D10F-4F6E-ABC4-01D8D1691BEF}" type="presParOf" srcId="{CE7429EF-033C-439C-A31E-D455C88A018F}" destId="{BBEB8BCD-E0DD-45FC-99DB-3B5279ECBF84}" srcOrd="5" destOrd="0" presId="urn:microsoft.com/office/officeart/2005/8/layout/vList2"/>
    <dgm:cxn modelId="{F63013AA-72C9-4C1A-BA46-B7D694861F24}" type="presParOf" srcId="{CE7429EF-033C-439C-A31E-D455C88A018F}" destId="{8CE18B93-B7C2-4F37-97DB-D5518604C0D1}" srcOrd="6" destOrd="0" presId="urn:microsoft.com/office/officeart/2005/8/layout/vList2"/>
    <dgm:cxn modelId="{E8BDAFB8-476B-4C4A-A3C5-9D8EFE25A9DC}" type="presParOf" srcId="{CE7429EF-033C-439C-A31E-D455C88A018F}" destId="{977B5A7E-CDBC-4691-AD14-C3D9E2D6FD8F}" srcOrd="7" destOrd="0" presId="urn:microsoft.com/office/officeart/2005/8/layout/vList2"/>
    <dgm:cxn modelId="{7E6D9687-879A-40E0-9A48-61ADBEC3A4D6}" type="presParOf" srcId="{CE7429EF-033C-439C-A31E-D455C88A018F}" destId="{1938155C-341E-45E3-8050-0CA6CC779116}" srcOrd="8" destOrd="0" presId="urn:microsoft.com/office/officeart/2005/8/layout/vList2"/>
    <dgm:cxn modelId="{0022F95D-A3ED-452F-9B26-4E8E7BB28CEB}" type="presParOf" srcId="{CE7429EF-033C-439C-A31E-D455C88A018F}" destId="{56329C96-CBE4-4D90-BB54-A0350784FDF8}" srcOrd="9" destOrd="0" presId="urn:microsoft.com/office/officeart/2005/8/layout/vList2"/>
    <dgm:cxn modelId="{21F26568-B1FC-4C50-AE62-4FEC60B35225}" type="presParOf" srcId="{CE7429EF-033C-439C-A31E-D455C88A018F}" destId="{C7BAE210-795C-4223-83F8-B9DC72D8217A}" srcOrd="1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9FE528-C18D-4DB6-8828-2132554F1CBB}">
      <dsp:nvSpPr>
        <dsp:cNvPr id="0" name=""/>
        <dsp:cNvSpPr/>
      </dsp:nvSpPr>
      <dsp:spPr>
        <a:xfrm>
          <a:off x="0" y="45992"/>
          <a:ext cx="7106520" cy="33579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Lookup plugins always run on the controller, not the target</a:t>
          </a:r>
        </a:p>
      </dsp:txBody>
      <dsp:txXfrm>
        <a:off x="16392" y="62384"/>
        <a:ext cx="7073736" cy="303006"/>
      </dsp:txXfrm>
    </dsp:sp>
    <dsp:sp modelId="{C73639F8-0015-4DF9-ABD8-BF31E771B6B4}">
      <dsp:nvSpPr>
        <dsp:cNvPr id="0" name=""/>
        <dsp:cNvSpPr/>
      </dsp:nvSpPr>
      <dsp:spPr>
        <a:xfrm>
          <a:off x="0" y="422102"/>
          <a:ext cx="7106520" cy="33579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Great for injecting dynamic data into playbooks</a:t>
          </a:r>
        </a:p>
      </dsp:txBody>
      <dsp:txXfrm>
        <a:off x="16392" y="438494"/>
        <a:ext cx="7073736" cy="303006"/>
      </dsp:txXfrm>
    </dsp:sp>
    <dsp:sp modelId="{26225C1C-60B5-473C-AE2C-20CE0E76290F}">
      <dsp:nvSpPr>
        <dsp:cNvPr id="0" name=""/>
        <dsp:cNvSpPr/>
      </dsp:nvSpPr>
      <dsp:spPr>
        <a:xfrm>
          <a:off x="0" y="798212"/>
          <a:ext cx="7106520" cy="33579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Helps avoid hardcoding and supports environment‑specific values</a:t>
          </a:r>
        </a:p>
      </dsp:txBody>
      <dsp:txXfrm>
        <a:off x="16392" y="814604"/>
        <a:ext cx="7073736" cy="303006"/>
      </dsp:txXfrm>
    </dsp:sp>
    <dsp:sp modelId="{8CE18B93-B7C2-4F37-97DB-D5518604C0D1}">
      <dsp:nvSpPr>
        <dsp:cNvPr id="0" name=""/>
        <dsp:cNvSpPr/>
      </dsp:nvSpPr>
      <dsp:spPr>
        <a:xfrm>
          <a:off x="0" y="1174322"/>
          <a:ext cx="7106520" cy="33579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Use lookup() for strings, query() for lists</a:t>
          </a:r>
        </a:p>
      </dsp:txBody>
      <dsp:txXfrm>
        <a:off x="16392" y="1190714"/>
        <a:ext cx="7073736" cy="303006"/>
      </dsp:txXfrm>
    </dsp:sp>
    <dsp:sp modelId="{1938155C-341E-45E3-8050-0CA6CC779116}">
      <dsp:nvSpPr>
        <dsp:cNvPr id="0" name=""/>
        <dsp:cNvSpPr/>
      </dsp:nvSpPr>
      <dsp:spPr>
        <a:xfrm>
          <a:off x="0" y="1550432"/>
          <a:ext cx="7106520" cy="33579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Combine multiple lookups (file + env + pipe) for powerful automation</a:t>
          </a:r>
        </a:p>
      </dsp:txBody>
      <dsp:txXfrm>
        <a:off x="16392" y="1566824"/>
        <a:ext cx="7073736" cy="303006"/>
      </dsp:txXfrm>
    </dsp:sp>
    <dsp:sp modelId="{C7BAE210-795C-4223-83F8-B9DC72D8217A}">
      <dsp:nvSpPr>
        <dsp:cNvPr id="0" name=""/>
        <dsp:cNvSpPr/>
      </dsp:nvSpPr>
      <dsp:spPr>
        <a:xfrm>
          <a:off x="0" y="1926542"/>
          <a:ext cx="7106520" cy="33579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Template lookup is ideal when you want dynamic text without writing files</a:t>
          </a:r>
        </a:p>
      </dsp:txBody>
      <dsp:txXfrm>
        <a:off x="16392" y="1942934"/>
        <a:ext cx="7073736" cy="30300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0.jpeg"/><Relationship Id="rId7" Type="http://schemas.openxmlformats.org/officeDocument/2006/relationships/diagramColors" Target="../diagrams/colors1.xml"/><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7C8D8-3C6D-ACF1-554E-322A50803C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A2733E-35D8-E514-1317-EB5A0FFB97F3}"/>
              </a:ext>
            </a:extLst>
          </p:cNvPr>
          <p:cNvSpPr>
            <a:spLocks noGrp="1"/>
          </p:cNvSpPr>
          <p:nvPr>
            <p:ph type="title"/>
          </p:nvPr>
        </p:nvSpPr>
        <p:spPr>
          <a:xfrm>
            <a:off x="417399" y="643467"/>
            <a:ext cx="8408193" cy="744836"/>
          </a:xfrm>
        </p:spPr>
        <p:txBody>
          <a:bodyPr>
            <a:normAutofit/>
          </a:bodyPr>
          <a:lstStyle/>
          <a:p>
            <a:r>
              <a:rPr lang="en-US" sz="2800" dirty="0">
                <a:solidFill>
                  <a:schemeClr val="bg1"/>
                </a:solidFill>
              </a:rPr>
              <a:t>Where lookup runs vs where task runs</a:t>
            </a:r>
            <a:endParaRPr lang="en-IN" sz="2800" dirty="0">
              <a:solidFill>
                <a:schemeClr val="bg1"/>
              </a:solidFill>
            </a:endParaRPr>
          </a:p>
        </p:txBody>
      </p:sp>
      <p:pic>
        <p:nvPicPr>
          <p:cNvPr id="3" name="Picture 2" descr="A logo with a letter in a circle&#10;&#10;AI-generated content may be incorrect.">
            <a:extLst>
              <a:ext uri="{FF2B5EF4-FFF2-40B4-BE49-F238E27FC236}">
                <a16:creationId xmlns:a16="http://schemas.microsoft.com/office/drawing/2014/main" id="{9252F5C0-CB88-6418-7BCE-927380EC20FB}"/>
              </a:ext>
            </a:extLst>
          </p:cNvPr>
          <p:cNvPicPr>
            <a:picLocks noChangeAspect="1"/>
          </p:cNvPicPr>
          <p:nvPr/>
        </p:nvPicPr>
        <p:blipFill>
          <a:blip r:embed="rId2"/>
          <a:stretch>
            <a:fillRect/>
          </a:stretch>
        </p:blipFill>
        <p:spPr>
          <a:xfrm>
            <a:off x="8193024" y="152939"/>
            <a:ext cx="886968" cy="627688"/>
          </a:xfrm>
          <a:prstGeom prst="rect">
            <a:avLst/>
          </a:prstGeom>
        </p:spPr>
      </p:pic>
      <p:sp>
        <p:nvSpPr>
          <p:cNvPr id="5" name="TextBox 4">
            <a:extLst>
              <a:ext uri="{FF2B5EF4-FFF2-40B4-BE49-F238E27FC236}">
                <a16:creationId xmlns:a16="http://schemas.microsoft.com/office/drawing/2014/main" id="{47AB0C58-8AA1-82A8-757B-45783ADDEFF1}"/>
              </a:ext>
            </a:extLst>
          </p:cNvPr>
          <p:cNvSpPr txBox="1"/>
          <p:nvPr/>
        </p:nvSpPr>
        <p:spPr>
          <a:xfrm>
            <a:off x="832104" y="557784"/>
            <a:ext cx="7106520" cy="95410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spcBef>
                <a:spcPct val="0"/>
              </a:spcBef>
            </a:pPr>
            <a:r>
              <a:rPr lang="en-US" sz="2800" dirty="0">
                <a:solidFill>
                  <a:schemeClr val="dk1"/>
                </a:solidFill>
                <a:latin typeface="Aptos" panose="020B0004020202020204" pitchFamily="34" charset="0"/>
              </a:rPr>
              <a:t>Understanding Ansible Lookup Plugins </a:t>
            </a:r>
          </a:p>
          <a:p>
            <a:pPr algn="ctr">
              <a:spcBef>
                <a:spcPct val="0"/>
              </a:spcBef>
            </a:pPr>
            <a:r>
              <a:rPr lang="en-US" sz="2800" dirty="0">
                <a:solidFill>
                  <a:schemeClr val="dk1"/>
                </a:solidFill>
                <a:latin typeface="Aptos" panose="020B0004020202020204" pitchFamily="34" charset="0"/>
              </a:rPr>
              <a:t> A Practical Deep Dive</a:t>
            </a:r>
            <a:endParaRPr lang="en-IN" sz="2800" dirty="0">
              <a:solidFill>
                <a:schemeClr val="dk1"/>
              </a:solidFill>
              <a:latin typeface="Aptos" panose="020B0004020202020204" pitchFamily="34" charset="0"/>
            </a:endParaRPr>
          </a:p>
        </p:txBody>
      </p:sp>
      <p:sp>
        <p:nvSpPr>
          <p:cNvPr id="7" name="TextBox 6">
            <a:extLst>
              <a:ext uri="{FF2B5EF4-FFF2-40B4-BE49-F238E27FC236}">
                <a16:creationId xmlns:a16="http://schemas.microsoft.com/office/drawing/2014/main" id="{78F0BD49-1B5C-3854-DFBE-4C90A5C0066C}"/>
              </a:ext>
            </a:extLst>
          </p:cNvPr>
          <p:cNvSpPr txBox="1"/>
          <p:nvPr/>
        </p:nvSpPr>
        <p:spPr>
          <a:xfrm>
            <a:off x="896112" y="1700784"/>
            <a:ext cx="7106520" cy="203132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342900" indent="-342900">
              <a:buFont typeface="+mj-lt"/>
              <a:buAutoNum type="arabicPeriod"/>
            </a:pPr>
            <a:r>
              <a:rPr lang="en-IN" dirty="0">
                <a:solidFill>
                  <a:schemeClr val="dk1"/>
                </a:solidFill>
                <a:latin typeface="Aptos" panose="020B0004020202020204" pitchFamily="34" charset="0"/>
              </a:rPr>
              <a:t>What lookup plugins are and where they run</a:t>
            </a:r>
          </a:p>
          <a:p>
            <a:pPr marL="342900" indent="-342900">
              <a:buFont typeface="+mj-lt"/>
              <a:buAutoNum type="arabicPeriod"/>
            </a:pPr>
            <a:r>
              <a:rPr lang="en-IN" dirty="0">
                <a:solidFill>
                  <a:schemeClr val="dk1"/>
                </a:solidFill>
                <a:latin typeface="Aptos" panose="020B0004020202020204" pitchFamily="34" charset="0"/>
              </a:rPr>
              <a:t>Why lookups matter in automation (dynamic data, no hardcoding, external integrations)</a:t>
            </a:r>
          </a:p>
          <a:p>
            <a:pPr marL="342900" indent="-342900">
              <a:buFont typeface="+mj-lt"/>
              <a:buAutoNum type="arabicPeriod"/>
            </a:pPr>
            <a:r>
              <a:rPr lang="en-IN" dirty="0">
                <a:solidFill>
                  <a:schemeClr val="dk1"/>
                </a:solidFill>
                <a:latin typeface="Aptos" panose="020B0004020202020204" pitchFamily="34" charset="0"/>
              </a:rPr>
              <a:t>Difference between lookup() and query()</a:t>
            </a:r>
          </a:p>
          <a:p>
            <a:pPr marL="342900" indent="-342900">
              <a:buFont typeface="+mj-lt"/>
              <a:buAutoNum type="arabicPeriod"/>
            </a:pPr>
            <a:r>
              <a:rPr lang="en-IN" dirty="0">
                <a:solidFill>
                  <a:schemeClr val="dk1"/>
                </a:solidFill>
                <a:latin typeface="Aptos" panose="020B0004020202020204" pitchFamily="34" charset="0"/>
              </a:rPr>
              <a:t>Real‑world examples: file, env, pipe, template lookups</a:t>
            </a:r>
          </a:p>
          <a:p>
            <a:pPr marL="342900" indent="-342900">
              <a:buFont typeface="+mj-lt"/>
              <a:buAutoNum type="arabicPeriod"/>
            </a:pPr>
            <a:r>
              <a:rPr lang="en-IN" dirty="0">
                <a:solidFill>
                  <a:schemeClr val="dk1"/>
                </a:solidFill>
                <a:latin typeface="Aptos" panose="020B0004020202020204" pitchFamily="34" charset="0"/>
              </a:rPr>
              <a:t>Mini demonstration of combining multiple lookup plugins</a:t>
            </a:r>
          </a:p>
          <a:p>
            <a:pPr marL="342900" indent="-342900">
              <a:buFont typeface="+mj-lt"/>
              <a:buAutoNum type="arabicPeriod"/>
            </a:pPr>
            <a:r>
              <a:rPr lang="en-IN" dirty="0">
                <a:solidFill>
                  <a:schemeClr val="dk1"/>
                </a:solidFill>
                <a:latin typeface="Aptos" panose="020B0004020202020204" pitchFamily="34" charset="0"/>
              </a:rPr>
              <a:t>Comparison of lookup vs </a:t>
            </a:r>
            <a:r>
              <a:rPr lang="en-IN" dirty="0" err="1">
                <a:solidFill>
                  <a:schemeClr val="dk1"/>
                </a:solidFill>
                <a:latin typeface="Aptos" panose="020B0004020202020204" pitchFamily="34" charset="0"/>
              </a:rPr>
              <a:t>vars_file</a:t>
            </a:r>
            <a:r>
              <a:rPr lang="en-IN" dirty="0">
                <a:solidFill>
                  <a:schemeClr val="dk1"/>
                </a:solidFill>
                <a:latin typeface="Aptos" panose="020B0004020202020204" pitchFamily="34" charset="0"/>
              </a:rPr>
              <a:t> vs templates</a:t>
            </a:r>
          </a:p>
        </p:txBody>
      </p:sp>
      <p:pic>
        <p:nvPicPr>
          <p:cNvPr id="9" name="Picture 8">
            <a:extLst>
              <a:ext uri="{FF2B5EF4-FFF2-40B4-BE49-F238E27FC236}">
                <a16:creationId xmlns:a16="http://schemas.microsoft.com/office/drawing/2014/main" id="{CCDD1B22-F9C7-1C11-B6B4-2EFE71B9B26D}"/>
              </a:ext>
            </a:extLst>
          </p:cNvPr>
          <p:cNvPicPr>
            <a:picLocks noChangeAspect="1"/>
          </p:cNvPicPr>
          <p:nvPr/>
        </p:nvPicPr>
        <p:blipFill>
          <a:blip r:embed="rId3">
            <a:duotone>
              <a:prstClr val="black"/>
              <a:schemeClr val="accent1">
                <a:tint val="45000"/>
                <a:satMod val="400000"/>
              </a:schemeClr>
            </a:duotone>
          </a:blip>
          <a:stretch>
            <a:fillRect/>
          </a:stretch>
        </p:blipFill>
        <p:spPr>
          <a:xfrm>
            <a:off x="896112" y="3921002"/>
            <a:ext cx="7106520" cy="2449212"/>
          </a:xfrm>
          <a:prstGeom prst="rect">
            <a:avLst/>
          </a:prstGeom>
          <a:ln w="28575">
            <a:solidFill>
              <a:srgbClr val="002060"/>
            </a:solidFill>
          </a:ln>
        </p:spPr>
      </p:pic>
    </p:spTree>
    <p:extLst>
      <p:ext uri="{BB962C8B-B14F-4D97-AF65-F5344CB8AC3E}">
        <p14:creationId xmlns:p14="http://schemas.microsoft.com/office/powerpoint/2010/main" val="3721609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6D8C11-86CB-4D2E-3AAC-B0485BD6B54F}"/>
              </a:ext>
            </a:extLst>
          </p:cNvPr>
          <p:cNvSpPr>
            <a:spLocks noGrp="1"/>
          </p:cNvSpPr>
          <p:nvPr>
            <p:ph type="title"/>
          </p:nvPr>
        </p:nvSpPr>
        <p:spPr>
          <a:xfrm>
            <a:off x="417399" y="643467"/>
            <a:ext cx="8408193" cy="744836"/>
          </a:xfrm>
        </p:spPr>
        <p:txBody>
          <a:bodyPr>
            <a:normAutofit/>
          </a:bodyPr>
          <a:lstStyle/>
          <a:p>
            <a:r>
              <a:rPr lang="en-US" sz="2800" dirty="0">
                <a:solidFill>
                  <a:schemeClr val="bg1"/>
                </a:solidFill>
              </a:rPr>
              <a:t>Where lookup runs vs where task runs</a:t>
            </a:r>
            <a:endParaRPr lang="en-IN" sz="2800" dirty="0">
              <a:solidFill>
                <a:schemeClr val="bg1"/>
              </a:solidFill>
            </a:endParaRPr>
          </a:p>
        </p:txBody>
      </p:sp>
      <p:pic>
        <p:nvPicPr>
          <p:cNvPr id="4" name="Picture 3" descr="A computer screen shot of a computer program">
            <a:extLst>
              <a:ext uri="{FF2B5EF4-FFF2-40B4-BE49-F238E27FC236}">
                <a16:creationId xmlns:a16="http://schemas.microsoft.com/office/drawing/2014/main" id="{8DD6674A-B354-DF95-5300-25F06A814132}"/>
              </a:ext>
            </a:extLst>
          </p:cNvPr>
          <p:cNvPicPr>
            <a:picLocks noChangeAspect="1"/>
          </p:cNvPicPr>
          <p:nvPr/>
        </p:nvPicPr>
        <p:blipFill>
          <a:blip r:embed="rId2"/>
          <a:stretch>
            <a:fillRect/>
          </a:stretch>
        </p:blipFill>
        <p:spPr>
          <a:xfrm>
            <a:off x="1280465" y="1675227"/>
            <a:ext cx="6583069" cy="4394199"/>
          </a:xfrm>
          <a:prstGeom prst="rect">
            <a:avLst/>
          </a:prstGeom>
        </p:spPr>
      </p:pic>
      <p:pic>
        <p:nvPicPr>
          <p:cNvPr id="3" name="Picture 2" descr="A logo with a letter in a circle&#10;&#10;AI-generated content may be incorrect.">
            <a:extLst>
              <a:ext uri="{FF2B5EF4-FFF2-40B4-BE49-F238E27FC236}">
                <a16:creationId xmlns:a16="http://schemas.microsoft.com/office/drawing/2014/main" id="{2989A6F1-A186-B4AA-4338-E5DA93D53BF5}"/>
              </a:ext>
            </a:extLst>
          </p:cNvPr>
          <p:cNvPicPr>
            <a:picLocks noChangeAspect="1"/>
          </p:cNvPicPr>
          <p:nvPr/>
        </p:nvPicPr>
        <p:blipFill>
          <a:blip r:embed="rId3"/>
          <a:stretch>
            <a:fillRect/>
          </a:stretch>
        </p:blipFill>
        <p:spPr>
          <a:xfrm>
            <a:off x="8257032" y="15779"/>
            <a:ext cx="886968" cy="627688"/>
          </a:xfrm>
          <a:prstGeom prst="rect">
            <a:avLst/>
          </a:prstGeom>
        </p:spPr>
      </p:pic>
    </p:spTree>
    <p:extLst>
      <p:ext uri="{BB962C8B-B14F-4D97-AF65-F5344CB8AC3E}">
        <p14:creationId xmlns:p14="http://schemas.microsoft.com/office/powerpoint/2010/main" val="4177783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4366"/>
            <a:ext cx="5632704" cy="466026"/>
          </a:xfrm>
        </p:spPr>
        <p:style>
          <a:lnRef idx="2">
            <a:schemeClr val="accent1"/>
          </a:lnRef>
          <a:fillRef idx="1">
            <a:schemeClr val="lt1"/>
          </a:fillRef>
          <a:effectRef idx="0">
            <a:schemeClr val="accent1"/>
          </a:effectRef>
          <a:fontRef idx="minor">
            <a:schemeClr val="dk1"/>
          </a:fontRef>
        </p:style>
        <p:txBody>
          <a:bodyPr>
            <a:noAutofit/>
          </a:bodyPr>
          <a:lstStyle/>
          <a:p>
            <a:r>
              <a:rPr sz="2800" dirty="0">
                <a:latin typeface="Aptos" panose="020B0004020202020204" pitchFamily="34" charset="0"/>
              </a:rPr>
              <a:t>Ansible Lookup Plugins — Basics</a:t>
            </a:r>
          </a:p>
        </p:txBody>
      </p:sp>
      <p:sp>
        <p:nvSpPr>
          <p:cNvPr id="3" name="Content Placeholder 2"/>
          <p:cNvSpPr>
            <a:spLocks noGrp="1"/>
          </p:cNvSpPr>
          <p:nvPr>
            <p:ph idx="1"/>
          </p:nvPr>
        </p:nvSpPr>
        <p:spPr>
          <a:xfrm>
            <a:off x="438912" y="923544"/>
            <a:ext cx="8229600" cy="2990087"/>
          </a:xfrm>
        </p:spPr>
        <p:style>
          <a:lnRef idx="2">
            <a:schemeClr val="accent2"/>
          </a:lnRef>
          <a:fillRef idx="1">
            <a:schemeClr val="lt1"/>
          </a:fillRef>
          <a:effectRef idx="0">
            <a:schemeClr val="accent2"/>
          </a:effectRef>
          <a:fontRef idx="minor">
            <a:schemeClr val="dk1"/>
          </a:fontRef>
        </p:style>
        <p:txBody>
          <a:bodyPr>
            <a:normAutofit lnSpcReduction="10000"/>
          </a:bodyPr>
          <a:lstStyle/>
          <a:p>
            <a:r>
              <a:rPr lang="en-US" sz="2000" dirty="0">
                <a:latin typeface="Aptos" panose="020B0004020202020204" pitchFamily="34" charset="0"/>
              </a:rPr>
              <a:t>Lookup plugins help Ansible fetch data from external sources at runtime.</a:t>
            </a:r>
          </a:p>
          <a:p>
            <a:r>
              <a:rPr lang="en-US" sz="2000" dirty="0">
                <a:latin typeface="Aptos" panose="020B0004020202020204" pitchFamily="34" charset="0"/>
              </a:rPr>
              <a:t>They run on the controller, not on remote machines.</a:t>
            </a:r>
          </a:p>
          <a:p>
            <a:r>
              <a:rPr lang="en-US" sz="2000" dirty="0">
                <a:latin typeface="Aptos" panose="020B0004020202020204" pitchFamily="34" charset="0"/>
              </a:rPr>
              <a:t>This is important — because it means lookups always happen locally, before the task runs on the target host.</a:t>
            </a:r>
          </a:p>
          <a:p>
            <a:r>
              <a:rPr lang="en-US" sz="2000" dirty="0">
                <a:latin typeface="Aptos" panose="020B0004020202020204" pitchFamily="34" charset="0"/>
              </a:rPr>
              <a:t>Think of lookup plugins as Ansible’s way of pulling information into the playbook instead of hardcoding it.</a:t>
            </a:r>
          </a:p>
          <a:p>
            <a:r>
              <a:rPr lang="en-IN" sz="2000" dirty="0">
                <a:latin typeface="Aptos" panose="020B0004020202020204" pitchFamily="34" charset="0"/>
              </a:rPr>
              <a:t>Fetch external data dynamically</a:t>
            </a:r>
          </a:p>
          <a:p>
            <a:pPr lvl="1"/>
            <a:r>
              <a:rPr lang="en-IN" sz="2000" dirty="0">
                <a:latin typeface="Aptos" panose="020B0004020202020204" pitchFamily="34" charset="0"/>
              </a:rPr>
              <a:t>Files, env vars, commands, templates</a:t>
            </a:r>
          </a:p>
          <a:p>
            <a:endParaRPr lang="en-US" sz="1800" dirty="0">
              <a:latin typeface="Aptos" panose="020B0004020202020204" pitchFamily="34" charset="0"/>
            </a:endParaRPr>
          </a:p>
          <a:p>
            <a:endParaRPr sz="1800" dirty="0">
              <a:latin typeface="Aptos" panose="020B0004020202020204" pitchFamily="34" charset="0"/>
            </a:endParaRPr>
          </a:p>
        </p:txBody>
      </p:sp>
      <p:pic>
        <p:nvPicPr>
          <p:cNvPr id="4" name="Picture 3" descr="Designer (4).png">
            <a:extLst>
              <a:ext uri="{FF2B5EF4-FFF2-40B4-BE49-F238E27FC236}">
                <a16:creationId xmlns:a16="http://schemas.microsoft.com/office/drawing/2014/main" id="{881275AF-7E4F-AFBE-C274-D4994D30010A}"/>
              </a:ext>
            </a:extLst>
          </p:cNvPr>
          <p:cNvPicPr>
            <a:picLocks noChangeAspect="1"/>
          </p:cNvPicPr>
          <p:nvPr/>
        </p:nvPicPr>
        <p:blipFill>
          <a:blip r:embed="rId2"/>
          <a:stretch>
            <a:fillRect/>
          </a:stretch>
        </p:blipFill>
        <p:spPr>
          <a:xfrm>
            <a:off x="388620" y="3986783"/>
            <a:ext cx="8311896" cy="2606042"/>
          </a:xfrm>
          <a:prstGeom prst="rect">
            <a:avLst/>
          </a:prstGeom>
        </p:spPr>
      </p:pic>
      <p:pic>
        <p:nvPicPr>
          <p:cNvPr id="6" name="Picture 5" descr="A logo with a letter in a circle&#10;&#10;AI-generated content may be incorrect.">
            <a:extLst>
              <a:ext uri="{FF2B5EF4-FFF2-40B4-BE49-F238E27FC236}">
                <a16:creationId xmlns:a16="http://schemas.microsoft.com/office/drawing/2014/main" id="{63741729-DA62-48EA-BB51-4E1CC63E1D72}"/>
              </a:ext>
            </a:extLst>
          </p:cNvPr>
          <p:cNvPicPr>
            <a:picLocks noChangeAspect="1"/>
          </p:cNvPicPr>
          <p:nvPr/>
        </p:nvPicPr>
        <p:blipFill>
          <a:blip r:embed="rId3"/>
          <a:stretch>
            <a:fillRect/>
          </a:stretch>
        </p:blipFill>
        <p:spPr>
          <a:xfrm>
            <a:off x="8257032" y="15779"/>
            <a:ext cx="886968" cy="8936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8338" y="329501"/>
            <a:ext cx="6275070" cy="594042"/>
          </a:xfrm>
        </p:spPr>
        <p:style>
          <a:lnRef idx="2">
            <a:schemeClr val="accent1"/>
          </a:lnRef>
          <a:fillRef idx="1">
            <a:schemeClr val="lt1"/>
          </a:fillRef>
          <a:effectRef idx="0">
            <a:schemeClr val="accent1"/>
          </a:effectRef>
          <a:fontRef idx="minor">
            <a:schemeClr val="dk1"/>
          </a:fontRef>
        </p:style>
        <p:txBody>
          <a:bodyPr>
            <a:normAutofit fontScale="90000"/>
          </a:bodyPr>
          <a:lstStyle/>
          <a:p>
            <a:r>
              <a:rPr dirty="0">
                <a:latin typeface="Aptos" panose="020B0004020202020204" pitchFamily="34" charset="0"/>
              </a:rPr>
              <a:t>Why Use Lookup Plugins?</a:t>
            </a:r>
          </a:p>
        </p:txBody>
      </p:sp>
      <p:sp>
        <p:nvSpPr>
          <p:cNvPr id="3" name="Content Placeholder 2"/>
          <p:cNvSpPr>
            <a:spLocks noGrp="1"/>
          </p:cNvSpPr>
          <p:nvPr>
            <p:ph idx="1"/>
          </p:nvPr>
        </p:nvSpPr>
        <p:spPr>
          <a:xfrm>
            <a:off x="418338" y="1124713"/>
            <a:ext cx="8151876" cy="4343400"/>
          </a:xfrm>
        </p:spPr>
        <p:style>
          <a:lnRef idx="2">
            <a:schemeClr val="accent2"/>
          </a:lnRef>
          <a:fillRef idx="1">
            <a:schemeClr val="lt1"/>
          </a:fillRef>
          <a:effectRef idx="0">
            <a:schemeClr val="accent2"/>
          </a:effectRef>
          <a:fontRef idx="minor">
            <a:schemeClr val="dk1"/>
          </a:fontRef>
        </p:style>
        <p:txBody>
          <a:bodyPr>
            <a:normAutofit fontScale="55000" lnSpcReduction="20000"/>
          </a:bodyPr>
          <a:lstStyle/>
          <a:p>
            <a:pPr marL="0" indent="0">
              <a:buNone/>
            </a:pPr>
            <a:r>
              <a:rPr lang="en-IN" b="1" dirty="0">
                <a:latin typeface="Aptos" panose="020B0004020202020204" pitchFamily="34" charset="0"/>
              </a:rPr>
              <a:t>Avoid hardcoding.</a:t>
            </a:r>
          </a:p>
          <a:p>
            <a:r>
              <a:rPr lang="en-IN" dirty="0">
                <a:latin typeface="Aptos" panose="020B0004020202020204" pitchFamily="34" charset="0"/>
              </a:rPr>
              <a:t>Sensitive values like secrets, IP addresses, API tokens — keep them outside the playbook.</a:t>
            </a:r>
          </a:p>
          <a:p>
            <a:endParaRPr lang="en-IN" dirty="0">
              <a:latin typeface="Aptos" panose="020B0004020202020204" pitchFamily="34" charset="0"/>
            </a:endParaRPr>
          </a:p>
          <a:p>
            <a:pPr marL="0" indent="0">
              <a:buNone/>
            </a:pPr>
            <a:r>
              <a:rPr lang="en-IN" b="1" dirty="0">
                <a:latin typeface="Aptos" panose="020B0004020202020204" pitchFamily="34" charset="0"/>
              </a:rPr>
              <a:t>Make playbooks dynamic</a:t>
            </a:r>
          </a:p>
          <a:p>
            <a:r>
              <a:rPr lang="en-IN" dirty="0">
                <a:latin typeface="Aptos" panose="020B0004020202020204" pitchFamily="34" charset="0"/>
              </a:rPr>
              <a:t>Different environments — dev, QA, prod — require different configurations.</a:t>
            </a:r>
          </a:p>
          <a:p>
            <a:pPr marL="0" indent="0">
              <a:buNone/>
            </a:pPr>
            <a:endParaRPr lang="en-IN" dirty="0">
              <a:latin typeface="Aptos" panose="020B0004020202020204" pitchFamily="34" charset="0"/>
            </a:endParaRPr>
          </a:p>
          <a:p>
            <a:pPr marL="0" indent="0">
              <a:buNone/>
            </a:pPr>
            <a:r>
              <a:rPr lang="en-IN" b="1" dirty="0">
                <a:latin typeface="Aptos" panose="020B0004020202020204" pitchFamily="34" charset="0"/>
              </a:rPr>
              <a:t>Integrate with external systems.</a:t>
            </a:r>
          </a:p>
          <a:p>
            <a:r>
              <a:rPr lang="en-IN" dirty="0">
                <a:latin typeface="Aptos" panose="020B0004020202020204" pitchFamily="34" charset="0"/>
              </a:rPr>
              <a:t>Files, URL endpoints, Vault, cloud metadata, environment variables, and shell commands.</a:t>
            </a:r>
          </a:p>
          <a:p>
            <a:pPr marL="0" indent="0">
              <a:buNone/>
            </a:pPr>
            <a:r>
              <a:rPr lang="en-IN" b="1" dirty="0">
                <a:latin typeface="Aptos" panose="020B0004020202020204" pitchFamily="34" charset="0"/>
              </a:rPr>
              <a:t>Other use cases:</a:t>
            </a:r>
          </a:p>
          <a:p>
            <a:r>
              <a:rPr lang="en-US" dirty="0">
                <a:latin typeface="Aptos" panose="020B0004020202020204" pitchFamily="34" charset="0"/>
              </a:rPr>
              <a:t>Keeps secrets out of Git </a:t>
            </a:r>
          </a:p>
          <a:p>
            <a:r>
              <a:rPr lang="en-US" dirty="0">
                <a:latin typeface="Aptos" panose="020B0004020202020204" pitchFamily="34" charset="0"/>
              </a:rPr>
              <a:t>Useful with CI/CD pipelines”</a:t>
            </a:r>
            <a:endParaRPr lang="en-IN" dirty="0">
              <a:latin typeface="Aptos" panose="020B0004020202020204" pitchFamily="34" charset="0"/>
            </a:endParaRPr>
          </a:p>
          <a:p>
            <a:endParaRPr lang="en-IN" dirty="0">
              <a:latin typeface="Aptos" panose="020B0004020202020204" pitchFamily="34" charset="0"/>
            </a:endParaRPr>
          </a:p>
          <a:p>
            <a:pPr marL="0" indent="0">
              <a:buNone/>
            </a:pPr>
            <a:r>
              <a:rPr lang="en-US" b="1" dirty="0">
                <a:latin typeface="Aptos" panose="020B0004020202020204" pitchFamily="34" charset="0"/>
              </a:rPr>
              <a:t>Lookups make playbooks reusable, portable, and easier to maintain</a:t>
            </a:r>
          </a:p>
          <a:p>
            <a:pPr marL="0" indent="0">
              <a:buNone/>
            </a:pPr>
            <a:endParaRPr dirty="0">
              <a:latin typeface="Aptos" panose="020B0004020202020204" pitchFamily="34" charset="0"/>
            </a:endParaRPr>
          </a:p>
        </p:txBody>
      </p:sp>
      <p:pic>
        <p:nvPicPr>
          <p:cNvPr id="4" name="Picture 3" descr="A logo with a letter in a circle&#10;&#10;AI-generated content may be incorrect.">
            <a:extLst>
              <a:ext uri="{FF2B5EF4-FFF2-40B4-BE49-F238E27FC236}">
                <a16:creationId xmlns:a16="http://schemas.microsoft.com/office/drawing/2014/main" id="{3883C22C-83F3-5311-728A-DCB47AD7E569}"/>
              </a:ext>
            </a:extLst>
          </p:cNvPr>
          <p:cNvPicPr>
            <a:picLocks noChangeAspect="1"/>
          </p:cNvPicPr>
          <p:nvPr/>
        </p:nvPicPr>
        <p:blipFill>
          <a:blip r:embed="rId2"/>
          <a:stretch>
            <a:fillRect/>
          </a:stretch>
        </p:blipFill>
        <p:spPr>
          <a:xfrm>
            <a:off x="8257032" y="15779"/>
            <a:ext cx="886968" cy="89368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4855464" cy="612330"/>
          </a:xfrm>
        </p:spPr>
        <p:style>
          <a:lnRef idx="2">
            <a:schemeClr val="accent1"/>
          </a:lnRef>
          <a:fillRef idx="1">
            <a:schemeClr val="lt1"/>
          </a:fillRef>
          <a:effectRef idx="0">
            <a:schemeClr val="accent1"/>
          </a:effectRef>
          <a:fontRef idx="minor">
            <a:schemeClr val="dk1"/>
          </a:fontRef>
        </p:style>
        <p:txBody>
          <a:bodyPr>
            <a:normAutofit fontScale="90000"/>
          </a:bodyPr>
          <a:lstStyle/>
          <a:p>
            <a:r>
              <a:rPr dirty="0">
                <a:latin typeface="Aptos" panose="020B0004020202020204" pitchFamily="34" charset="0"/>
              </a:rPr>
              <a:t>lookup() vs query()</a:t>
            </a:r>
          </a:p>
        </p:txBody>
      </p:sp>
      <p:sp>
        <p:nvSpPr>
          <p:cNvPr id="3" name="Content Placeholder 2"/>
          <p:cNvSpPr>
            <a:spLocks noGrp="1"/>
          </p:cNvSpPr>
          <p:nvPr>
            <p:ph idx="1"/>
          </p:nvPr>
        </p:nvSpPr>
        <p:spPr>
          <a:xfrm>
            <a:off x="457200" y="1069849"/>
            <a:ext cx="8229600" cy="1773936"/>
          </a:xfrm>
        </p:spPr>
        <p:style>
          <a:lnRef idx="2">
            <a:schemeClr val="accent2"/>
          </a:lnRef>
          <a:fillRef idx="1">
            <a:schemeClr val="lt1"/>
          </a:fillRef>
          <a:effectRef idx="0">
            <a:schemeClr val="accent2"/>
          </a:effectRef>
          <a:fontRef idx="minor">
            <a:schemeClr val="dk1"/>
          </a:fontRef>
        </p:style>
        <p:txBody>
          <a:bodyPr>
            <a:normAutofit fontScale="77500" lnSpcReduction="20000"/>
          </a:bodyPr>
          <a:lstStyle/>
          <a:p>
            <a:r>
              <a:rPr dirty="0">
                <a:latin typeface="Aptos" panose="020B0004020202020204" pitchFamily="34" charset="0"/>
              </a:rPr>
              <a:t>lookup() → string</a:t>
            </a:r>
          </a:p>
          <a:p>
            <a:pPr lvl="1"/>
            <a:r>
              <a:rPr dirty="0">
                <a:latin typeface="Aptos" panose="020B0004020202020204" pitchFamily="34" charset="0"/>
              </a:rPr>
              <a:t>query() → list</a:t>
            </a:r>
          </a:p>
          <a:p>
            <a:pPr lvl="1"/>
            <a:r>
              <a:rPr dirty="0">
                <a:latin typeface="Aptos" panose="020B0004020202020204" pitchFamily="34" charset="0"/>
              </a:rPr>
              <a:t>Use query() for loops</a:t>
            </a:r>
            <a:endParaRPr lang="en-US" dirty="0">
              <a:latin typeface="Aptos" panose="020B0004020202020204" pitchFamily="34" charset="0"/>
            </a:endParaRPr>
          </a:p>
          <a:p>
            <a:pPr marL="457200" lvl="1" indent="0">
              <a:buNone/>
            </a:pPr>
            <a:r>
              <a:rPr lang="en-IN" dirty="0">
                <a:latin typeface="Aptos" panose="020B0004020202020204" pitchFamily="34" charset="0"/>
              </a:rPr>
              <a:t>Real world example: l</a:t>
            </a:r>
            <a:r>
              <a:rPr lang="en-US" dirty="0" err="1">
                <a:latin typeface="Aptos" panose="020B0004020202020204" pitchFamily="34" charset="0"/>
              </a:rPr>
              <a:t>ookup</a:t>
            </a:r>
            <a:r>
              <a:rPr lang="en-US" dirty="0">
                <a:latin typeface="Aptos" panose="020B0004020202020204" pitchFamily="34" charset="0"/>
              </a:rPr>
              <a:t> for single item, query for multi-line file or list.</a:t>
            </a:r>
            <a:endParaRPr lang="en-IN" dirty="0">
              <a:latin typeface="Aptos" panose="020B0004020202020204" pitchFamily="34" charset="0"/>
            </a:endParaRPr>
          </a:p>
          <a:p>
            <a:pPr marL="457200" lvl="1" indent="0">
              <a:buNone/>
            </a:pPr>
            <a:endParaRPr lang="en-IN" dirty="0">
              <a:latin typeface="Aptos" panose="020B0004020202020204" pitchFamily="34" charset="0"/>
            </a:endParaRPr>
          </a:p>
          <a:p>
            <a:pPr marL="457200" lvl="1" indent="0">
              <a:buNone/>
            </a:pPr>
            <a:endParaRPr dirty="0">
              <a:latin typeface="Aptos" panose="020B0004020202020204" pitchFamily="34" charset="0"/>
            </a:endParaRPr>
          </a:p>
        </p:txBody>
      </p:sp>
      <p:pic>
        <p:nvPicPr>
          <p:cNvPr id="4" name="Picture 3" descr="Designer (5).png">
            <a:extLst>
              <a:ext uri="{FF2B5EF4-FFF2-40B4-BE49-F238E27FC236}">
                <a16:creationId xmlns:a16="http://schemas.microsoft.com/office/drawing/2014/main" id="{49F45A48-B4AB-5C14-E781-263EB11A8E7C}"/>
              </a:ext>
            </a:extLst>
          </p:cNvPr>
          <p:cNvPicPr>
            <a:picLocks noChangeAspect="1"/>
          </p:cNvPicPr>
          <p:nvPr/>
        </p:nvPicPr>
        <p:blipFill>
          <a:blip r:embed="rId2"/>
          <a:stretch>
            <a:fillRect/>
          </a:stretch>
        </p:blipFill>
        <p:spPr>
          <a:xfrm>
            <a:off x="457200" y="3300984"/>
            <a:ext cx="8229600" cy="3163824"/>
          </a:xfrm>
          <a:prstGeom prst="rect">
            <a:avLst/>
          </a:prstGeom>
        </p:spPr>
      </p:pic>
      <p:pic>
        <p:nvPicPr>
          <p:cNvPr id="5" name="Picture 4" descr="A logo with a letter in a circle&#10;&#10;AI-generated content may be incorrect.">
            <a:extLst>
              <a:ext uri="{FF2B5EF4-FFF2-40B4-BE49-F238E27FC236}">
                <a16:creationId xmlns:a16="http://schemas.microsoft.com/office/drawing/2014/main" id="{E7D53E9B-6FFE-9C11-A2BB-F8DE37968432}"/>
              </a:ext>
            </a:extLst>
          </p:cNvPr>
          <p:cNvPicPr>
            <a:picLocks noChangeAspect="1"/>
          </p:cNvPicPr>
          <p:nvPr/>
        </p:nvPicPr>
        <p:blipFill>
          <a:blip r:embed="rId3"/>
          <a:stretch>
            <a:fillRect/>
          </a:stretch>
        </p:blipFill>
        <p:spPr>
          <a:xfrm>
            <a:off x="8257032" y="15779"/>
            <a:ext cx="886968" cy="8936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AA61E-D2BC-FA81-DB94-E67614B2B7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AB2CC7-C4B8-5BD3-02C7-F72A0C0C7547}"/>
              </a:ext>
            </a:extLst>
          </p:cNvPr>
          <p:cNvSpPr>
            <a:spLocks noGrp="1"/>
          </p:cNvSpPr>
          <p:nvPr>
            <p:ph type="title"/>
          </p:nvPr>
        </p:nvSpPr>
        <p:spPr>
          <a:xfrm>
            <a:off x="731520" y="180090"/>
            <a:ext cx="5385816" cy="557466"/>
          </a:xfrm>
        </p:spPr>
        <p:style>
          <a:lnRef idx="2">
            <a:schemeClr val="accent1"/>
          </a:lnRef>
          <a:fillRef idx="1">
            <a:schemeClr val="lt1"/>
          </a:fillRef>
          <a:effectRef idx="0">
            <a:schemeClr val="accent1"/>
          </a:effectRef>
          <a:fontRef idx="minor">
            <a:schemeClr val="dk1"/>
          </a:fontRef>
        </p:style>
        <p:txBody>
          <a:bodyPr>
            <a:normAutofit fontScale="90000"/>
          </a:bodyPr>
          <a:lstStyle/>
          <a:p>
            <a:r>
              <a:rPr lang="en-US" dirty="0">
                <a:latin typeface="Aptos" panose="020B0004020202020204" pitchFamily="34" charset="0"/>
              </a:rPr>
              <a:t>File – lookup 	</a:t>
            </a:r>
            <a:endParaRPr dirty="0">
              <a:latin typeface="Aptos" panose="020B0004020202020204" pitchFamily="34" charset="0"/>
            </a:endParaRPr>
          </a:p>
        </p:txBody>
      </p:sp>
      <p:sp>
        <p:nvSpPr>
          <p:cNvPr id="3" name="Content Placeholder 2">
            <a:extLst>
              <a:ext uri="{FF2B5EF4-FFF2-40B4-BE49-F238E27FC236}">
                <a16:creationId xmlns:a16="http://schemas.microsoft.com/office/drawing/2014/main" id="{547817AA-A9C7-EB1C-1A8A-ACA64CB0F431}"/>
              </a:ext>
            </a:extLst>
          </p:cNvPr>
          <p:cNvSpPr>
            <a:spLocks noGrp="1"/>
          </p:cNvSpPr>
          <p:nvPr>
            <p:ph idx="1"/>
          </p:nvPr>
        </p:nvSpPr>
        <p:spPr>
          <a:xfrm>
            <a:off x="731520" y="725235"/>
            <a:ext cx="7114032" cy="2886645"/>
          </a:xfrm>
        </p:spPr>
        <p:style>
          <a:lnRef idx="2">
            <a:schemeClr val="accent2"/>
          </a:lnRef>
          <a:fillRef idx="1">
            <a:schemeClr val="lt1"/>
          </a:fillRef>
          <a:effectRef idx="0">
            <a:schemeClr val="accent2"/>
          </a:effectRef>
          <a:fontRef idx="minor">
            <a:schemeClr val="dk1"/>
          </a:fontRef>
        </p:style>
        <p:txBody>
          <a:bodyPr/>
          <a:lstStyle/>
          <a:p>
            <a:r>
              <a:rPr dirty="0">
                <a:latin typeface="Aptos" panose="020B0004020202020204" pitchFamily="34" charset="0"/>
              </a:rPr>
              <a:t>Combine file + env + pipe lookups</a:t>
            </a:r>
          </a:p>
          <a:p>
            <a:pPr lvl="1"/>
            <a:r>
              <a:rPr dirty="0">
                <a:latin typeface="Aptos" panose="020B0004020202020204" pitchFamily="34" charset="0"/>
              </a:rPr>
              <a:t>Dynamic automation example</a:t>
            </a:r>
            <a:endParaRPr lang="en-US" dirty="0">
              <a:latin typeface="Aptos" panose="020B0004020202020204" pitchFamily="34" charset="0"/>
            </a:endParaRPr>
          </a:p>
        </p:txBody>
      </p:sp>
      <p:sp>
        <p:nvSpPr>
          <p:cNvPr id="6" name="TextBox 5">
            <a:extLst>
              <a:ext uri="{FF2B5EF4-FFF2-40B4-BE49-F238E27FC236}">
                <a16:creationId xmlns:a16="http://schemas.microsoft.com/office/drawing/2014/main" id="{8E764786-6279-20A0-CF5E-CCF219A21830}"/>
              </a:ext>
            </a:extLst>
          </p:cNvPr>
          <p:cNvSpPr txBox="1"/>
          <p:nvPr/>
        </p:nvSpPr>
        <p:spPr>
          <a:xfrm>
            <a:off x="930402" y="1819418"/>
            <a:ext cx="6533388" cy="160043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IN" sz="1400" b="1" dirty="0">
                <a:solidFill>
                  <a:srgbClr val="000000"/>
                </a:solidFill>
                <a:latin typeface="Consolas" panose="020B0609020204030204" pitchFamily="49" charset="0"/>
              </a:rPr>
              <a:t>vars:</a:t>
            </a:r>
          </a:p>
          <a:p>
            <a:r>
              <a:rPr lang="en-IN" sz="1400" b="1" dirty="0">
                <a:solidFill>
                  <a:srgbClr val="000000"/>
                </a:solidFill>
                <a:latin typeface="Consolas" panose="020B0609020204030204" pitchFamily="49" charset="0"/>
              </a:rPr>
              <a:t>  </a:t>
            </a:r>
            <a:r>
              <a:rPr lang="en-IN" sz="1400" b="1" dirty="0" err="1">
                <a:solidFill>
                  <a:srgbClr val="000000"/>
                </a:solidFill>
                <a:latin typeface="Consolas" panose="020B0609020204030204" pitchFamily="49" charset="0"/>
              </a:rPr>
              <a:t>motd</a:t>
            </a:r>
            <a:r>
              <a:rPr lang="en-IN" sz="1400" b="1" dirty="0">
                <a:solidFill>
                  <a:srgbClr val="000000"/>
                </a:solidFill>
                <a:latin typeface="Consolas" panose="020B0609020204030204" pitchFamily="49" charset="0"/>
              </a:rPr>
              <a:t>: "{{ lookup('file', 'files/motd.txt') }}</a:t>
            </a:r>
          </a:p>
          <a:p>
            <a:r>
              <a:rPr lang="en-US" sz="1400" b="1" dirty="0">
                <a:solidFill>
                  <a:srgbClr val="000000"/>
                </a:solidFill>
                <a:latin typeface="Consolas" panose="020B0609020204030204" pitchFamily="49" charset="0"/>
              </a:rPr>
              <a:t>- name: Show MOTD</a:t>
            </a:r>
          </a:p>
          <a:p>
            <a:r>
              <a:rPr lang="en-US" sz="1400" b="1" dirty="0">
                <a:solidFill>
                  <a:srgbClr val="000000"/>
                </a:solidFill>
                <a:latin typeface="Consolas" panose="020B0609020204030204" pitchFamily="49" charset="0"/>
              </a:rPr>
              <a:t>    debug:</a:t>
            </a:r>
          </a:p>
          <a:p>
            <a:r>
              <a:rPr lang="en-US" sz="1400" b="1" dirty="0">
                <a:solidFill>
                  <a:srgbClr val="000000"/>
                </a:solidFill>
                <a:latin typeface="Consolas" panose="020B0609020204030204" pitchFamily="49" charset="0"/>
              </a:rPr>
              <a:t>      msg: "{{ </a:t>
            </a:r>
            <a:r>
              <a:rPr lang="en-US" sz="1400" b="1" dirty="0" err="1">
                <a:solidFill>
                  <a:srgbClr val="000000"/>
                </a:solidFill>
                <a:latin typeface="Consolas" panose="020B0609020204030204" pitchFamily="49" charset="0"/>
              </a:rPr>
              <a:t>motd</a:t>
            </a:r>
            <a:r>
              <a:rPr lang="en-US" sz="1400" b="1" dirty="0">
                <a:solidFill>
                  <a:srgbClr val="000000"/>
                </a:solidFill>
                <a:latin typeface="Consolas" panose="020B0609020204030204" pitchFamily="49" charset="0"/>
              </a:rPr>
              <a:t> }}"</a:t>
            </a:r>
          </a:p>
          <a:p>
            <a:endParaRPr lang="en-IN" sz="1400" b="1" dirty="0">
              <a:solidFill>
                <a:srgbClr val="000000"/>
              </a:solidFill>
              <a:latin typeface="Consolas" panose="020B0609020204030204" pitchFamily="49" charset="0"/>
            </a:endParaRPr>
          </a:p>
          <a:p>
            <a:endParaRPr lang="en-IN" sz="1400" b="1" dirty="0">
              <a:solidFill>
                <a:srgbClr val="000000"/>
              </a:solidFill>
              <a:latin typeface="Consolas" panose="020B0609020204030204" pitchFamily="49" charset="0"/>
            </a:endParaRPr>
          </a:p>
        </p:txBody>
      </p:sp>
      <p:pic>
        <p:nvPicPr>
          <p:cNvPr id="7" name="Picture 6" descr="Designer (6).png">
            <a:extLst>
              <a:ext uri="{FF2B5EF4-FFF2-40B4-BE49-F238E27FC236}">
                <a16:creationId xmlns:a16="http://schemas.microsoft.com/office/drawing/2014/main" id="{95F6EDD3-471D-5BC9-16E1-C29D4A8AD825}"/>
              </a:ext>
            </a:extLst>
          </p:cNvPr>
          <p:cNvPicPr>
            <a:picLocks noChangeAspect="1"/>
          </p:cNvPicPr>
          <p:nvPr/>
        </p:nvPicPr>
        <p:blipFill>
          <a:blip r:embed="rId2"/>
          <a:stretch>
            <a:fillRect/>
          </a:stretch>
        </p:blipFill>
        <p:spPr>
          <a:xfrm>
            <a:off x="731520" y="3654165"/>
            <a:ext cx="7114032" cy="3023745"/>
          </a:xfrm>
          <a:prstGeom prst="rect">
            <a:avLst/>
          </a:prstGeom>
        </p:spPr>
      </p:pic>
      <p:pic>
        <p:nvPicPr>
          <p:cNvPr id="8" name="Picture 7" descr="A logo with a letter in a circle&#10;&#10;AI-generated content may be incorrect.">
            <a:extLst>
              <a:ext uri="{FF2B5EF4-FFF2-40B4-BE49-F238E27FC236}">
                <a16:creationId xmlns:a16="http://schemas.microsoft.com/office/drawing/2014/main" id="{4216ACCA-DD47-8E96-ACAB-171BB2FB845A}"/>
              </a:ext>
            </a:extLst>
          </p:cNvPr>
          <p:cNvPicPr>
            <a:picLocks noChangeAspect="1"/>
          </p:cNvPicPr>
          <p:nvPr/>
        </p:nvPicPr>
        <p:blipFill>
          <a:blip r:embed="rId3"/>
          <a:stretch>
            <a:fillRect/>
          </a:stretch>
        </p:blipFill>
        <p:spPr>
          <a:xfrm>
            <a:off x="8257032" y="15779"/>
            <a:ext cx="886968" cy="893688"/>
          </a:xfrm>
          <a:prstGeom prst="rect">
            <a:avLst/>
          </a:prstGeom>
        </p:spPr>
      </p:pic>
    </p:spTree>
    <p:extLst>
      <p:ext uri="{BB962C8B-B14F-4D97-AF65-F5344CB8AC3E}">
        <p14:creationId xmlns:p14="http://schemas.microsoft.com/office/powerpoint/2010/main" val="221686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A356-3311-FB62-196B-FC63A26D54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B258E-F5D1-DE16-5FFD-0ACCC6932937}"/>
              </a:ext>
            </a:extLst>
          </p:cNvPr>
          <p:cNvSpPr>
            <a:spLocks noGrp="1"/>
          </p:cNvSpPr>
          <p:nvPr>
            <p:ph type="title"/>
          </p:nvPr>
        </p:nvSpPr>
        <p:spPr>
          <a:xfrm>
            <a:off x="731520" y="180090"/>
            <a:ext cx="5385816" cy="557466"/>
          </a:xfrm>
        </p:spPr>
        <p:style>
          <a:lnRef idx="2">
            <a:schemeClr val="accent1"/>
          </a:lnRef>
          <a:fillRef idx="1">
            <a:schemeClr val="lt1"/>
          </a:fillRef>
          <a:effectRef idx="0">
            <a:schemeClr val="accent1"/>
          </a:effectRef>
          <a:fontRef idx="minor">
            <a:schemeClr val="dk1"/>
          </a:fontRef>
        </p:style>
        <p:txBody>
          <a:bodyPr>
            <a:normAutofit fontScale="90000"/>
          </a:bodyPr>
          <a:lstStyle/>
          <a:p>
            <a:r>
              <a:rPr lang="en-US" dirty="0">
                <a:latin typeface="Aptos" panose="020B0004020202020204" pitchFamily="34" charset="0"/>
              </a:rPr>
              <a:t>env – lookup 	</a:t>
            </a:r>
            <a:endParaRPr dirty="0">
              <a:latin typeface="Aptos" panose="020B0004020202020204" pitchFamily="34" charset="0"/>
            </a:endParaRPr>
          </a:p>
        </p:txBody>
      </p:sp>
      <p:sp>
        <p:nvSpPr>
          <p:cNvPr id="3" name="Content Placeholder 2">
            <a:extLst>
              <a:ext uri="{FF2B5EF4-FFF2-40B4-BE49-F238E27FC236}">
                <a16:creationId xmlns:a16="http://schemas.microsoft.com/office/drawing/2014/main" id="{7D3166E9-27C8-0447-945B-D7AC2C9A436D}"/>
              </a:ext>
            </a:extLst>
          </p:cNvPr>
          <p:cNvSpPr>
            <a:spLocks noGrp="1"/>
          </p:cNvSpPr>
          <p:nvPr>
            <p:ph idx="1"/>
          </p:nvPr>
        </p:nvSpPr>
        <p:spPr>
          <a:xfrm>
            <a:off x="731520" y="725235"/>
            <a:ext cx="7525512" cy="2886645"/>
          </a:xfrm>
        </p:spPr>
        <p:style>
          <a:lnRef idx="2">
            <a:schemeClr val="accent2"/>
          </a:lnRef>
          <a:fillRef idx="1">
            <a:schemeClr val="lt1"/>
          </a:fillRef>
          <a:effectRef idx="0">
            <a:schemeClr val="accent2"/>
          </a:effectRef>
          <a:fontRef idx="minor">
            <a:schemeClr val="dk1"/>
          </a:fontRef>
        </p:style>
        <p:txBody>
          <a:bodyPr>
            <a:normAutofit/>
          </a:bodyPr>
          <a:lstStyle/>
          <a:p>
            <a:pPr marL="457200" lvl="1" indent="0">
              <a:buNone/>
            </a:pPr>
            <a:endParaRPr lang="en-US" sz="1600" dirty="0">
              <a:latin typeface="Aptos" panose="020B0004020202020204" pitchFamily="34" charset="0"/>
            </a:endParaRPr>
          </a:p>
          <a:p>
            <a:pPr marL="457200" lvl="1" indent="0">
              <a:buNone/>
            </a:pPr>
            <a:r>
              <a:rPr lang="en-US" sz="1600" dirty="0">
                <a:latin typeface="Aptos" panose="020B0004020202020204" pitchFamily="34" charset="0"/>
              </a:rPr>
              <a:t>The env lookup plugin fetches environment variables from the Ansible controller.</a:t>
            </a:r>
          </a:p>
          <a:p>
            <a:pPr marL="457200" lvl="1" indent="0">
              <a:buNone/>
            </a:pPr>
            <a:r>
              <a:rPr lang="en-US" sz="1600" dirty="0">
                <a:latin typeface="Aptos" panose="020B0004020202020204" pitchFamily="34" charset="0"/>
              </a:rPr>
              <a:t>This is helpful when your controller has environment‑specific values</a:t>
            </a:r>
          </a:p>
          <a:p>
            <a:pPr marL="457200" lvl="1" indent="0">
              <a:buNone/>
            </a:pPr>
            <a:endParaRPr lang="en-US" sz="1600" b="1" dirty="0">
              <a:latin typeface="Aptos" panose="020B0004020202020204" pitchFamily="34" charset="0"/>
            </a:endParaRPr>
          </a:p>
          <a:p>
            <a:pPr marL="457200" lvl="1" indent="0">
              <a:buNone/>
            </a:pPr>
            <a:r>
              <a:rPr lang="en-US" sz="1600" b="1" dirty="0">
                <a:latin typeface="Aptos" panose="020B0004020202020204" pitchFamily="34" charset="0"/>
              </a:rPr>
              <a:t>Example:</a:t>
            </a:r>
          </a:p>
        </p:txBody>
      </p:sp>
      <p:sp>
        <p:nvSpPr>
          <p:cNvPr id="6" name="TextBox 5">
            <a:extLst>
              <a:ext uri="{FF2B5EF4-FFF2-40B4-BE49-F238E27FC236}">
                <a16:creationId xmlns:a16="http://schemas.microsoft.com/office/drawing/2014/main" id="{9A77D9D0-40C1-E6BD-FAD5-7A900DFD52EA}"/>
              </a:ext>
            </a:extLst>
          </p:cNvPr>
          <p:cNvSpPr txBox="1"/>
          <p:nvPr/>
        </p:nvSpPr>
        <p:spPr>
          <a:xfrm>
            <a:off x="813816" y="2616613"/>
            <a:ext cx="7379208" cy="77559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IN" sz="1480" b="1" dirty="0"/>
              <a:t>1. </a:t>
            </a:r>
            <a:r>
              <a:rPr lang="en-IN" sz="1480" b="1" dirty="0" err="1"/>
              <a:t>deploy_env</a:t>
            </a:r>
            <a:r>
              <a:rPr lang="en-IN" sz="1480" b="1" dirty="0"/>
              <a:t>: "{{ lookup('env', 'DEPLOY_ENV') or 'dev' }}“</a:t>
            </a:r>
          </a:p>
          <a:p>
            <a:r>
              <a:rPr lang="en-IN" sz="1480" b="1" dirty="0">
                <a:solidFill>
                  <a:srgbClr val="000000"/>
                </a:solidFill>
                <a:latin typeface="Consolas" panose="020B0609020204030204" pitchFamily="49" charset="0"/>
              </a:rPr>
              <a:t>2.</a:t>
            </a:r>
            <a:r>
              <a:rPr lang="en-IN" sz="1300" b="1" dirty="0">
                <a:solidFill>
                  <a:srgbClr val="000000"/>
                </a:solidFill>
                <a:latin typeface="Consolas" panose="020B0609020204030204" pitchFamily="49" charset="0"/>
              </a:rPr>
              <a:t>db_pass: "{{ lookup('env', 'DB_PASSWORD') | default('</a:t>
            </a:r>
            <a:r>
              <a:rPr lang="en-IN" sz="1300" b="1" dirty="0" err="1">
                <a:solidFill>
                  <a:srgbClr val="000000"/>
                </a:solidFill>
                <a:latin typeface="Consolas" panose="020B0609020204030204" pitchFamily="49" charset="0"/>
              </a:rPr>
              <a:t>changeme</a:t>
            </a:r>
            <a:r>
              <a:rPr lang="en-IN" sz="1300" b="1" dirty="0">
                <a:solidFill>
                  <a:srgbClr val="000000"/>
                </a:solidFill>
                <a:latin typeface="Consolas" panose="020B0609020204030204" pitchFamily="49" charset="0"/>
              </a:rPr>
              <a:t>', true) }}"</a:t>
            </a:r>
          </a:p>
          <a:p>
            <a:endParaRPr lang="en-IN" sz="1480" b="1" dirty="0">
              <a:solidFill>
                <a:srgbClr val="000000"/>
              </a:solidFill>
              <a:latin typeface="Consolas" panose="020B0609020204030204" pitchFamily="49" charset="0"/>
            </a:endParaRPr>
          </a:p>
        </p:txBody>
      </p:sp>
      <p:pic>
        <p:nvPicPr>
          <p:cNvPr id="5" name="Picture 4">
            <a:extLst>
              <a:ext uri="{FF2B5EF4-FFF2-40B4-BE49-F238E27FC236}">
                <a16:creationId xmlns:a16="http://schemas.microsoft.com/office/drawing/2014/main" id="{469DE5D2-7DBE-8B18-1DE5-1D064C767FDA}"/>
              </a:ext>
            </a:extLst>
          </p:cNvPr>
          <p:cNvPicPr>
            <a:picLocks noChangeAspect="1"/>
          </p:cNvPicPr>
          <p:nvPr/>
        </p:nvPicPr>
        <p:blipFill>
          <a:blip r:embed="rId2"/>
          <a:stretch>
            <a:fillRect/>
          </a:stretch>
        </p:blipFill>
        <p:spPr>
          <a:xfrm>
            <a:off x="731520" y="3691256"/>
            <a:ext cx="7525512" cy="2886645"/>
          </a:xfrm>
          <a:prstGeom prst="rect">
            <a:avLst/>
          </a:prstGeom>
        </p:spPr>
      </p:pic>
      <p:pic>
        <p:nvPicPr>
          <p:cNvPr id="8" name="Picture 7" descr="A logo with a letter in a circle&#10;&#10;AI-generated content may be incorrect.">
            <a:extLst>
              <a:ext uri="{FF2B5EF4-FFF2-40B4-BE49-F238E27FC236}">
                <a16:creationId xmlns:a16="http://schemas.microsoft.com/office/drawing/2014/main" id="{0B26A98A-6A90-AF1B-3880-30C4A76336ED}"/>
              </a:ext>
            </a:extLst>
          </p:cNvPr>
          <p:cNvPicPr>
            <a:picLocks noChangeAspect="1"/>
          </p:cNvPicPr>
          <p:nvPr/>
        </p:nvPicPr>
        <p:blipFill>
          <a:blip r:embed="rId3"/>
          <a:stretch>
            <a:fillRect/>
          </a:stretch>
        </p:blipFill>
        <p:spPr>
          <a:xfrm>
            <a:off x="8257032" y="15779"/>
            <a:ext cx="886968" cy="893688"/>
          </a:xfrm>
          <a:prstGeom prst="rect">
            <a:avLst/>
          </a:prstGeom>
        </p:spPr>
      </p:pic>
    </p:spTree>
    <p:extLst>
      <p:ext uri="{BB962C8B-B14F-4D97-AF65-F5344CB8AC3E}">
        <p14:creationId xmlns:p14="http://schemas.microsoft.com/office/powerpoint/2010/main" val="619454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9020E-4432-6A3F-9CE8-04FD91D69DF2}"/>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EA6DD1A-20B6-958F-9DC3-C8093AA2A18D}"/>
              </a:ext>
            </a:extLst>
          </p:cNvPr>
          <p:cNvSpPr>
            <a:spLocks noGrp="1"/>
          </p:cNvSpPr>
          <p:nvPr>
            <p:ph type="title"/>
          </p:nvPr>
        </p:nvSpPr>
        <p:spPr>
          <a:xfrm>
            <a:off x="731520" y="180090"/>
            <a:ext cx="5385816" cy="557466"/>
          </a:xfrm>
        </p:spPr>
        <p:style>
          <a:lnRef idx="2">
            <a:schemeClr val="accent1"/>
          </a:lnRef>
          <a:fillRef idx="1">
            <a:schemeClr val="lt1"/>
          </a:fillRef>
          <a:effectRef idx="0">
            <a:schemeClr val="accent1"/>
          </a:effectRef>
          <a:fontRef idx="minor">
            <a:schemeClr val="dk1"/>
          </a:fontRef>
        </p:style>
        <p:txBody>
          <a:bodyPr>
            <a:normAutofit fontScale="90000"/>
          </a:bodyPr>
          <a:lstStyle/>
          <a:p>
            <a:r>
              <a:rPr lang="en-US" dirty="0">
                <a:latin typeface="Aptos" panose="020B0004020202020204" pitchFamily="34" charset="0"/>
              </a:rPr>
              <a:t>pipe – lookup 	</a:t>
            </a:r>
            <a:endParaRPr dirty="0">
              <a:latin typeface="Aptos" panose="020B0004020202020204" pitchFamily="34" charset="0"/>
            </a:endParaRPr>
          </a:p>
        </p:txBody>
      </p:sp>
      <p:sp>
        <p:nvSpPr>
          <p:cNvPr id="7" name="Content Placeholder 2">
            <a:extLst>
              <a:ext uri="{FF2B5EF4-FFF2-40B4-BE49-F238E27FC236}">
                <a16:creationId xmlns:a16="http://schemas.microsoft.com/office/drawing/2014/main" id="{A44F4913-9292-45AC-F11F-80B9504A5385}"/>
              </a:ext>
            </a:extLst>
          </p:cNvPr>
          <p:cNvSpPr txBox="1">
            <a:spLocks/>
          </p:cNvSpPr>
          <p:nvPr/>
        </p:nvSpPr>
        <p:spPr>
          <a:xfrm>
            <a:off x="731520" y="746700"/>
            <a:ext cx="7114032" cy="2886645"/>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chor="t">
            <a:normAutofit fontScale="47500" lnSpcReduction="20000"/>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r>
              <a:rPr lang="en-US" dirty="0">
                <a:latin typeface="Aptos" panose="020B0004020202020204" pitchFamily="34" charset="0"/>
              </a:rPr>
              <a:t>Read output from a command</a:t>
            </a:r>
          </a:p>
          <a:p>
            <a:r>
              <a:rPr lang="en-US" dirty="0">
                <a:latin typeface="Aptos" panose="020B0004020202020204" pitchFamily="34" charset="0"/>
              </a:rPr>
              <a:t>Like all lookups this runs on the Ansible controller and is unaffected by other keywords, such as become, so if you need to different permissions, you must change the command or run Ansible as another user.</a:t>
            </a:r>
          </a:p>
          <a:p>
            <a:r>
              <a:rPr lang="en-US" dirty="0">
                <a:latin typeface="Aptos" panose="020B0004020202020204" pitchFamily="34" charset="0"/>
              </a:rPr>
              <a:t>Alternatively, you can use a shell/command task that runs against localhost and registers the result.</a:t>
            </a:r>
          </a:p>
          <a:p>
            <a:r>
              <a:rPr lang="en-US" dirty="0">
                <a:latin typeface="Aptos" panose="020B0004020202020204" pitchFamily="34" charset="0"/>
              </a:rPr>
              <a:t>The directory of the play is used as the current working directory.</a:t>
            </a:r>
          </a:p>
          <a:p>
            <a:pPr marL="0" indent="0">
              <a:buNone/>
            </a:pPr>
            <a:endParaRPr lang="en-US" dirty="0">
              <a:latin typeface="Aptos" panose="020B0004020202020204" pitchFamily="34" charset="0"/>
            </a:endParaRPr>
          </a:p>
          <a:p>
            <a:r>
              <a:rPr lang="en-US" b="1" dirty="0">
                <a:latin typeface="Aptos" panose="020B0004020202020204" pitchFamily="34" charset="0"/>
              </a:rPr>
              <a:t>Example:</a:t>
            </a:r>
          </a:p>
          <a:p>
            <a:pPr marL="0" indent="0">
              <a:buNone/>
            </a:pPr>
            <a:r>
              <a:rPr lang="en-IN" b="1" dirty="0">
                <a:latin typeface="Aptos" panose="020B0004020202020204" pitchFamily="34" charset="0"/>
              </a:rPr>
              <a:t>   ==============================================</a:t>
            </a:r>
          </a:p>
          <a:p>
            <a:pPr marL="0" indent="0">
              <a:buNone/>
            </a:pPr>
            <a:r>
              <a:rPr lang="en-US" b="1" dirty="0">
                <a:latin typeface="Aptos" panose="020B0004020202020204" pitchFamily="34" charset="0"/>
              </a:rPr>
              <a:t>      </a:t>
            </a:r>
            <a:r>
              <a:rPr lang="en-US" b="1" dirty="0" err="1">
                <a:latin typeface="Aptos" panose="020B0004020202020204" pitchFamily="34" charset="0"/>
              </a:rPr>
              <a:t>short_date</a:t>
            </a:r>
            <a:r>
              <a:rPr lang="en-US" b="1" dirty="0">
                <a:latin typeface="Aptos" panose="020B0004020202020204" pitchFamily="34" charset="0"/>
              </a:rPr>
              <a:t>: "{{ lookup('pipe', 'date +%F', errors='ignore') or '1970-01-01' }}"</a:t>
            </a:r>
          </a:p>
          <a:p>
            <a:endParaRPr lang="en-IN" b="1" dirty="0">
              <a:latin typeface="Aptos" panose="020B0004020202020204" pitchFamily="34" charset="0"/>
            </a:endParaRPr>
          </a:p>
          <a:p>
            <a:pPr marL="0" indent="0">
              <a:buNone/>
            </a:pPr>
            <a:r>
              <a:rPr lang="en-IN" b="1" dirty="0">
                <a:latin typeface="Aptos" panose="020B0004020202020204" pitchFamily="34" charset="0"/>
              </a:rPr>
              <a:t>==============================================</a:t>
            </a:r>
            <a:endParaRPr lang="en-US" b="1" dirty="0">
              <a:latin typeface="Aptos" panose="020B0004020202020204" pitchFamily="34" charset="0"/>
            </a:endParaRPr>
          </a:p>
          <a:p>
            <a:endParaRPr lang="en-IN" dirty="0">
              <a:latin typeface="Aptos" panose="020B0004020202020204" pitchFamily="34" charset="0"/>
            </a:endParaRPr>
          </a:p>
        </p:txBody>
      </p:sp>
      <p:pic>
        <p:nvPicPr>
          <p:cNvPr id="13" name="Picture 12" descr="Designer (7).png">
            <a:extLst>
              <a:ext uri="{FF2B5EF4-FFF2-40B4-BE49-F238E27FC236}">
                <a16:creationId xmlns:a16="http://schemas.microsoft.com/office/drawing/2014/main" id="{5D1364B9-70B6-7BB6-CC09-855F58E3CB76}"/>
              </a:ext>
            </a:extLst>
          </p:cNvPr>
          <p:cNvPicPr>
            <a:picLocks noChangeAspect="1"/>
          </p:cNvPicPr>
          <p:nvPr/>
        </p:nvPicPr>
        <p:blipFill>
          <a:blip r:embed="rId2"/>
          <a:stretch>
            <a:fillRect/>
          </a:stretch>
        </p:blipFill>
        <p:spPr>
          <a:xfrm>
            <a:off x="731520" y="3633345"/>
            <a:ext cx="7114032" cy="3044565"/>
          </a:xfrm>
          <a:prstGeom prst="rect">
            <a:avLst/>
          </a:prstGeom>
        </p:spPr>
      </p:pic>
      <p:pic>
        <p:nvPicPr>
          <p:cNvPr id="14" name="Picture 13" descr="A logo with a letter in a circle&#10;&#10;AI-generated content may be incorrect.">
            <a:extLst>
              <a:ext uri="{FF2B5EF4-FFF2-40B4-BE49-F238E27FC236}">
                <a16:creationId xmlns:a16="http://schemas.microsoft.com/office/drawing/2014/main" id="{A8E86FD7-F964-2605-458C-784EE4FC53D6}"/>
              </a:ext>
            </a:extLst>
          </p:cNvPr>
          <p:cNvPicPr>
            <a:picLocks noChangeAspect="1"/>
          </p:cNvPicPr>
          <p:nvPr/>
        </p:nvPicPr>
        <p:blipFill>
          <a:blip r:embed="rId3"/>
          <a:stretch>
            <a:fillRect/>
          </a:stretch>
        </p:blipFill>
        <p:spPr>
          <a:xfrm>
            <a:off x="8257032" y="15779"/>
            <a:ext cx="886968" cy="893688"/>
          </a:xfrm>
          <a:prstGeom prst="rect">
            <a:avLst/>
          </a:prstGeom>
        </p:spPr>
      </p:pic>
    </p:spTree>
    <p:extLst>
      <p:ext uri="{BB962C8B-B14F-4D97-AF65-F5344CB8AC3E}">
        <p14:creationId xmlns:p14="http://schemas.microsoft.com/office/powerpoint/2010/main" val="1022718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6153912" cy="557466"/>
          </a:xfrm>
        </p:spPr>
        <p:style>
          <a:lnRef idx="2">
            <a:schemeClr val="accent1"/>
          </a:lnRef>
          <a:fillRef idx="1">
            <a:schemeClr val="lt1"/>
          </a:fillRef>
          <a:effectRef idx="0">
            <a:schemeClr val="accent1"/>
          </a:effectRef>
          <a:fontRef idx="minor">
            <a:schemeClr val="dk1"/>
          </a:fontRef>
        </p:style>
        <p:txBody>
          <a:bodyPr>
            <a:normAutofit fontScale="90000"/>
          </a:bodyPr>
          <a:lstStyle/>
          <a:p>
            <a:r>
              <a:rPr dirty="0">
                <a:latin typeface="Aptos" panose="020B0004020202020204" pitchFamily="34" charset="0"/>
              </a:rPr>
              <a:t>Mini Demo</a:t>
            </a:r>
          </a:p>
        </p:txBody>
      </p:sp>
      <p:sp>
        <p:nvSpPr>
          <p:cNvPr id="3" name="Content Placeholder 2"/>
          <p:cNvSpPr>
            <a:spLocks noGrp="1"/>
          </p:cNvSpPr>
          <p:nvPr>
            <p:ph idx="1"/>
          </p:nvPr>
        </p:nvSpPr>
        <p:spPr>
          <a:xfrm>
            <a:off x="457200" y="868680"/>
            <a:ext cx="8229600" cy="4525963"/>
          </a:xfrm>
        </p:spPr>
        <p:style>
          <a:lnRef idx="2">
            <a:schemeClr val="accent2"/>
          </a:lnRef>
          <a:fillRef idx="1">
            <a:schemeClr val="lt1"/>
          </a:fillRef>
          <a:effectRef idx="0">
            <a:schemeClr val="accent2"/>
          </a:effectRef>
          <a:fontRef idx="minor">
            <a:schemeClr val="dk1"/>
          </a:fontRef>
        </p:style>
        <p:txBody>
          <a:bodyPr/>
          <a:lstStyle/>
          <a:p>
            <a:r>
              <a:rPr dirty="0">
                <a:latin typeface="Aptos" panose="020B0004020202020204" pitchFamily="34" charset="0"/>
              </a:rPr>
              <a:t>Combine file + env + pipe lookups</a:t>
            </a:r>
          </a:p>
          <a:p>
            <a:pPr lvl="1"/>
            <a:r>
              <a:rPr dirty="0">
                <a:latin typeface="Aptos" panose="020B0004020202020204" pitchFamily="34" charset="0"/>
              </a:rPr>
              <a:t>Dynamic automation example</a:t>
            </a:r>
            <a:endParaRPr lang="en-US" dirty="0">
              <a:latin typeface="Aptos" panose="020B0004020202020204" pitchFamily="34" charset="0"/>
            </a:endParaRPr>
          </a:p>
        </p:txBody>
      </p:sp>
      <p:sp>
        <p:nvSpPr>
          <p:cNvPr id="5" name="TextBox 4">
            <a:extLst>
              <a:ext uri="{FF2B5EF4-FFF2-40B4-BE49-F238E27FC236}">
                <a16:creationId xmlns:a16="http://schemas.microsoft.com/office/drawing/2014/main" id="{F2DAC5B9-90CE-8F9B-EE75-3EE4F6D3EE48}"/>
              </a:ext>
            </a:extLst>
          </p:cNvPr>
          <p:cNvSpPr txBox="1"/>
          <p:nvPr/>
        </p:nvSpPr>
        <p:spPr>
          <a:xfrm>
            <a:off x="644652" y="3025307"/>
            <a:ext cx="7854696" cy="147732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IN" b="1" dirty="0">
                <a:solidFill>
                  <a:srgbClr val="000000"/>
                </a:solidFill>
                <a:latin typeface="Consolas" panose="020B0609020204030204" pitchFamily="49" charset="0"/>
              </a:rPr>
              <a:t>vars:</a:t>
            </a:r>
          </a:p>
          <a:p>
            <a:r>
              <a:rPr lang="en-IN" b="1" dirty="0">
                <a:solidFill>
                  <a:srgbClr val="000000"/>
                </a:solidFill>
                <a:latin typeface="Consolas" panose="020B0609020204030204" pitchFamily="49" charset="0"/>
              </a:rPr>
              <a:t>  </a:t>
            </a:r>
            <a:r>
              <a:rPr lang="en-IN" b="1" dirty="0" err="1">
                <a:solidFill>
                  <a:srgbClr val="000000"/>
                </a:solidFill>
                <a:latin typeface="Consolas" panose="020B0609020204030204" pitchFamily="49" charset="0"/>
              </a:rPr>
              <a:t>motd</a:t>
            </a:r>
            <a:r>
              <a:rPr lang="en-IN" b="1" dirty="0">
                <a:solidFill>
                  <a:srgbClr val="000000"/>
                </a:solidFill>
                <a:latin typeface="Consolas" panose="020B0609020204030204" pitchFamily="49" charset="0"/>
              </a:rPr>
              <a:t>: "{{ lookup('file', 'files/motd.txt') }}"</a:t>
            </a:r>
          </a:p>
          <a:p>
            <a:r>
              <a:rPr lang="en-IN" b="1" dirty="0">
                <a:solidFill>
                  <a:srgbClr val="000000"/>
                </a:solidFill>
                <a:latin typeface="Consolas" panose="020B0609020204030204" pitchFamily="49" charset="0"/>
              </a:rPr>
              <a:t>  </a:t>
            </a:r>
            <a:r>
              <a:rPr lang="en-IN" b="1" dirty="0" err="1">
                <a:solidFill>
                  <a:srgbClr val="000000"/>
                </a:solidFill>
                <a:latin typeface="Consolas" panose="020B0609020204030204" pitchFamily="49" charset="0"/>
              </a:rPr>
              <a:t>deploy_env</a:t>
            </a:r>
            <a:r>
              <a:rPr lang="en-IN" b="1" dirty="0">
                <a:solidFill>
                  <a:srgbClr val="000000"/>
                </a:solidFill>
                <a:latin typeface="Consolas" panose="020B0609020204030204" pitchFamily="49" charset="0"/>
              </a:rPr>
              <a:t>: "{{ lookup('env', 'DEPLOY_ENV') or 'dev' }}"</a:t>
            </a:r>
          </a:p>
          <a:p>
            <a:r>
              <a:rPr lang="en-US" b="1" dirty="0">
                <a:solidFill>
                  <a:srgbClr val="000000"/>
                </a:solidFill>
                <a:latin typeface="Consolas" panose="020B0609020204030204" pitchFamily="49" charset="0"/>
              </a:rPr>
              <a:t>  today: "{{ lookup('pipe', 'date +%F') }}“</a:t>
            </a:r>
          </a:p>
          <a:p>
            <a:endParaRPr lang="en-US" dirty="0">
              <a:solidFill>
                <a:srgbClr val="000000"/>
              </a:solidFill>
              <a:latin typeface="Consolas" panose="020B0609020204030204" pitchFamily="49" charset="0"/>
            </a:endParaRPr>
          </a:p>
        </p:txBody>
      </p:sp>
      <p:pic>
        <p:nvPicPr>
          <p:cNvPr id="6" name="Picture 5" descr="A logo with a letter in a circle&#10;&#10;AI-generated content may be incorrect.">
            <a:extLst>
              <a:ext uri="{FF2B5EF4-FFF2-40B4-BE49-F238E27FC236}">
                <a16:creationId xmlns:a16="http://schemas.microsoft.com/office/drawing/2014/main" id="{4F511C75-A6B6-DDB2-23F7-87F9CB2EECB9}"/>
              </a:ext>
            </a:extLst>
          </p:cNvPr>
          <p:cNvPicPr>
            <a:picLocks noChangeAspect="1"/>
          </p:cNvPicPr>
          <p:nvPr/>
        </p:nvPicPr>
        <p:blipFill>
          <a:blip r:embed="rId2"/>
          <a:stretch>
            <a:fillRect/>
          </a:stretch>
        </p:blipFill>
        <p:spPr>
          <a:xfrm>
            <a:off x="8257032" y="15779"/>
            <a:ext cx="886968" cy="8936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esigner (8).png"/>
          <p:cNvPicPr>
            <a:picLocks noChangeAspect="1"/>
          </p:cNvPicPr>
          <p:nvPr/>
        </p:nvPicPr>
        <p:blipFill>
          <a:blip r:embed="rId2"/>
          <a:stretch>
            <a:fillRect/>
          </a:stretch>
        </p:blipFill>
        <p:spPr>
          <a:xfrm>
            <a:off x="443484" y="3672582"/>
            <a:ext cx="8257032" cy="3005328"/>
          </a:xfrm>
          <a:prstGeom prst="rect">
            <a:avLst/>
          </a:prstGeom>
        </p:spPr>
      </p:pic>
      <p:sp>
        <p:nvSpPr>
          <p:cNvPr id="4" name="Title 1">
            <a:extLst>
              <a:ext uri="{FF2B5EF4-FFF2-40B4-BE49-F238E27FC236}">
                <a16:creationId xmlns:a16="http://schemas.microsoft.com/office/drawing/2014/main" id="{AC29DDD5-B875-9750-7F7C-DE35A43FD413}"/>
              </a:ext>
            </a:extLst>
          </p:cNvPr>
          <p:cNvSpPr>
            <a:spLocks noGrp="1"/>
          </p:cNvSpPr>
          <p:nvPr>
            <p:ph type="title"/>
          </p:nvPr>
        </p:nvSpPr>
        <p:spPr>
          <a:xfrm>
            <a:off x="498348" y="149997"/>
            <a:ext cx="5385816" cy="557466"/>
          </a:xfrm>
        </p:spPr>
        <p:style>
          <a:lnRef idx="2">
            <a:schemeClr val="accent1"/>
          </a:lnRef>
          <a:fillRef idx="1">
            <a:schemeClr val="lt1"/>
          </a:fillRef>
          <a:effectRef idx="0">
            <a:schemeClr val="accent1"/>
          </a:effectRef>
          <a:fontRef idx="minor">
            <a:schemeClr val="dk1"/>
          </a:fontRef>
        </p:style>
        <p:txBody>
          <a:bodyPr>
            <a:normAutofit fontScale="90000"/>
          </a:bodyPr>
          <a:lstStyle/>
          <a:p>
            <a:r>
              <a:rPr lang="en-US" dirty="0">
                <a:latin typeface="Aptos" panose="020B0004020202020204" pitchFamily="34" charset="0"/>
              </a:rPr>
              <a:t>template – lookup 	</a:t>
            </a:r>
            <a:endParaRPr dirty="0">
              <a:latin typeface="Aptos" panose="020B0004020202020204" pitchFamily="34" charset="0"/>
            </a:endParaRPr>
          </a:p>
        </p:txBody>
      </p:sp>
      <p:sp>
        <p:nvSpPr>
          <p:cNvPr id="5" name="Content Placeholder 2">
            <a:extLst>
              <a:ext uri="{FF2B5EF4-FFF2-40B4-BE49-F238E27FC236}">
                <a16:creationId xmlns:a16="http://schemas.microsoft.com/office/drawing/2014/main" id="{017BDABD-3960-7698-1397-13BE6F27C37C}"/>
              </a:ext>
            </a:extLst>
          </p:cNvPr>
          <p:cNvSpPr txBox="1">
            <a:spLocks/>
          </p:cNvSpPr>
          <p:nvPr/>
        </p:nvSpPr>
        <p:spPr>
          <a:xfrm>
            <a:off x="443484" y="746700"/>
            <a:ext cx="7402068" cy="2886645"/>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chor="t">
            <a:normAutofit lnSpcReduction="10000"/>
          </a:bodyPr>
          <a:lstStyle>
            <a:lvl1pPr marL="342900" indent="-342900" algn="l" defTabSz="457200" rtl="0" eaLnBrk="1" latinLnBrk="0" hangingPunct="1">
              <a:spcBef>
                <a:spcPct val="20000"/>
              </a:spcBef>
              <a:buFont typeface="Arial"/>
              <a:buChar char="•"/>
              <a:defRPr sz="32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dk1"/>
                </a:solidFill>
                <a:latin typeface="+mn-lt"/>
                <a:ea typeface="+mn-ea"/>
                <a:cs typeface="+mn-cs"/>
              </a:defRPr>
            </a:lvl9pPr>
          </a:lstStyle>
          <a:p>
            <a:pPr marL="0" indent="0">
              <a:buNone/>
            </a:pPr>
            <a:r>
              <a:rPr lang="en-US" sz="1600" dirty="0">
                <a:latin typeface="Aptos" panose="020B0004020202020204" pitchFamily="34" charset="0"/>
              </a:rPr>
              <a:t>The template lookup renders a Jinja2 template into a string — without writing a file.</a:t>
            </a:r>
          </a:p>
          <a:p>
            <a:pPr marL="0" indent="0">
              <a:buNone/>
            </a:pPr>
            <a:r>
              <a:rPr lang="en-US" sz="1600" dirty="0">
                <a:latin typeface="Aptos" panose="020B0004020202020204" pitchFamily="34" charset="0"/>
              </a:rPr>
              <a:t>This is extremely useful for generating small dynamic configuration blocks</a:t>
            </a:r>
          </a:p>
          <a:p>
            <a:pPr marL="0" indent="0">
              <a:buNone/>
            </a:pPr>
            <a:r>
              <a:rPr lang="en-US" sz="1600" b="1" dirty="0">
                <a:latin typeface="Aptos" panose="020B0004020202020204" pitchFamily="34" charset="0"/>
              </a:rPr>
              <a:t>File.j2:</a:t>
            </a:r>
          </a:p>
          <a:p>
            <a:pPr marL="0" indent="0">
              <a:buNone/>
            </a:pPr>
            <a:r>
              <a:rPr lang="en-IN" sz="1600" b="1" dirty="0">
                <a:latin typeface="Aptos" panose="020B0004020202020204" pitchFamily="34" charset="0"/>
              </a:rPr>
              <a:t>{% for k, v in </a:t>
            </a:r>
            <a:r>
              <a:rPr lang="en-IN" sz="1600" b="1" dirty="0" err="1">
                <a:latin typeface="Aptos" panose="020B0004020202020204" pitchFamily="34" charset="0"/>
              </a:rPr>
              <a:t>settings.items</a:t>
            </a:r>
            <a:r>
              <a:rPr lang="en-IN" sz="1600" b="1" dirty="0">
                <a:latin typeface="Aptos" panose="020B0004020202020204" pitchFamily="34" charset="0"/>
              </a:rPr>
              <a:t>() %}</a:t>
            </a:r>
          </a:p>
          <a:p>
            <a:pPr marL="0" indent="0">
              <a:buNone/>
            </a:pPr>
            <a:r>
              <a:rPr lang="en-IN" sz="1600" b="1" dirty="0">
                <a:latin typeface="Aptos" panose="020B0004020202020204" pitchFamily="34" charset="0"/>
              </a:rPr>
              <a:t>{{ k }}={{ v }}</a:t>
            </a:r>
          </a:p>
          <a:p>
            <a:pPr marL="0" indent="0">
              <a:buNone/>
            </a:pPr>
            <a:r>
              <a:rPr lang="en-IN" sz="1600" b="1" dirty="0">
                <a:latin typeface="Aptos" panose="020B0004020202020204" pitchFamily="34" charset="0"/>
              </a:rPr>
              <a:t>{% </a:t>
            </a:r>
            <a:r>
              <a:rPr lang="en-IN" sz="1600" b="1" dirty="0" err="1">
                <a:latin typeface="Aptos" panose="020B0004020202020204" pitchFamily="34" charset="0"/>
              </a:rPr>
              <a:t>endfor</a:t>
            </a:r>
            <a:r>
              <a:rPr lang="en-IN" sz="1600" b="1" dirty="0">
                <a:latin typeface="Aptos" panose="020B0004020202020204" pitchFamily="34" charset="0"/>
              </a:rPr>
              <a:t> %}</a:t>
            </a:r>
          </a:p>
          <a:p>
            <a:pPr marL="0" indent="0">
              <a:buNone/>
            </a:pPr>
            <a:r>
              <a:rPr lang="en-IN" sz="1600" b="1" dirty="0">
                <a:latin typeface="Aptos" panose="020B0004020202020204" pitchFamily="34" charset="0"/>
              </a:rPr>
              <a:t>===============</a:t>
            </a:r>
          </a:p>
          <a:p>
            <a:pPr marL="0" indent="0">
              <a:buNone/>
            </a:pPr>
            <a:r>
              <a:rPr lang="en-IN" sz="1600" b="1" dirty="0">
                <a:latin typeface="Aptos" panose="020B0004020202020204" pitchFamily="34" charset="0"/>
              </a:rPr>
              <a:t>ansible.builtin.debug:</a:t>
            </a:r>
          </a:p>
          <a:p>
            <a:pPr marL="0" indent="0">
              <a:buNone/>
            </a:pPr>
            <a:r>
              <a:rPr lang="en-IN" sz="1600" dirty="0">
                <a:latin typeface="Aptos" panose="020B0004020202020204" pitchFamily="34" charset="0"/>
              </a:rPr>
              <a:t>     msg: "{{ lookup('template', 'templates/snippet.j2') }}</a:t>
            </a:r>
          </a:p>
          <a:p>
            <a:pPr marL="0" indent="0">
              <a:buNone/>
            </a:pPr>
            <a:r>
              <a:rPr lang="en-IN" sz="1600" b="1" dirty="0">
                <a:latin typeface="Aptos" panose="020B0004020202020204" pitchFamily="34" charset="0"/>
              </a:rPr>
              <a:t>===============</a:t>
            </a:r>
          </a:p>
          <a:p>
            <a:pPr marL="0" indent="0">
              <a:buNone/>
            </a:pPr>
            <a:endParaRPr lang="en-IN" sz="2000" dirty="0">
              <a:latin typeface="Aptos" panose="020B0004020202020204" pitchFamily="34" charset="0"/>
            </a:endParaRPr>
          </a:p>
        </p:txBody>
      </p:sp>
      <p:pic>
        <p:nvPicPr>
          <p:cNvPr id="6" name="Picture 5" descr="A logo with a letter in a circle&#10;&#10;AI-generated content may be incorrect.">
            <a:extLst>
              <a:ext uri="{FF2B5EF4-FFF2-40B4-BE49-F238E27FC236}">
                <a16:creationId xmlns:a16="http://schemas.microsoft.com/office/drawing/2014/main" id="{44805724-C9C1-9C14-A429-A17954939D0B}"/>
              </a:ext>
            </a:extLst>
          </p:cNvPr>
          <p:cNvPicPr>
            <a:picLocks noChangeAspect="1"/>
          </p:cNvPicPr>
          <p:nvPr/>
        </p:nvPicPr>
        <p:blipFill>
          <a:blip r:embed="rId3"/>
          <a:stretch>
            <a:fillRect/>
          </a:stretch>
        </p:blipFill>
        <p:spPr>
          <a:xfrm>
            <a:off x="8257032" y="15779"/>
            <a:ext cx="886968" cy="8936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BC881-40AC-D3FE-754D-E0EA55785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899308-74BC-CEFD-089A-E8C5A2FC6A68}"/>
              </a:ext>
            </a:extLst>
          </p:cNvPr>
          <p:cNvSpPr>
            <a:spLocks noGrp="1"/>
          </p:cNvSpPr>
          <p:nvPr>
            <p:ph type="title"/>
          </p:nvPr>
        </p:nvSpPr>
        <p:spPr>
          <a:xfrm>
            <a:off x="283464" y="377328"/>
            <a:ext cx="7799832" cy="612330"/>
          </a:xfrm>
        </p:spPr>
        <p:style>
          <a:lnRef idx="2">
            <a:schemeClr val="accent1"/>
          </a:lnRef>
          <a:fillRef idx="1">
            <a:schemeClr val="lt1"/>
          </a:fillRef>
          <a:effectRef idx="0">
            <a:schemeClr val="accent1"/>
          </a:effectRef>
          <a:fontRef idx="minor">
            <a:schemeClr val="dk1"/>
          </a:fontRef>
        </p:style>
        <p:txBody>
          <a:bodyPr>
            <a:normAutofit fontScale="90000"/>
          </a:bodyPr>
          <a:lstStyle/>
          <a:p>
            <a:r>
              <a:rPr dirty="0">
                <a:latin typeface="Aptos" panose="020B0004020202020204" pitchFamily="34" charset="0"/>
              </a:rPr>
              <a:t>lookup vs </a:t>
            </a:r>
            <a:r>
              <a:rPr lang="en-US" dirty="0" err="1">
                <a:latin typeface="Aptos" panose="020B0004020202020204" pitchFamily="34" charset="0"/>
              </a:rPr>
              <a:t>vars_file</a:t>
            </a:r>
            <a:r>
              <a:rPr lang="en-US" dirty="0">
                <a:latin typeface="Aptos" panose="020B0004020202020204" pitchFamily="34" charset="0"/>
              </a:rPr>
              <a:t> vs templates</a:t>
            </a:r>
            <a:endParaRPr dirty="0">
              <a:latin typeface="Aptos" panose="020B0004020202020204" pitchFamily="34" charset="0"/>
            </a:endParaRPr>
          </a:p>
        </p:txBody>
      </p:sp>
      <p:pic>
        <p:nvPicPr>
          <p:cNvPr id="5" name="Picture 4" descr="A logo with a letter in a circle&#10;&#10;AI-generated content may be incorrect.">
            <a:extLst>
              <a:ext uri="{FF2B5EF4-FFF2-40B4-BE49-F238E27FC236}">
                <a16:creationId xmlns:a16="http://schemas.microsoft.com/office/drawing/2014/main" id="{5B797F84-180D-C22E-1C80-781699A6F7FD}"/>
              </a:ext>
            </a:extLst>
          </p:cNvPr>
          <p:cNvPicPr>
            <a:picLocks noChangeAspect="1"/>
          </p:cNvPicPr>
          <p:nvPr/>
        </p:nvPicPr>
        <p:blipFill>
          <a:blip r:embed="rId2"/>
          <a:stretch>
            <a:fillRect/>
          </a:stretch>
        </p:blipFill>
        <p:spPr>
          <a:xfrm>
            <a:off x="8257032" y="15779"/>
            <a:ext cx="886968" cy="893688"/>
          </a:xfrm>
          <a:prstGeom prst="rect">
            <a:avLst/>
          </a:prstGeom>
        </p:spPr>
      </p:pic>
      <p:graphicFrame>
        <p:nvGraphicFramePr>
          <p:cNvPr id="8" name="Table 7">
            <a:extLst>
              <a:ext uri="{FF2B5EF4-FFF2-40B4-BE49-F238E27FC236}">
                <a16:creationId xmlns:a16="http://schemas.microsoft.com/office/drawing/2014/main" id="{FFAA2788-E596-EEE6-764D-EE155A308B96}"/>
              </a:ext>
            </a:extLst>
          </p:cNvPr>
          <p:cNvGraphicFramePr>
            <a:graphicFrameLocks noGrp="1"/>
          </p:cNvGraphicFramePr>
          <p:nvPr>
            <p:extLst>
              <p:ext uri="{D42A27DB-BD31-4B8C-83A1-F6EECF244321}">
                <p14:modId xmlns:p14="http://schemas.microsoft.com/office/powerpoint/2010/main" val="2869608416"/>
              </p:ext>
            </p:extLst>
          </p:nvPr>
        </p:nvGraphicFramePr>
        <p:xfrm>
          <a:off x="719328" y="1470152"/>
          <a:ext cx="7153656" cy="2635505"/>
        </p:xfrm>
        <a:graphic>
          <a:graphicData uri="http://schemas.openxmlformats.org/drawingml/2006/table">
            <a:tbl>
              <a:tblPr firstRow="1" bandRow="1">
                <a:tableStyleId>{073A0DAA-6AF3-43AB-8588-CEC1D06C72B9}</a:tableStyleId>
              </a:tblPr>
              <a:tblGrid>
                <a:gridCol w="3576828">
                  <a:extLst>
                    <a:ext uri="{9D8B030D-6E8A-4147-A177-3AD203B41FA5}">
                      <a16:colId xmlns:a16="http://schemas.microsoft.com/office/drawing/2014/main" val="1580588462"/>
                    </a:ext>
                  </a:extLst>
                </a:gridCol>
                <a:gridCol w="3576828">
                  <a:extLst>
                    <a:ext uri="{9D8B030D-6E8A-4147-A177-3AD203B41FA5}">
                      <a16:colId xmlns:a16="http://schemas.microsoft.com/office/drawing/2014/main" val="2325975288"/>
                    </a:ext>
                  </a:extLst>
                </a:gridCol>
              </a:tblGrid>
              <a:tr h="527101">
                <a:tc>
                  <a:txBody>
                    <a:bodyPr/>
                    <a:lstStyle/>
                    <a:p>
                      <a:r>
                        <a:rPr lang="en-US" dirty="0">
                          <a:latin typeface="Aptos" panose="020B0004020202020204" pitchFamily="34" charset="0"/>
                        </a:rPr>
                        <a:t>Lookup</a:t>
                      </a:r>
                      <a:endParaRPr lang="en-IN" dirty="0">
                        <a:latin typeface="Aptos" panose="020B0004020202020204" pitchFamily="34" charset="0"/>
                      </a:endParaRPr>
                    </a:p>
                  </a:txBody>
                  <a:tcPr/>
                </a:tc>
                <a:tc>
                  <a:txBody>
                    <a:bodyPr/>
                    <a:lstStyle/>
                    <a:p>
                      <a:r>
                        <a:rPr lang="en-US" dirty="0">
                          <a:latin typeface="Aptos" panose="020B0004020202020204" pitchFamily="34" charset="0"/>
                        </a:rPr>
                        <a:t>Purpose</a:t>
                      </a:r>
                      <a:endParaRPr lang="en-IN" dirty="0">
                        <a:latin typeface="Aptos" panose="020B0004020202020204" pitchFamily="34" charset="0"/>
                      </a:endParaRPr>
                    </a:p>
                  </a:txBody>
                  <a:tcPr/>
                </a:tc>
                <a:extLst>
                  <a:ext uri="{0D108BD9-81ED-4DB2-BD59-A6C34878D82A}">
                    <a16:rowId xmlns:a16="http://schemas.microsoft.com/office/drawing/2014/main" val="884607693"/>
                  </a:ext>
                </a:extLst>
              </a:tr>
              <a:tr h="527101">
                <a:tc>
                  <a:txBody>
                    <a:bodyPr/>
                    <a:lstStyle/>
                    <a:p>
                      <a:r>
                        <a:rPr lang="en-US" dirty="0">
                          <a:latin typeface="Aptos" panose="020B0004020202020204" pitchFamily="34" charset="0"/>
                        </a:rPr>
                        <a:t>lookup( file)</a:t>
                      </a:r>
                      <a:endParaRPr lang="en-IN" dirty="0">
                        <a:latin typeface="Aptos" panose="020B0004020202020204" pitchFamily="34" charset="0"/>
                      </a:endParaRPr>
                    </a:p>
                  </a:txBody>
                  <a:tcPr/>
                </a:tc>
                <a:tc>
                  <a:txBody>
                    <a:bodyPr/>
                    <a:lstStyle/>
                    <a:p>
                      <a:r>
                        <a:rPr lang="en-US" dirty="0">
                          <a:latin typeface="Aptos" panose="020B0004020202020204" pitchFamily="34" charset="0"/>
                        </a:rPr>
                        <a:t>RAW text</a:t>
                      </a:r>
                      <a:endParaRPr lang="en-IN" dirty="0">
                        <a:latin typeface="Aptos" panose="020B0004020202020204" pitchFamily="34" charset="0"/>
                      </a:endParaRPr>
                    </a:p>
                  </a:txBody>
                  <a:tcPr/>
                </a:tc>
                <a:extLst>
                  <a:ext uri="{0D108BD9-81ED-4DB2-BD59-A6C34878D82A}">
                    <a16:rowId xmlns:a16="http://schemas.microsoft.com/office/drawing/2014/main" val="342363850"/>
                  </a:ext>
                </a:extLst>
              </a:tr>
              <a:tr h="527101">
                <a:tc>
                  <a:txBody>
                    <a:bodyPr/>
                    <a:lstStyle/>
                    <a:p>
                      <a:r>
                        <a:rPr lang="en-US" dirty="0" err="1">
                          <a:latin typeface="Aptos" panose="020B0004020202020204" pitchFamily="34" charset="0"/>
                        </a:rPr>
                        <a:t>vars_files</a:t>
                      </a:r>
                      <a:endParaRPr lang="en-IN" dirty="0">
                        <a:latin typeface="Aptos" panose="020B0004020202020204" pitchFamily="34" charset="0"/>
                      </a:endParaRPr>
                    </a:p>
                  </a:txBody>
                  <a:tcPr/>
                </a:tc>
                <a:tc>
                  <a:txBody>
                    <a:bodyPr/>
                    <a:lstStyle/>
                    <a:p>
                      <a:r>
                        <a:rPr lang="en-US" dirty="0">
                          <a:latin typeface="Aptos" panose="020B0004020202020204" pitchFamily="34" charset="0"/>
                        </a:rPr>
                        <a:t>YAML variable</a:t>
                      </a:r>
                      <a:endParaRPr lang="en-IN" dirty="0">
                        <a:latin typeface="Aptos" panose="020B0004020202020204" pitchFamily="34" charset="0"/>
                      </a:endParaRPr>
                    </a:p>
                  </a:txBody>
                  <a:tcPr/>
                </a:tc>
                <a:extLst>
                  <a:ext uri="{0D108BD9-81ED-4DB2-BD59-A6C34878D82A}">
                    <a16:rowId xmlns:a16="http://schemas.microsoft.com/office/drawing/2014/main" val="3263159157"/>
                  </a:ext>
                </a:extLst>
              </a:tr>
              <a:tr h="527101">
                <a:tc>
                  <a:txBody>
                    <a:bodyPr/>
                    <a:lstStyle/>
                    <a:p>
                      <a:r>
                        <a:rPr lang="en-US" dirty="0">
                          <a:latin typeface="Aptos" panose="020B0004020202020204" pitchFamily="34" charset="0"/>
                        </a:rPr>
                        <a:t>template module</a:t>
                      </a:r>
                      <a:endParaRPr lang="en-IN" dirty="0">
                        <a:latin typeface="Aptos" panose="020B0004020202020204" pitchFamily="34" charset="0"/>
                      </a:endParaRPr>
                    </a:p>
                  </a:txBody>
                  <a:tcPr/>
                </a:tc>
                <a:tc>
                  <a:txBody>
                    <a:bodyPr/>
                    <a:lstStyle/>
                    <a:p>
                      <a:r>
                        <a:rPr lang="en-US" dirty="0">
                          <a:latin typeface="Aptos" panose="020B0004020202020204" pitchFamily="34" charset="0"/>
                        </a:rPr>
                        <a:t>Writes renders files remotely</a:t>
                      </a:r>
                      <a:endParaRPr lang="en-IN" dirty="0">
                        <a:latin typeface="Aptos" panose="020B0004020202020204" pitchFamily="34" charset="0"/>
                      </a:endParaRPr>
                    </a:p>
                  </a:txBody>
                  <a:tcPr/>
                </a:tc>
                <a:extLst>
                  <a:ext uri="{0D108BD9-81ED-4DB2-BD59-A6C34878D82A}">
                    <a16:rowId xmlns:a16="http://schemas.microsoft.com/office/drawing/2014/main" val="3637262641"/>
                  </a:ext>
                </a:extLst>
              </a:tr>
              <a:tr h="527101">
                <a:tc>
                  <a:txBody>
                    <a:bodyPr/>
                    <a:lstStyle/>
                    <a:p>
                      <a:r>
                        <a:rPr lang="en-US" dirty="0">
                          <a:latin typeface="Aptos" panose="020B0004020202020204" pitchFamily="34" charset="0"/>
                        </a:rPr>
                        <a:t>Template lookup</a:t>
                      </a:r>
                      <a:endParaRPr lang="en-IN" dirty="0">
                        <a:latin typeface="Aptos" panose="020B0004020202020204" pitchFamily="34" charset="0"/>
                      </a:endParaRPr>
                    </a:p>
                  </a:txBody>
                  <a:tcPr/>
                </a:tc>
                <a:tc>
                  <a:txBody>
                    <a:bodyPr/>
                    <a:lstStyle/>
                    <a:p>
                      <a:r>
                        <a:rPr lang="en-US" dirty="0">
                          <a:latin typeface="Aptos" panose="020B0004020202020204" pitchFamily="34" charset="0"/>
                        </a:rPr>
                        <a:t>Renders string only</a:t>
                      </a:r>
                      <a:endParaRPr lang="en-IN" dirty="0">
                        <a:latin typeface="Aptos" panose="020B0004020202020204" pitchFamily="34" charset="0"/>
                      </a:endParaRPr>
                    </a:p>
                  </a:txBody>
                  <a:tcPr/>
                </a:tc>
                <a:extLst>
                  <a:ext uri="{0D108BD9-81ED-4DB2-BD59-A6C34878D82A}">
                    <a16:rowId xmlns:a16="http://schemas.microsoft.com/office/drawing/2014/main" val="3076271229"/>
                  </a:ext>
                </a:extLst>
              </a:tr>
            </a:tbl>
          </a:graphicData>
        </a:graphic>
      </p:graphicFrame>
    </p:spTree>
    <p:extLst>
      <p:ext uri="{BB962C8B-B14F-4D97-AF65-F5344CB8AC3E}">
        <p14:creationId xmlns:p14="http://schemas.microsoft.com/office/powerpoint/2010/main" val="2389578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64685-AD6B-24EE-16AC-6F35326C4F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13A4B-A689-197E-F7F3-AC56F851F195}"/>
              </a:ext>
            </a:extLst>
          </p:cNvPr>
          <p:cNvSpPr>
            <a:spLocks noGrp="1"/>
          </p:cNvSpPr>
          <p:nvPr>
            <p:ph type="title"/>
          </p:nvPr>
        </p:nvSpPr>
        <p:spPr>
          <a:xfrm>
            <a:off x="417399" y="643467"/>
            <a:ext cx="8408193" cy="744836"/>
          </a:xfrm>
        </p:spPr>
        <p:txBody>
          <a:bodyPr>
            <a:normAutofit/>
          </a:bodyPr>
          <a:lstStyle/>
          <a:p>
            <a:r>
              <a:rPr lang="en-US" sz="2800" dirty="0">
                <a:solidFill>
                  <a:schemeClr val="bg1"/>
                </a:solidFill>
              </a:rPr>
              <a:t>Where lookup runs vs where task runs</a:t>
            </a:r>
            <a:endParaRPr lang="en-IN" sz="2800" dirty="0">
              <a:solidFill>
                <a:schemeClr val="bg1"/>
              </a:solidFill>
            </a:endParaRPr>
          </a:p>
        </p:txBody>
      </p:sp>
      <p:pic>
        <p:nvPicPr>
          <p:cNvPr id="3" name="Picture 2" descr="A logo with a letter in a circle&#10;&#10;AI-generated content may be incorrect.">
            <a:extLst>
              <a:ext uri="{FF2B5EF4-FFF2-40B4-BE49-F238E27FC236}">
                <a16:creationId xmlns:a16="http://schemas.microsoft.com/office/drawing/2014/main" id="{A0ECB96F-6100-DB68-40C2-BF95B275DF2E}"/>
              </a:ext>
            </a:extLst>
          </p:cNvPr>
          <p:cNvPicPr>
            <a:picLocks noChangeAspect="1"/>
          </p:cNvPicPr>
          <p:nvPr/>
        </p:nvPicPr>
        <p:blipFill>
          <a:blip r:embed="rId2"/>
          <a:stretch>
            <a:fillRect/>
          </a:stretch>
        </p:blipFill>
        <p:spPr>
          <a:xfrm>
            <a:off x="8257032" y="15779"/>
            <a:ext cx="886968" cy="627688"/>
          </a:xfrm>
          <a:prstGeom prst="rect">
            <a:avLst/>
          </a:prstGeom>
        </p:spPr>
      </p:pic>
      <p:sp>
        <p:nvSpPr>
          <p:cNvPr id="5" name="TextBox 4">
            <a:extLst>
              <a:ext uri="{FF2B5EF4-FFF2-40B4-BE49-F238E27FC236}">
                <a16:creationId xmlns:a16="http://schemas.microsoft.com/office/drawing/2014/main" id="{B28FC958-40E7-B1CF-66A9-5F17BC8C5E25}"/>
              </a:ext>
            </a:extLst>
          </p:cNvPr>
          <p:cNvSpPr txBox="1"/>
          <p:nvPr/>
        </p:nvSpPr>
        <p:spPr>
          <a:xfrm>
            <a:off x="832104" y="557784"/>
            <a:ext cx="7106520"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spcBef>
                <a:spcPct val="0"/>
              </a:spcBef>
            </a:pPr>
            <a:r>
              <a:rPr lang="en-US" sz="2800" dirty="0">
                <a:solidFill>
                  <a:schemeClr val="dk1"/>
                </a:solidFill>
                <a:latin typeface="Aptos" panose="020B0004020202020204" pitchFamily="34" charset="0"/>
              </a:rPr>
              <a:t>Key Takeaways — Lookup Plugins in Action</a:t>
            </a:r>
            <a:endParaRPr lang="en-IN" sz="2800" dirty="0">
              <a:solidFill>
                <a:schemeClr val="dk1"/>
              </a:solidFill>
              <a:latin typeface="Aptos" panose="020B0004020202020204" pitchFamily="34" charset="0"/>
            </a:endParaRPr>
          </a:p>
        </p:txBody>
      </p:sp>
      <p:pic>
        <p:nvPicPr>
          <p:cNvPr id="6" name="Picture 5" descr="A qr code with a red and black square">
            <a:extLst>
              <a:ext uri="{FF2B5EF4-FFF2-40B4-BE49-F238E27FC236}">
                <a16:creationId xmlns:a16="http://schemas.microsoft.com/office/drawing/2014/main" id="{B762ACAD-6DFC-C059-9E20-E89B61DED2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9471" y="4292346"/>
            <a:ext cx="2590420" cy="2257223"/>
          </a:xfrm>
          <a:prstGeom prst="rect">
            <a:avLst/>
          </a:prstGeom>
        </p:spPr>
      </p:pic>
      <p:graphicFrame>
        <p:nvGraphicFramePr>
          <p:cNvPr id="10" name="TextBox 6">
            <a:extLst>
              <a:ext uri="{FF2B5EF4-FFF2-40B4-BE49-F238E27FC236}">
                <a16:creationId xmlns:a16="http://schemas.microsoft.com/office/drawing/2014/main" id="{0DD140A2-BB03-4407-F048-E3EC09D560AA}"/>
              </a:ext>
            </a:extLst>
          </p:cNvPr>
          <p:cNvGraphicFramePr/>
          <p:nvPr>
            <p:extLst>
              <p:ext uri="{D42A27DB-BD31-4B8C-83A1-F6EECF244321}">
                <p14:modId xmlns:p14="http://schemas.microsoft.com/office/powerpoint/2010/main" val="3201369908"/>
              </p:ext>
            </p:extLst>
          </p:nvPr>
        </p:nvGraphicFramePr>
        <p:xfrm>
          <a:off x="832104" y="1081004"/>
          <a:ext cx="7106520" cy="23083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TextBox 7">
            <a:extLst>
              <a:ext uri="{FF2B5EF4-FFF2-40B4-BE49-F238E27FC236}">
                <a16:creationId xmlns:a16="http://schemas.microsoft.com/office/drawing/2014/main" id="{0FBDD484-F9F3-21A3-5006-1B8E38C4AF05}"/>
              </a:ext>
            </a:extLst>
          </p:cNvPr>
          <p:cNvSpPr txBox="1"/>
          <p:nvPr/>
        </p:nvSpPr>
        <p:spPr>
          <a:xfrm>
            <a:off x="6517577" y="3794105"/>
            <a:ext cx="2503170" cy="461665"/>
          </a:xfrm>
          <a:prstGeom prst="rect">
            <a:avLst/>
          </a:prstGeom>
          <a:noFill/>
        </p:spPr>
        <p:txBody>
          <a:bodyPr wrap="square" anchor="ctr">
            <a:spAutoFit/>
          </a:bodyPr>
          <a:lstStyle/>
          <a:p>
            <a:pPr algn="ctr"/>
            <a:r>
              <a:rPr lang="en-IN" sz="2400" dirty="0">
                <a:solidFill>
                  <a:srgbClr val="002060"/>
                </a:solidFill>
                <a:latin typeface="Haettenschweiler" panose="020B0706040902060204" pitchFamily="34" charset="0"/>
              </a:rPr>
              <a:t>Scan to Subscribe</a:t>
            </a:r>
          </a:p>
        </p:txBody>
      </p:sp>
      <p:sp>
        <p:nvSpPr>
          <p:cNvPr id="13" name="TextBox 12">
            <a:extLst>
              <a:ext uri="{FF2B5EF4-FFF2-40B4-BE49-F238E27FC236}">
                <a16:creationId xmlns:a16="http://schemas.microsoft.com/office/drawing/2014/main" id="{D7EFC6F4-4662-71BC-03E8-65BBD862D805}"/>
              </a:ext>
            </a:extLst>
          </p:cNvPr>
          <p:cNvSpPr txBox="1"/>
          <p:nvPr/>
        </p:nvSpPr>
        <p:spPr>
          <a:xfrm>
            <a:off x="417399" y="4028747"/>
            <a:ext cx="5105577" cy="2308324"/>
          </a:xfrm>
          <a:prstGeom prst="rect">
            <a:avLst/>
          </a:prstGeom>
          <a:solidFill>
            <a:schemeClr val="accent2"/>
          </a:solidFill>
        </p:spPr>
        <p:txBody>
          <a:bodyPr wrap="square">
            <a:spAutoFit/>
          </a:bodyPr>
          <a:lstStyle/>
          <a:p>
            <a:r>
              <a:rPr lang="en-US" b="1" dirty="0">
                <a:solidFill>
                  <a:schemeClr val="bg1"/>
                </a:solidFill>
                <a:latin typeface="Aptos" panose="020B0004020202020204" pitchFamily="34" charset="0"/>
              </a:rPr>
              <a:t>Up Next:</a:t>
            </a:r>
          </a:p>
          <a:p>
            <a:r>
              <a:rPr lang="en-US" dirty="0">
                <a:solidFill>
                  <a:schemeClr val="bg1"/>
                </a:solidFill>
                <a:latin typeface="Aptos" panose="020B0004020202020204" pitchFamily="34" charset="0"/>
              </a:rPr>
              <a:t>• </a:t>
            </a:r>
            <a:r>
              <a:rPr lang="en-US" dirty="0" err="1">
                <a:solidFill>
                  <a:schemeClr val="bg1"/>
                </a:solidFill>
                <a:latin typeface="Aptos" panose="020B0004020202020204" pitchFamily="34" charset="0"/>
              </a:rPr>
              <a:t>url</a:t>
            </a:r>
            <a:endParaRPr lang="en-US" dirty="0">
              <a:solidFill>
                <a:schemeClr val="bg1"/>
              </a:solidFill>
              <a:latin typeface="Aptos" panose="020B0004020202020204" pitchFamily="34" charset="0"/>
            </a:endParaRPr>
          </a:p>
          <a:p>
            <a:r>
              <a:rPr lang="en-US" dirty="0">
                <a:solidFill>
                  <a:schemeClr val="bg1"/>
                </a:solidFill>
                <a:latin typeface="Aptos" panose="020B0004020202020204" pitchFamily="34" charset="0"/>
              </a:rPr>
              <a:t>• </a:t>
            </a:r>
            <a:r>
              <a:rPr lang="en-US" dirty="0" err="1">
                <a:solidFill>
                  <a:schemeClr val="bg1"/>
                </a:solidFill>
                <a:latin typeface="Aptos" panose="020B0004020202020204" pitchFamily="34" charset="0"/>
              </a:rPr>
              <a:t>ini</a:t>
            </a:r>
            <a:endParaRPr lang="en-US" dirty="0">
              <a:solidFill>
                <a:schemeClr val="bg1"/>
              </a:solidFill>
              <a:latin typeface="Aptos" panose="020B0004020202020204" pitchFamily="34" charset="0"/>
            </a:endParaRPr>
          </a:p>
          <a:p>
            <a:r>
              <a:rPr lang="en-US" dirty="0">
                <a:solidFill>
                  <a:schemeClr val="bg1"/>
                </a:solidFill>
                <a:latin typeface="Aptos" panose="020B0004020202020204" pitchFamily="34" charset="0"/>
              </a:rPr>
              <a:t>• </a:t>
            </a:r>
            <a:r>
              <a:rPr lang="en-US" dirty="0" err="1">
                <a:solidFill>
                  <a:schemeClr val="bg1"/>
                </a:solidFill>
                <a:latin typeface="Aptos" panose="020B0004020202020204" pitchFamily="34" charset="0"/>
              </a:rPr>
              <a:t>fileglob</a:t>
            </a:r>
            <a:endParaRPr lang="en-US" dirty="0">
              <a:solidFill>
                <a:schemeClr val="bg1"/>
              </a:solidFill>
              <a:latin typeface="Aptos" panose="020B0004020202020204" pitchFamily="34" charset="0"/>
            </a:endParaRPr>
          </a:p>
          <a:p>
            <a:r>
              <a:rPr lang="en-US" dirty="0">
                <a:solidFill>
                  <a:schemeClr val="bg1"/>
                </a:solidFill>
                <a:latin typeface="Aptos" panose="020B0004020202020204" pitchFamily="34" charset="0"/>
              </a:rPr>
              <a:t>• password</a:t>
            </a:r>
          </a:p>
          <a:p>
            <a:r>
              <a:rPr lang="en-US" dirty="0">
                <a:solidFill>
                  <a:schemeClr val="bg1"/>
                </a:solidFill>
                <a:latin typeface="Aptos" panose="020B0004020202020204" pitchFamily="34" charset="0"/>
              </a:rPr>
              <a:t>• </a:t>
            </a:r>
            <a:r>
              <a:rPr lang="en-US" dirty="0" err="1">
                <a:solidFill>
                  <a:schemeClr val="bg1"/>
                </a:solidFill>
                <a:latin typeface="Aptos" panose="020B0004020202020204" pitchFamily="34" charset="0"/>
              </a:rPr>
              <a:t>first_found</a:t>
            </a:r>
            <a:endParaRPr lang="en-US" dirty="0">
              <a:solidFill>
                <a:schemeClr val="bg1"/>
              </a:solidFill>
              <a:latin typeface="Aptos" panose="020B0004020202020204" pitchFamily="34" charset="0"/>
            </a:endParaRPr>
          </a:p>
          <a:p>
            <a:r>
              <a:rPr lang="en-US" dirty="0">
                <a:solidFill>
                  <a:schemeClr val="bg1"/>
                </a:solidFill>
                <a:latin typeface="Aptos" panose="020B0004020202020204" pitchFamily="34" charset="0"/>
              </a:rPr>
              <a:t>• and more — with real-world demos and best practices</a:t>
            </a:r>
            <a:endParaRPr lang="en-IN" dirty="0">
              <a:solidFill>
                <a:schemeClr val="bg1"/>
              </a:solidFill>
              <a:latin typeface="Aptos" panose="020B0004020202020204" pitchFamily="34" charset="0"/>
            </a:endParaRPr>
          </a:p>
        </p:txBody>
      </p:sp>
    </p:spTree>
    <p:extLst>
      <p:ext uri="{BB962C8B-B14F-4D97-AF65-F5344CB8AC3E}">
        <p14:creationId xmlns:p14="http://schemas.microsoft.com/office/powerpoint/2010/main" val="4258820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bb5d96ea-ab39-44a0-a6d6-b6f0aac5958b}"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102</TotalTime>
  <Words>781</Words>
  <Application>Microsoft Office PowerPoint</Application>
  <PresentationFormat>On-screen Show (4:3)</PresentationFormat>
  <Paragraphs>108</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Calibri</vt:lpstr>
      <vt:lpstr>Consolas</vt:lpstr>
      <vt:lpstr>Haettenschweiler</vt:lpstr>
      <vt:lpstr>Office Theme</vt:lpstr>
      <vt:lpstr>Where lookup runs vs where task runs</vt:lpstr>
      <vt:lpstr>Where lookup runs vs where task runs</vt:lpstr>
      <vt:lpstr>Ansible Lookup Plugins — Basics</vt:lpstr>
      <vt:lpstr>Why Use Lookup Plugins?</vt:lpstr>
      <vt:lpstr>lookup() vs query()</vt:lpstr>
      <vt:lpstr>File – lookup  </vt:lpstr>
      <vt:lpstr>env – lookup  </vt:lpstr>
      <vt:lpstr>pipe – lookup  </vt:lpstr>
      <vt:lpstr>Mini Demo</vt:lpstr>
      <vt:lpstr>template – lookup  </vt:lpstr>
      <vt:lpstr>lookup vs vars_file vs templates</vt:lpstr>
      <vt:lpstr>Where lookup runs vs where task runs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Pal, Soumyendu</cp:lastModifiedBy>
  <cp:revision>10</cp:revision>
  <dcterms:created xsi:type="dcterms:W3CDTF">2013-01-27T09:14:16Z</dcterms:created>
  <dcterms:modified xsi:type="dcterms:W3CDTF">2026-01-18T09:35:24Z</dcterms:modified>
  <cp:category/>
</cp:coreProperties>
</file>