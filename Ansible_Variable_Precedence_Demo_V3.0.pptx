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561" r:id="rId5"/>
    <p:sldId id="2562" r:id="rId6"/>
    <p:sldId id="2580" r:id="rId7"/>
    <p:sldId id="2564" r:id="rId8"/>
    <p:sldId id="2565" r:id="rId9"/>
    <p:sldId id="2566" r:id="rId10"/>
    <p:sldId id="2567" r:id="rId11"/>
    <p:sldId id="2568" r:id="rId12"/>
    <p:sldId id="2569" r:id="rId13"/>
    <p:sldId id="2570" r:id="rId14"/>
    <p:sldId id="2571" r:id="rId15"/>
    <p:sldId id="2572" r:id="rId16"/>
    <p:sldId id="2573" r:id="rId17"/>
    <p:sldId id="2574" r:id="rId18"/>
    <p:sldId id="2579" r:id="rId19"/>
    <p:sldId id="2576" r:id="rId20"/>
    <p:sldId id="2577" r:id="rId21"/>
    <p:sldId id="25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ible Inventory &amp; Variable Precedence Explained" id="{4C2AB4E5-E2A0-4781-AE53-666F66646317}">
          <p14:sldIdLst>
            <p14:sldId id="2561"/>
          </p14:sldIdLst>
        </p14:section>
        <p14:section name="Introduction" id="{1F3B2D70-77F4-4830-8AA3-EF2248FBE59B}">
          <p14:sldIdLst>
            <p14:sldId id="2562"/>
            <p14:sldId id="2580"/>
          </p14:sldIdLst>
        </p14:section>
        <p14:section name="Understanding Inventory Structure" id="{F8960769-A220-4C01-917D-6B84E61C0B21}">
          <p14:sldIdLst>
            <p14:sldId id="2564"/>
            <p14:sldId id="2565"/>
            <p14:sldId id="2566"/>
          </p14:sldIdLst>
        </p14:section>
        <p14:section name="Variable Precedence in Ansible" id="{E685F5CB-3DC3-470F-BF82-EEB1819F5195}">
          <p14:sldIdLst>
            <p14:sldId id="2567"/>
            <p14:sldId id="2568"/>
            <p14:sldId id="2569"/>
          </p14:sldIdLst>
        </p14:section>
        <p14:section name="Real-World Applications" id="{29425DD6-4752-402B-BADC-EC4EAB747077}">
          <p14:sldIdLst>
            <p14:sldId id="2570"/>
            <p14:sldId id="2571"/>
          </p14:sldIdLst>
        </p14:section>
        <p14:section name="Demonstration" id="{D041B3A4-F2F8-421E-B08D-99D7B749F9A0}">
          <p14:sldIdLst>
            <p14:sldId id="2572"/>
            <p14:sldId id="2573"/>
          </p14:sldIdLst>
        </p14:section>
        <p14:section name="Interactive Learning" id="{823E323B-8545-4A25-A0C2-D89353020EE1}">
          <p14:sldIdLst>
            <p14:sldId id="2574"/>
            <p14:sldId id="2579"/>
            <p14:sldId id="2576"/>
          </p14:sldIdLst>
        </p14:section>
        <p14:section name="Conclusion" id="{8E89C505-4A0D-49F9-B960-48F12D60E0C2}">
          <p14:sldIdLst>
            <p14:sldId id="2577"/>
            <p14:sldId id="25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9817B1-EAC4-4AD6-BD7F-28A11351DFEB}" v="19" dt="2025-11-09T05:14:17.288"/>
    <p1510:client id="{CDF1EB9F-BB59-4F29-A84F-08D695C9DCA8}" v="51" dt="2025-11-09T06:04:41.123"/>
    <p1510:client id="{F569BAE9-84B3-4848-9EFB-FF9D5D24BE7B}" v="13" dt="2025-11-09T11:46:10.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 Soumyendu" userId="68503d3d-ac8d-4828-9c3f-abc5a97f3674" providerId="ADAL" clId="{92440D97-2063-49B4-9BF5-3A22B04E4F12}"/>
    <pc:docChg chg="undo custSel addSld delSld modSld modSection">
      <pc:chgData name="Pal, Soumyendu" userId="68503d3d-ac8d-4828-9c3f-abc5a97f3674" providerId="ADAL" clId="{92440D97-2063-49B4-9BF5-3A22B04E4F12}" dt="2025-11-09T11:49:55.710" v="322" actId="27636"/>
      <pc:docMkLst>
        <pc:docMk/>
      </pc:docMkLst>
      <pc:sldChg chg="del">
        <pc:chgData name="Pal, Soumyendu" userId="68503d3d-ac8d-4828-9c3f-abc5a97f3674" providerId="ADAL" clId="{92440D97-2063-49B4-9BF5-3A22B04E4F12}" dt="2025-11-09T09:51:28.485" v="126" actId="47"/>
        <pc:sldMkLst>
          <pc:docMk/>
          <pc:sldMk cId="280983556" sldId="2563"/>
        </pc:sldMkLst>
      </pc:sldChg>
      <pc:sldChg chg="modNotesTx">
        <pc:chgData name="Pal, Soumyendu" userId="68503d3d-ac8d-4828-9c3f-abc5a97f3674" providerId="ADAL" clId="{92440D97-2063-49B4-9BF5-3A22B04E4F12}" dt="2025-11-09T09:52:20.197" v="130" actId="6549"/>
        <pc:sldMkLst>
          <pc:docMk/>
          <pc:sldMk cId="3207199174" sldId="2564"/>
        </pc:sldMkLst>
      </pc:sldChg>
      <pc:sldChg chg="addSp delSp modSp mod modNotesTx">
        <pc:chgData name="Pal, Soumyendu" userId="68503d3d-ac8d-4828-9c3f-abc5a97f3674" providerId="ADAL" clId="{92440D97-2063-49B4-9BF5-3A22B04E4F12}" dt="2025-11-09T11:47:58.425" v="305" actId="403"/>
        <pc:sldMkLst>
          <pc:docMk/>
          <pc:sldMk cId="3604901617" sldId="2565"/>
        </pc:sldMkLst>
        <pc:spChg chg="mod">
          <ac:chgData name="Pal, Soumyendu" userId="68503d3d-ac8d-4828-9c3f-abc5a97f3674" providerId="ADAL" clId="{92440D97-2063-49B4-9BF5-3A22B04E4F12}" dt="2025-11-09T11:47:10.588" v="294" actId="1076"/>
          <ac:spMkLst>
            <pc:docMk/>
            <pc:sldMk cId="3604901617" sldId="2565"/>
            <ac:spMk id="4" creationId="{B2035325-EA98-9493-74FA-71CB47A93B15}"/>
          </ac:spMkLst>
        </pc:spChg>
        <pc:spChg chg="add mod">
          <ac:chgData name="Pal, Soumyendu" userId="68503d3d-ac8d-4828-9c3f-abc5a97f3674" providerId="ADAL" clId="{92440D97-2063-49B4-9BF5-3A22B04E4F12}" dt="2025-11-09T11:46:41.958" v="216" actId="20577"/>
          <ac:spMkLst>
            <pc:docMk/>
            <pc:sldMk cId="3604901617" sldId="2565"/>
            <ac:spMk id="6" creationId="{70F82F64-BE77-FEE3-B09A-E65D4BB4D471}"/>
          </ac:spMkLst>
        </pc:spChg>
        <pc:spChg chg="add mod">
          <ac:chgData name="Pal, Soumyendu" userId="68503d3d-ac8d-4828-9c3f-abc5a97f3674" providerId="ADAL" clId="{92440D97-2063-49B4-9BF5-3A22B04E4F12}" dt="2025-11-09T11:47:19.092" v="297" actId="1076"/>
          <ac:spMkLst>
            <pc:docMk/>
            <pc:sldMk cId="3604901617" sldId="2565"/>
            <ac:spMk id="7" creationId="{D4CC3D01-A364-9BDB-CD5F-D85F7AF7F56E}"/>
          </ac:spMkLst>
        </pc:spChg>
        <pc:spChg chg="add del mod">
          <ac:chgData name="Pal, Soumyendu" userId="68503d3d-ac8d-4828-9c3f-abc5a97f3674" providerId="ADAL" clId="{92440D97-2063-49B4-9BF5-3A22B04E4F12}" dt="2025-11-09T11:43:52.671" v="169" actId="478"/>
          <ac:spMkLst>
            <pc:docMk/>
            <pc:sldMk cId="3604901617" sldId="2565"/>
            <ac:spMk id="9" creationId="{DEAC76B5-5ED7-3233-5A05-A37C5BB20AAB}"/>
          </ac:spMkLst>
        </pc:spChg>
        <pc:spChg chg="add mod">
          <ac:chgData name="Pal, Soumyendu" userId="68503d3d-ac8d-4828-9c3f-abc5a97f3674" providerId="ADAL" clId="{92440D97-2063-49B4-9BF5-3A22B04E4F12}" dt="2025-11-09T11:47:21.901" v="298" actId="1076"/>
          <ac:spMkLst>
            <pc:docMk/>
            <pc:sldMk cId="3604901617" sldId="2565"/>
            <ac:spMk id="10" creationId="{3AAFBC3F-50CB-C05A-8D1B-ACB9D3ECD08B}"/>
          </ac:spMkLst>
        </pc:spChg>
        <pc:spChg chg="add mod">
          <ac:chgData name="Pal, Soumyendu" userId="68503d3d-ac8d-4828-9c3f-abc5a97f3674" providerId="ADAL" clId="{92440D97-2063-49B4-9BF5-3A22B04E4F12}" dt="2025-11-09T11:44:43.145" v="200" actId="20577"/>
          <ac:spMkLst>
            <pc:docMk/>
            <pc:sldMk cId="3604901617" sldId="2565"/>
            <ac:spMk id="11" creationId="{0D57176A-2DDC-C8DB-7079-7549F2D2F069}"/>
          </ac:spMkLst>
        </pc:spChg>
        <pc:spChg chg="add mod">
          <ac:chgData name="Pal, Soumyendu" userId="68503d3d-ac8d-4828-9c3f-abc5a97f3674" providerId="ADAL" clId="{92440D97-2063-49B4-9BF5-3A22B04E4F12}" dt="2025-11-09T11:47:58.425" v="305" actId="403"/>
          <ac:spMkLst>
            <pc:docMk/>
            <pc:sldMk cId="3604901617" sldId="2565"/>
            <ac:spMk id="12" creationId="{5A4A3895-24E9-1EBD-6C85-D3FE8C4E9BE5}"/>
          </ac:spMkLst>
        </pc:spChg>
        <pc:spChg chg="add mod">
          <ac:chgData name="Pal, Soumyendu" userId="68503d3d-ac8d-4828-9c3f-abc5a97f3674" providerId="ADAL" clId="{92440D97-2063-49B4-9BF5-3A22B04E4F12}" dt="2025-11-09T11:47:39.062" v="302" actId="1076"/>
          <ac:spMkLst>
            <pc:docMk/>
            <pc:sldMk cId="3604901617" sldId="2565"/>
            <ac:spMk id="14" creationId="{8E44ABC1-9F5C-25CD-95BF-CB9AA51403D6}"/>
          </ac:spMkLst>
        </pc:spChg>
        <pc:picChg chg="del mod">
          <ac:chgData name="Pal, Soumyendu" userId="68503d3d-ac8d-4828-9c3f-abc5a97f3674" providerId="ADAL" clId="{92440D97-2063-49B4-9BF5-3A22B04E4F12}" dt="2025-11-09T11:43:46.805" v="168" actId="478"/>
          <ac:picMkLst>
            <pc:docMk/>
            <pc:sldMk cId="3604901617" sldId="2565"/>
            <ac:picMk id="5" creationId="{E755C8E4-C959-46B5-A13D-7855E4A1B08F}"/>
          </ac:picMkLst>
        </pc:picChg>
      </pc:sldChg>
      <pc:sldChg chg="addSp modSp mod modNotesTx">
        <pc:chgData name="Pal, Soumyendu" userId="68503d3d-ac8d-4828-9c3f-abc5a97f3674" providerId="ADAL" clId="{92440D97-2063-49B4-9BF5-3A22B04E4F12}" dt="2025-11-09T11:48:59.318" v="318" actId="20577"/>
        <pc:sldMkLst>
          <pc:docMk/>
          <pc:sldMk cId="763005064" sldId="2566"/>
        </pc:sldMkLst>
        <pc:spChg chg="mod">
          <ac:chgData name="Pal, Soumyendu" userId="68503d3d-ac8d-4828-9c3f-abc5a97f3674" providerId="ADAL" clId="{92440D97-2063-49B4-9BF5-3A22B04E4F12}" dt="2025-11-09T09:35:46.918" v="86" actId="14100"/>
          <ac:spMkLst>
            <pc:docMk/>
            <pc:sldMk cId="763005064" sldId="2566"/>
            <ac:spMk id="2" creationId="{8D511D45-F71F-4987-BA9C-B8DEE4B547F6}"/>
          </ac:spMkLst>
        </pc:spChg>
        <pc:spChg chg="mod">
          <ac:chgData name="Pal, Soumyendu" userId="68503d3d-ac8d-4828-9c3f-abc5a97f3674" providerId="ADAL" clId="{92440D97-2063-49B4-9BF5-3A22B04E4F12}" dt="2025-11-09T09:35:36.893" v="81" actId="1076"/>
          <ac:spMkLst>
            <pc:docMk/>
            <pc:sldMk cId="763005064" sldId="2566"/>
            <ac:spMk id="4" creationId="{03288EF4-4C09-C8FD-8C68-E936F7BA844E}"/>
          </ac:spMkLst>
        </pc:spChg>
        <pc:spChg chg="add mod">
          <ac:chgData name="Pal, Soumyendu" userId="68503d3d-ac8d-4828-9c3f-abc5a97f3674" providerId="ADAL" clId="{92440D97-2063-49B4-9BF5-3A22B04E4F12}" dt="2025-11-09T11:48:59.318" v="318" actId="20577"/>
          <ac:spMkLst>
            <pc:docMk/>
            <pc:sldMk cId="763005064" sldId="2566"/>
            <ac:spMk id="6" creationId="{A88FADE8-87F2-4B20-2205-4CEDD30B05CE}"/>
          </ac:spMkLst>
        </pc:spChg>
        <pc:spChg chg="add mod">
          <ac:chgData name="Pal, Soumyendu" userId="68503d3d-ac8d-4828-9c3f-abc5a97f3674" providerId="ADAL" clId="{92440D97-2063-49B4-9BF5-3A22B04E4F12}" dt="2025-11-09T09:35:54.599" v="88" actId="1076"/>
          <ac:spMkLst>
            <pc:docMk/>
            <pc:sldMk cId="763005064" sldId="2566"/>
            <ac:spMk id="7" creationId="{2CADB736-1762-C7A4-E13A-A7A574158B9E}"/>
          </ac:spMkLst>
        </pc:spChg>
      </pc:sldChg>
      <pc:sldChg chg="addSp delSp modSp mod modNotesTx">
        <pc:chgData name="Pal, Soumyendu" userId="68503d3d-ac8d-4828-9c3f-abc5a97f3674" providerId="ADAL" clId="{92440D97-2063-49B4-9BF5-3A22B04E4F12}" dt="2025-11-09T11:49:55.710" v="322" actId="27636"/>
        <pc:sldMkLst>
          <pc:docMk/>
          <pc:sldMk cId="5336607" sldId="2568"/>
        </pc:sldMkLst>
        <pc:spChg chg="del mod">
          <ac:chgData name="Pal, Soumyendu" userId="68503d3d-ac8d-4828-9c3f-abc5a97f3674" providerId="ADAL" clId="{92440D97-2063-49B4-9BF5-3A22B04E4F12}" dt="2025-11-09T09:36:11.968" v="91" actId="478"/>
          <ac:spMkLst>
            <pc:docMk/>
            <pc:sldMk cId="5336607" sldId="2568"/>
            <ac:spMk id="3" creationId="{71B70B3C-6B91-9D0F-B653-C69C41A83F9D}"/>
          </ac:spMkLst>
        </pc:spChg>
        <pc:spChg chg="mod">
          <ac:chgData name="Pal, Soumyendu" userId="68503d3d-ac8d-4828-9c3f-abc5a97f3674" providerId="ADAL" clId="{92440D97-2063-49B4-9BF5-3A22B04E4F12}" dt="2025-11-09T11:49:55.710" v="322" actId="27636"/>
          <ac:spMkLst>
            <pc:docMk/>
            <pc:sldMk cId="5336607" sldId="2568"/>
            <ac:spMk id="4" creationId="{AC2A4379-671F-8374-05C2-DEC5AE61AD64}"/>
          </ac:spMkLst>
        </pc:spChg>
        <pc:spChg chg="del mod">
          <ac:chgData name="Pal, Soumyendu" userId="68503d3d-ac8d-4828-9c3f-abc5a97f3674" providerId="ADAL" clId="{92440D97-2063-49B4-9BF5-3A22B04E4F12}" dt="2025-11-09T09:36:06.852" v="89" actId="478"/>
          <ac:spMkLst>
            <pc:docMk/>
            <pc:sldMk cId="5336607" sldId="2568"/>
            <ac:spMk id="6" creationId="{2B66C3E4-0825-4804-D54F-FF31D53D18B5}"/>
          </ac:spMkLst>
        </pc:spChg>
        <pc:spChg chg="del mod">
          <ac:chgData name="Pal, Soumyendu" userId="68503d3d-ac8d-4828-9c3f-abc5a97f3674" providerId="ADAL" clId="{92440D97-2063-49B4-9BF5-3A22B04E4F12}" dt="2025-11-09T09:36:14.856" v="92" actId="478"/>
          <ac:spMkLst>
            <pc:docMk/>
            <pc:sldMk cId="5336607" sldId="2568"/>
            <ac:spMk id="7" creationId="{5299AFDB-CD19-D52A-E131-9818159609C4}"/>
          </ac:spMkLst>
        </pc:spChg>
        <pc:spChg chg="add del mod">
          <ac:chgData name="Pal, Soumyendu" userId="68503d3d-ac8d-4828-9c3f-abc5a97f3674" providerId="ADAL" clId="{92440D97-2063-49B4-9BF5-3A22B04E4F12}" dt="2025-11-09T09:25:18.398" v="30"/>
          <ac:spMkLst>
            <pc:docMk/>
            <pc:sldMk cId="5336607" sldId="2568"/>
            <ac:spMk id="10" creationId="{F9A22D86-9D53-7273-0D32-D565378F49FA}"/>
          </ac:spMkLst>
        </pc:spChg>
        <pc:spChg chg="add del mod">
          <ac:chgData name="Pal, Soumyendu" userId="68503d3d-ac8d-4828-9c3f-abc5a97f3674" providerId="ADAL" clId="{92440D97-2063-49B4-9BF5-3A22B04E4F12}" dt="2025-11-09T09:25:42.338" v="36" actId="478"/>
          <ac:spMkLst>
            <pc:docMk/>
            <pc:sldMk cId="5336607" sldId="2568"/>
            <ac:spMk id="13" creationId="{9FBF20D1-4C0A-26AE-463B-23150D8135FE}"/>
          </ac:spMkLst>
        </pc:spChg>
        <pc:picChg chg="del">
          <ac:chgData name="Pal, Soumyendu" userId="68503d3d-ac8d-4828-9c3f-abc5a97f3674" providerId="ADAL" clId="{92440D97-2063-49B4-9BF5-3A22B04E4F12}" dt="2025-11-09T09:25:15.132" v="29" actId="478"/>
          <ac:picMkLst>
            <pc:docMk/>
            <pc:sldMk cId="5336607" sldId="2568"/>
            <ac:picMk id="5" creationId="{6C989981-66F3-4C28-AD2A-A27327DA9AF9}"/>
          </ac:picMkLst>
        </pc:picChg>
        <pc:picChg chg="add del mod">
          <ac:chgData name="Pal, Soumyendu" userId="68503d3d-ac8d-4828-9c3f-abc5a97f3674" providerId="ADAL" clId="{92440D97-2063-49B4-9BF5-3A22B04E4F12}" dt="2025-11-09T09:25:40.355" v="35" actId="478"/>
          <ac:picMkLst>
            <pc:docMk/>
            <pc:sldMk cId="5336607" sldId="2568"/>
            <ac:picMk id="11" creationId="{0D676896-C5BA-C5DE-467A-3E14B9A8ADB8}"/>
          </ac:picMkLst>
        </pc:picChg>
        <pc:picChg chg="add mod">
          <ac:chgData name="Pal, Soumyendu" userId="68503d3d-ac8d-4828-9c3f-abc5a97f3674" providerId="ADAL" clId="{92440D97-2063-49B4-9BF5-3A22B04E4F12}" dt="2025-11-09T09:36:38.943" v="102" actId="1076"/>
          <ac:picMkLst>
            <pc:docMk/>
            <pc:sldMk cId="5336607" sldId="2568"/>
            <ac:picMk id="14" creationId="{9EAA673E-9F84-9D6F-5428-CDBDBA37B615}"/>
          </ac:picMkLst>
        </pc:picChg>
      </pc:sldChg>
      <pc:sldChg chg="addSp modSp mod modNotesTx">
        <pc:chgData name="Pal, Soumyendu" userId="68503d3d-ac8d-4828-9c3f-abc5a97f3674" providerId="ADAL" clId="{92440D97-2063-49B4-9BF5-3A22B04E4F12}" dt="2025-11-09T09:54:58.192" v="149" actId="14100"/>
        <pc:sldMkLst>
          <pc:docMk/>
          <pc:sldMk cId="1625105540" sldId="2569"/>
        </pc:sldMkLst>
        <pc:spChg chg="mod">
          <ac:chgData name="Pal, Soumyendu" userId="68503d3d-ac8d-4828-9c3f-abc5a97f3674" providerId="ADAL" clId="{92440D97-2063-49B4-9BF5-3A22B04E4F12}" dt="2025-11-09T09:54:38.246" v="143" actId="14100"/>
          <ac:spMkLst>
            <pc:docMk/>
            <pc:sldMk cId="1625105540" sldId="2569"/>
            <ac:spMk id="2" creationId="{1DA54E15-428E-738E-2F0A-17B07E1089E0}"/>
          </ac:spMkLst>
        </pc:spChg>
        <pc:spChg chg="mod">
          <ac:chgData name="Pal, Soumyendu" userId="68503d3d-ac8d-4828-9c3f-abc5a97f3674" providerId="ADAL" clId="{92440D97-2063-49B4-9BF5-3A22B04E4F12}" dt="2025-11-09T09:54:49.930" v="146" actId="13822"/>
          <ac:spMkLst>
            <pc:docMk/>
            <pc:sldMk cId="1625105540" sldId="2569"/>
            <ac:spMk id="4" creationId="{42B1261D-4104-DC10-AB8B-50CAAC7F42AA}"/>
          </ac:spMkLst>
        </pc:spChg>
        <pc:picChg chg="mod">
          <ac:chgData name="Pal, Soumyendu" userId="68503d3d-ac8d-4828-9c3f-abc5a97f3674" providerId="ADAL" clId="{92440D97-2063-49B4-9BF5-3A22B04E4F12}" dt="2025-11-09T09:54:54.209" v="147" actId="1076"/>
          <ac:picMkLst>
            <pc:docMk/>
            <pc:sldMk cId="1625105540" sldId="2569"/>
            <ac:picMk id="3" creationId="{E533F090-0EB3-580B-CA02-773637C7EEEE}"/>
          </ac:picMkLst>
        </pc:picChg>
        <pc:picChg chg="mod">
          <ac:chgData name="Pal, Soumyendu" userId="68503d3d-ac8d-4828-9c3f-abc5a97f3674" providerId="ADAL" clId="{92440D97-2063-49B4-9BF5-3A22B04E4F12}" dt="2025-11-09T09:29:02.535" v="58" actId="14100"/>
          <ac:picMkLst>
            <pc:docMk/>
            <pc:sldMk cId="1625105540" sldId="2569"/>
            <ac:picMk id="5" creationId="{6674F9A9-C89C-4EFB-8A58-ADD3C5CC9122}"/>
          </ac:picMkLst>
        </pc:picChg>
        <pc:picChg chg="add mod">
          <ac:chgData name="Pal, Soumyendu" userId="68503d3d-ac8d-4828-9c3f-abc5a97f3674" providerId="ADAL" clId="{92440D97-2063-49B4-9BF5-3A22B04E4F12}" dt="2025-11-09T09:54:58.192" v="149" actId="14100"/>
          <ac:picMkLst>
            <pc:docMk/>
            <pc:sldMk cId="1625105540" sldId="2569"/>
            <ac:picMk id="6" creationId="{B95D9645-B14B-78C4-8126-6F83FB05F91A}"/>
          </ac:picMkLst>
        </pc:picChg>
      </pc:sldChg>
      <pc:sldChg chg="modSp mod modNotesTx">
        <pc:chgData name="Pal, Soumyendu" userId="68503d3d-ac8d-4828-9c3f-abc5a97f3674" providerId="ADAL" clId="{92440D97-2063-49B4-9BF5-3A22B04E4F12}" dt="2025-11-09T09:54:29.033" v="141" actId="13822"/>
        <pc:sldMkLst>
          <pc:docMk/>
          <pc:sldMk cId="3090908900" sldId="2571"/>
        </pc:sldMkLst>
        <pc:spChg chg="mod">
          <ac:chgData name="Pal, Soumyendu" userId="68503d3d-ac8d-4828-9c3f-abc5a97f3674" providerId="ADAL" clId="{92440D97-2063-49B4-9BF5-3A22B04E4F12}" dt="2025-11-09T09:54:29.033" v="141" actId="13822"/>
          <ac:spMkLst>
            <pc:docMk/>
            <pc:sldMk cId="3090908900" sldId="2571"/>
            <ac:spMk id="4" creationId="{CB03B336-2DEF-9123-0072-C6865E7C763B}"/>
          </ac:spMkLst>
        </pc:spChg>
      </pc:sldChg>
      <pc:sldChg chg="modNotesTx">
        <pc:chgData name="Pal, Soumyendu" userId="68503d3d-ac8d-4828-9c3f-abc5a97f3674" providerId="ADAL" clId="{92440D97-2063-49B4-9BF5-3A22B04E4F12}" dt="2025-11-09T09:52:54.833" v="135" actId="6549"/>
        <pc:sldMkLst>
          <pc:docMk/>
          <pc:sldMk cId="3875739626" sldId="2572"/>
        </pc:sldMkLst>
      </pc:sldChg>
      <pc:sldChg chg="modSp mod modNotesTx">
        <pc:chgData name="Pal, Soumyendu" userId="68503d3d-ac8d-4828-9c3f-abc5a97f3674" providerId="ADAL" clId="{92440D97-2063-49B4-9BF5-3A22B04E4F12}" dt="2025-11-09T09:54:19.080" v="139" actId="13822"/>
        <pc:sldMkLst>
          <pc:docMk/>
          <pc:sldMk cId="3167234503" sldId="2573"/>
        </pc:sldMkLst>
        <pc:spChg chg="mod">
          <ac:chgData name="Pal, Soumyendu" userId="68503d3d-ac8d-4828-9c3f-abc5a97f3674" providerId="ADAL" clId="{92440D97-2063-49B4-9BF5-3A22B04E4F12}" dt="2025-11-09T09:54:19.080" v="139" actId="13822"/>
          <ac:spMkLst>
            <pc:docMk/>
            <pc:sldMk cId="3167234503" sldId="2573"/>
            <ac:spMk id="4" creationId="{92A329CE-15D5-4668-4B58-380D373B0553}"/>
          </ac:spMkLst>
        </pc:spChg>
      </pc:sldChg>
      <pc:sldChg chg="del">
        <pc:chgData name="Pal, Soumyendu" userId="68503d3d-ac8d-4828-9c3f-abc5a97f3674" providerId="ADAL" clId="{92440D97-2063-49B4-9BF5-3A22B04E4F12}" dt="2025-11-09T09:50:55.594" v="124" actId="47"/>
        <pc:sldMkLst>
          <pc:docMk/>
          <pc:sldMk cId="2142677728" sldId="2575"/>
        </pc:sldMkLst>
      </pc:sldChg>
      <pc:sldChg chg="modSp mod modNotesTx">
        <pc:chgData name="Pal, Soumyendu" userId="68503d3d-ac8d-4828-9c3f-abc5a97f3674" providerId="ADAL" clId="{92440D97-2063-49B4-9BF5-3A22B04E4F12}" dt="2025-11-09T09:53:59.407" v="138" actId="13822"/>
        <pc:sldMkLst>
          <pc:docMk/>
          <pc:sldMk cId="1543251758" sldId="2576"/>
        </pc:sldMkLst>
        <pc:spChg chg="mod">
          <ac:chgData name="Pal, Soumyendu" userId="68503d3d-ac8d-4828-9c3f-abc5a97f3674" providerId="ADAL" clId="{92440D97-2063-49B4-9BF5-3A22B04E4F12}" dt="2025-11-09T09:53:59.407" v="138" actId="13822"/>
          <ac:spMkLst>
            <pc:docMk/>
            <pc:sldMk cId="1543251758" sldId="2576"/>
            <ac:spMk id="4" creationId="{48142FFF-B2E7-F823-B2DE-3049928CE2FB}"/>
          </ac:spMkLst>
        </pc:spChg>
      </pc:sldChg>
      <pc:sldChg chg="add">
        <pc:chgData name="Pal, Soumyendu" userId="68503d3d-ac8d-4828-9c3f-abc5a97f3674" providerId="ADAL" clId="{92440D97-2063-49B4-9BF5-3A22B04E4F12}" dt="2025-11-09T09:50:53.695" v="123"/>
        <pc:sldMkLst>
          <pc:docMk/>
          <pc:sldMk cId="144173393" sldId="2579"/>
        </pc:sldMkLst>
      </pc:sldChg>
      <pc:sldChg chg="modSp add mod">
        <pc:chgData name="Pal, Soumyendu" userId="68503d3d-ac8d-4828-9c3f-abc5a97f3674" providerId="ADAL" clId="{92440D97-2063-49B4-9BF5-3A22B04E4F12}" dt="2025-11-09T09:51:39.652" v="129" actId="13822"/>
        <pc:sldMkLst>
          <pc:docMk/>
          <pc:sldMk cId="579112130" sldId="2580"/>
        </pc:sldMkLst>
        <pc:spChg chg="mod">
          <ac:chgData name="Pal, Soumyendu" userId="68503d3d-ac8d-4828-9c3f-abc5a97f3674" providerId="ADAL" clId="{92440D97-2063-49B4-9BF5-3A22B04E4F12}" dt="2025-11-09T09:51:39.652" v="129" actId="13822"/>
          <ac:spMkLst>
            <pc:docMk/>
            <pc:sldMk cId="579112130" sldId="2580"/>
            <ac:spMk id="2" creationId="{631896E0-208C-FAD1-7FA8-9EAA3AA974BA}"/>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19.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19.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005431-32BA-4367-A322-887E1C426557}"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CBA674F2-F5C2-4A68-9021-A7CA5166700E}">
      <dgm:prSet/>
      <dgm:spPr/>
      <dgm:t>
        <a:bodyPr/>
        <a:lstStyle/>
        <a:p>
          <a:pPr>
            <a:lnSpc>
              <a:spcPct val="100000"/>
            </a:lnSpc>
            <a:defRPr b="1"/>
          </a:pPr>
          <a:r>
            <a:rPr lang="en-US"/>
            <a:t>Upcoming Focus: Ansible Modules</a:t>
          </a:r>
        </a:p>
      </dgm:t>
    </dgm:pt>
    <dgm:pt modelId="{72A11EBC-2712-4E6D-9C00-A3BA0B46CB22}" type="parTrans" cxnId="{3834703A-DA73-4839-9D3B-E93160C0916F}">
      <dgm:prSet/>
      <dgm:spPr/>
      <dgm:t>
        <a:bodyPr/>
        <a:lstStyle/>
        <a:p>
          <a:endParaRPr lang="en-US"/>
        </a:p>
      </dgm:t>
    </dgm:pt>
    <dgm:pt modelId="{E2C74F02-DBCD-42A2-8272-42A80B806507}" type="sibTrans" cxnId="{3834703A-DA73-4839-9D3B-E93160C0916F}">
      <dgm:prSet/>
      <dgm:spPr/>
      <dgm:t>
        <a:bodyPr/>
        <a:lstStyle/>
        <a:p>
          <a:pPr>
            <a:lnSpc>
              <a:spcPct val="100000"/>
            </a:lnSpc>
            <a:defRPr b="1"/>
          </a:pPr>
          <a:endParaRPr lang="en-US"/>
        </a:p>
      </dgm:t>
    </dgm:pt>
    <dgm:pt modelId="{78F95FC5-2EC0-4EDF-B7CF-4E773212C7B2}">
      <dgm:prSet/>
      <dgm:spPr/>
      <dgm:t>
        <a:bodyPr/>
        <a:lstStyle/>
        <a:p>
          <a:pPr>
            <a:lnSpc>
              <a:spcPct val="100000"/>
            </a:lnSpc>
          </a:pPr>
          <a:r>
            <a:rPr lang="en-US"/>
            <a:t>Next session covers Ansible modules, key components for creating efficient automation playbooks.</a:t>
          </a:r>
        </a:p>
      </dgm:t>
    </dgm:pt>
    <dgm:pt modelId="{D43AB0C3-1F79-45BC-B0D6-A345562D351F}" type="parTrans" cxnId="{6E790085-6F59-425E-BEF0-BB91B14CB82D}">
      <dgm:prSet/>
      <dgm:spPr/>
      <dgm:t>
        <a:bodyPr/>
        <a:lstStyle/>
        <a:p>
          <a:endParaRPr lang="en-US"/>
        </a:p>
      </dgm:t>
    </dgm:pt>
    <dgm:pt modelId="{96F3A633-521D-4507-A433-AF5950495204}" type="sibTrans" cxnId="{6E790085-6F59-425E-BEF0-BB91B14CB82D}">
      <dgm:prSet/>
      <dgm:spPr/>
      <dgm:t>
        <a:bodyPr/>
        <a:lstStyle/>
        <a:p>
          <a:endParaRPr lang="en-US"/>
        </a:p>
      </dgm:t>
    </dgm:pt>
    <dgm:pt modelId="{647952B4-4268-48AB-8793-09E6C5C3190E}" type="pres">
      <dgm:prSet presAssocID="{A0005431-32BA-4367-A322-887E1C426557}" presName="Root" presStyleCnt="0">
        <dgm:presLayoutVars>
          <dgm:dir/>
          <dgm:resizeHandles val="exact"/>
        </dgm:presLayoutVars>
      </dgm:prSet>
      <dgm:spPr/>
    </dgm:pt>
    <dgm:pt modelId="{BB3768F8-1A44-49DF-BF3A-27009B4B0FFA}" type="pres">
      <dgm:prSet presAssocID="{CBA674F2-F5C2-4A68-9021-A7CA5166700E}" presName="Composite" presStyleCnt="0"/>
      <dgm:spPr/>
    </dgm:pt>
    <dgm:pt modelId="{BA138097-4629-4E3A-9E41-942AF6F4F1A7}" type="pres">
      <dgm:prSet presAssocID="{CBA674F2-F5C2-4A68-9021-A7CA5166700E}" presName="Picture" presStyleLbl="nod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l="4537" r="39210" b="-7"/>
          <a:stretch/>
        </a:blipFill>
      </dgm:spPr>
    </dgm:pt>
    <dgm:pt modelId="{D5DD081C-ECB3-404B-A1A5-97BE17193983}" type="pres">
      <dgm:prSet presAssocID="{CBA674F2-F5C2-4A68-9021-A7CA5166700E}" presName="Subtitle" presStyleLbl="revTx" presStyleIdx="0" presStyleCnt="2">
        <dgm:presLayoutVars>
          <dgm:chMax val="0"/>
          <dgm:bulletEnabled/>
        </dgm:presLayoutVars>
      </dgm:prSet>
      <dgm:spPr/>
    </dgm:pt>
    <dgm:pt modelId="{8F49740E-8BAA-435E-A3B9-5DE9B119F727}" type="pres">
      <dgm:prSet presAssocID="{CBA674F2-F5C2-4A68-9021-A7CA5166700E}" presName="Description" presStyleLbl="revTx" presStyleIdx="1" presStyleCnt="2">
        <dgm:presLayoutVars>
          <dgm:bulletEnabled/>
        </dgm:presLayoutVars>
      </dgm:prSet>
      <dgm:spPr/>
    </dgm:pt>
  </dgm:ptLst>
  <dgm:cxnLst>
    <dgm:cxn modelId="{3834703A-DA73-4839-9D3B-E93160C0916F}" srcId="{A0005431-32BA-4367-A322-887E1C426557}" destId="{CBA674F2-F5C2-4A68-9021-A7CA5166700E}" srcOrd="0" destOrd="0" parTransId="{72A11EBC-2712-4E6D-9C00-A3BA0B46CB22}" sibTransId="{E2C74F02-DBCD-42A2-8272-42A80B806507}"/>
    <dgm:cxn modelId="{AA49963D-FB32-442C-ABFA-7B7A0F3D1C71}" type="presOf" srcId="{A0005431-32BA-4367-A322-887E1C426557}" destId="{647952B4-4268-48AB-8793-09E6C5C3190E}" srcOrd="0" destOrd="0" presId="urn:microsoft.com/office/officeart/2024/3/layout/verticalVisualTextBlock1"/>
    <dgm:cxn modelId="{6E790085-6F59-425E-BEF0-BB91B14CB82D}" srcId="{CBA674F2-F5C2-4A68-9021-A7CA5166700E}" destId="{78F95FC5-2EC0-4EDF-B7CF-4E773212C7B2}" srcOrd="0" destOrd="0" parTransId="{D43AB0C3-1F79-45BC-B0D6-A345562D351F}" sibTransId="{96F3A633-521D-4507-A433-AF5950495204}"/>
    <dgm:cxn modelId="{016B1D9A-00D8-42AD-9185-F560CC88B328}" type="presOf" srcId="{78F95FC5-2EC0-4EDF-B7CF-4E773212C7B2}" destId="{8F49740E-8BAA-435E-A3B9-5DE9B119F727}" srcOrd="0" destOrd="0" presId="urn:microsoft.com/office/officeart/2024/3/layout/verticalVisualTextBlock1"/>
    <dgm:cxn modelId="{8DB7EEDC-085D-4764-B7C9-57C1736C07B5}" type="presOf" srcId="{CBA674F2-F5C2-4A68-9021-A7CA5166700E}" destId="{D5DD081C-ECB3-404B-A1A5-97BE17193983}" srcOrd="0" destOrd="0" presId="urn:microsoft.com/office/officeart/2024/3/layout/verticalVisualTextBlock1"/>
    <dgm:cxn modelId="{D676767E-4892-46C4-A652-42B6FF36DD83}" type="presParOf" srcId="{647952B4-4268-48AB-8793-09E6C5C3190E}" destId="{BB3768F8-1A44-49DF-BF3A-27009B4B0FFA}" srcOrd="0" destOrd="0" presId="urn:microsoft.com/office/officeart/2024/3/layout/verticalVisualTextBlock1"/>
    <dgm:cxn modelId="{09378AA7-3666-4650-A1DC-09BC74204A76}" type="presParOf" srcId="{BB3768F8-1A44-49DF-BF3A-27009B4B0FFA}" destId="{BA138097-4629-4E3A-9E41-942AF6F4F1A7}" srcOrd="0" destOrd="0" presId="urn:microsoft.com/office/officeart/2024/3/layout/verticalVisualTextBlock1"/>
    <dgm:cxn modelId="{45BD7FB6-F746-42D6-BFAF-282E11BD6475}" type="presParOf" srcId="{BB3768F8-1A44-49DF-BF3A-27009B4B0FFA}" destId="{D5DD081C-ECB3-404B-A1A5-97BE17193983}" srcOrd="1" destOrd="0" presId="urn:microsoft.com/office/officeart/2024/3/layout/verticalVisualTextBlock1"/>
    <dgm:cxn modelId="{5970DA25-6857-4B15-9108-137D6EF1C92A}" type="presParOf" srcId="{BB3768F8-1A44-49DF-BF3A-27009B4B0FFA}" destId="{8F49740E-8BAA-435E-A3B9-5DE9B119F727}"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138097-4629-4E3A-9E41-942AF6F4F1A7}">
      <dsp:nvSpPr>
        <dsp:cNvPr id="0" name=""/>
        <dsp:cNvSpPr/>
      </dsp:nvSpPr>
      <dsp:spPr>
        <a:xfrm>
          <a:off x="0" y="0"/>
          <a:ext cx="3769978" cy="376997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4537" r="39210" b="-7"/>
          <a:stretch/>
        </a:blipFill>
        <a:ln>
          <a:noFill/>
        </a:ln>
        <a:effectLst/>
      </dsp:spPr>
      <dsp:style>
        <a:lnRef idx="0">
          <a:scrgbClr r="0" g="0" b="0"/>
        </a:lnRef>
        <a:fillRef idx="3">
          <a:scrgbClr r="0" g="0" b="0"/>
        </a:fillRef>
        <a:effectRef idx="2">
          <a:scrgbClr r="0" g="0" b="0"/>
        </a:effectRef>
        <a:fontRef idx="minor">
          <a:schemeClr val="lt1"/>
        </a:fontRef>
      </dsp:style>
    </dsp:sp>
    <dsp:sp modelId="{D5DD081C-ECB3-404B-A1A5-97BE17193983}">
      <dsp:nvSpPr>
        <dsp:cNvPr id="0" name=""/>
        <dsp:cNvSpPr/>
      </dsp:nvSpPr>
      <dsp:spPr>
        <a:xfrm>
          <a:off x="3949978" y="0"/>
          <a:ext cx="7303689" cy="470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Upcoming Focus: Ansible Modules</a:t>
          </a:r>
        </a:p>
      </dsp:txBody>
      <dsp:txXfrm>
        <a:off x="3949978" y="0"/>
        <a:ext cx="7303689" cy="470076"/>
      </dsp:txXfrm>
    </dsp:sp>
    <dsp:sp modelId="{8F49740E-8BAA-435E-A3B9-5DE9B119F727}">
      <dsp:nvSpPr>
        <dsp:cNvPr id="0" name=""/>
        <dsp:cNvSpPr/>
      </dsp:nvSpPr>
      <dsp:spPr>
        <a:xfrm>
          <a:off x="3949978" y="470076"/>
          <a:ext cx="7303689" cy="423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Next session covers Ansible modules, key components for creating efficient automation playbooks.</a:t>
          </a:r>
        </a:p>
      </dsp:txBody>
      <dsp:txXfrm>
        <a:off x="3949978" y="470076"/>
        <a:ext cx="7303689" cy="4230684"/>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8074AE-B964-4BAC-988C-A24C55DF3A20}" type="datetimeFigureOut">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6169E-A6F9-4FBB-AEF7-C02550E10FDD}" type="slidenum">
              <a:t>‹#›</a:t>
            </a:fld>
            <a:endParaRPr lang="en-US"/>
          </a:p>
        </p:txBody>
      </p:sp>
    </p:spTree>
    <p:extLst>
      <p:ext uri="{BB962C8B-B14F-4D97-AF65-F5344CB8AC3E}">
        <p14:creationId xmlns:p14="http://schemas.microsoft.com/office/powerpoint/2010/main" val="4187831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5FE0839B-996C-49C5-9FD3-F1D629E7D1F4}" type="slidenum">
              <a:t>1</a:t>
            </a:fld>
            <a:endParaRPr lang="en-US"/>
          </a:p>
        </p:txBody>
      </p:sp>
    </p:spTree>
    <p:extLst>
      <p:ext uri="{BB962C8B-B14F-4D97-AF65-F5344CB8AC3E}">
        <p14:creationId xmlns:p14="http://schemas.microsoft.com/office/powerpoint/2010/main" val="1500451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AutomateOps Branding and Overview</a:t>
            </a:r>
          </a:p>
        </p:txBody>
      </p:sp>
      <p:sp>
        <p:nvSpPr>
          <p:cNvPr id="4" name="Slide Number Placeholder 3"/>
          <p:cNvSpPr>
            <a:spLocks noGrp="1"/>
          </p:cNvSpPr>
          <p:nvPr>
            <p:ph type="sldNum" sz="quarter" idx="5"/>
          </p:nvPr>
        </p:nvSpPr>
        <p:spPr/>
        <p:txBody>
          <a:bodyPr/>
          <a:lstStyle/>
          <a:p>
            <a:fld id="{5FE0839B-996C-49C5-9FD3-F1D629E7D1F4}" type="slidenum">
              <a:t>2</a:t>
            </a:fld>
            <a:endParaRPr lang="en-US"/>
          </a:p>
        </p:txBody>
      </p:sp>
    </p:spTree>
    <p:extLst>
      <p:ext uri="{BB962C8B-B14F-4D97-AF65-F5344CB8AC3E}">
        <p14:creationId xmlns:p14="http://schemas.microsoft.com/office/powerpoint/2010/main" val="3392918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Welcome to 'Ansible Inventory &amp; Variable Precedence Explained' presented by AutomateOps, your go-to destination for mastering IT automation. This presentation is designed to provide a comprehensive understanding of how Ansible handles inventory structures and variable precedence. Whether you're managing a few servers or orchestrating complex infrastructure across multiple environments, mastering these concepts is essential for building scalable and predictable automation workflows. In this session, we will explore inventory file structures, variable inheritance, alphabetical merging, and real-world use cases. We will also walk through a hands-on demonstration, followed by a quiz and a practical challenge to reinforce your learning.</a:t>
            </a:r>
          </a:p>
        </p:txBody>
      </p:sp>
      <p:sp>
        <p:nvSpPr>
          <p:cNvPr id="4" name="Slide Number Placeholder 3"/>
          <p:cNvSpPr>
            <a:spLocks noGrp="1"/>
          </p:cNvSpPr>
          <p:nvPr>
            <p:ph type="sldNum" sz="quarter" idx="5"/>
          </p:nvPr>
        </p:nvSpPr>
        <p:spPr/>
        <p:txBody>
          <a:bodyPr/>
          <a:lstStyle/>
          <a:p>
            <a:fld id="{5FE0839B-996C-49C5-9FD3-F1D629E7D1F4}" type="slidenum">
              <a:t>3</a:t>
            </a:fld>
            <a:endParaRPr lang="en-US"/>
          </a:p>
        </p:txBody>
      </p:sp>
    </p:spTree>
    <p:extLst>
      <p:ext uri="{BB962C8B-B14F-4D97-AF65-F5344CB8AC3E}">
        <p14:creationId xmlns:p14="http://schemas.microsoft.com/office/powerpoint/2010/main" val="580385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4</a:t>
            </a:fld>
            <a:endParaRPr lang="en-US"/>
          </a:p>
        </p:txBody>
      </p:sp>
    </p:spTree>
    <p:extLst>
      <p:ext uri="{BB962C8B-B14F-4D97-AF65-F5344CB8AC3E}">
        <p14:creationId xmlns:p14="http://schemas.microsoft.com/office/powerpoint/2010/main" val="2543301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5</a:t>
            </a:fld>
            <a:endParaRPr lang="en-US"/>
          </a:p>
        </p:txBody>
      </p:sp>
    </p:spTree>
    <p:extLst>
      <p:ext uri="{BB962C8B-B14F-4D97-AF65-F5344CB8AC3E}">
        <p14:creationId xmlns:p14="http://schemas.microsoft.com/office/powerpoint/2010/main" val="695788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6</a:t>
            </a:fld>
            <a:endParaRPr lang="en-US"/>
          </a:p>
        </p:txBody>
      </p:sp>
    </p:spTree>
    <p:extLst>
      <p:ext uri="{BB962C8B-B14F-4D97-AF65-F5344CB8AC3E}">
        <p14:creationId xmlns:p14="http://schemas.microsoft.com/office/powerpoint/2010/main" val="478095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Variable Precedence Impact and Hierarchy, Alphabetical Merge and Group Priority</a:t>
            </a:r>
          </a:p>
        </p:txBody>
      </p:sp>
      <p:sp>
        <p:nvSpPr>
          <p:cNvPr id="4" name="Slide Number Placeholder 3"/>
          <p:cNvSpPr>
            <a:spLocks noGrp="1"/>
          </p:cNvSpPr>
          <p:nvPr>
            <p:ph type="sldNum" sz="quarter" idx="5"/>
          </p:nvPr>
        </p:nvSpPr>
        <p:spPr/>
        <p:txBody>
          <a:bodyPr/>
          <a:lstStyle/>
          <a:p>
            <a:fld id="{5FE0839B-996C-49C5-9FD3-F1D629E7D1F4}" type="slidenum">
              <a:t>7</a:t>
            </a:fld>
            <a:endParaRPr lang="en-US"/>
          </a:p>
        </p:txBody>
      </p:sp>
    </p:spTree>
    <p:extLst>
      <p:ext uri="{BB962C8B-B14F-4D97-AF65-F5344CB8AC3E}">
        <p14:creationId xmlns:p14="http://schemas.microsoft.com/office/powerpoint/2010/main" val="2551762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8</a:t>
            </a:fld>
            <a:endParaRPr lang="en-US"/>
          </a:p>
        </p:txBody>
      </p:sp>
    </p:spTree>
    <p:extLst>
      <p:ext uri="{BB962C8B-B14F-4D97-AF65-F5344CB8AC3E}">
        <p14:creationId xmlns:p14="http://schemas.microsoft.com/office/powerpoint/2010/main" val="1542702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9</a:t>
            </a:fld>
            <a:endParaRPr lang="en-US"/>
          </a:p>
        </p:txBody>
      </p:sp>
    </p:spTree>
    <p:extLst>
      <p:ext uri="{BB962C8B-B14F-4D97-AF65-F5344CB8AC3E}">
        <p14:creationId xmlns:p14="http://schemas.microsoft.com/office/powerpoint/2010/main" val="3481296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Using Precedence in Staging and Production</a:t>
            </a:r>
          </a:p>
        </p:txBody>
      </p:sp>
      <p:sp>
        <p:nvSpPr>
          <p:cNvPr id="4" name="Slide Number Placeholder 3"/>
          <p:cNvSpPr>
            <a:spLocks noGrp="1"/>
          </p:cNvSpPr>
          <p:nvPr>
            <p:ph type="sldNum" sz="quarter" idx="5"/>
          </p:nvPr>
        </p:nvSpPr>
        <p:spPr/>
        <p:txBody>
          <a:bodyPr/>
          <a:lstStyle/>
          <a:p>
            <a:fld id="{5FE0839B-996C-49C5-9FD3-F1D629E7D1F4}" type="slidenum">
              <a:t>10</a:t>
            </a:fld>
            <a:endParaRPr lang="en-US"/>
          </a:p>
        </p:txBody>
      </p:sp>
    </p:spTree>
    <p:extLst>
      <p:ext uri="{BB962C8B-B14F-4D97-AF65-F5344CB8AC3E}">
        <p14:creationId xmlns:p14="http://schemas.microsoft.com/office/powerpoint/2010/main" val="1002735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11</a:t>
            </a:fld>
            <a:endParaRPr lang="en-US"/>
          </a:p>
        </p:txBody>
      </p:sp>
    </p:spTree>
    <p:extLst>
      <p:ext uri="{BB962C8B-B14F-4D97-AF65-F5344CB8AC3E}">
        <p14:creationId xmlns:p14="http://schemas.microsoft.com/office/powerpoint/2010/main" val="3562845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12</a:t>
            </a:fld>
            <a:endParaRPr lang="en-US"/>
          </a:p>
        </p:txBody>
      </p:sp>
    </p:spTree>
    <p:extLst>
      <p:ext uri="{BB962C8B-B14F-4D97-AF65-F5344CB8AC3E}">
        <p14:creationId xmlns:p14="http://schemas.microsoft.com/office/powerpoint/2010/main" val="1045979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13</a:t>
            </a:fld>
            <a:endParaRPr lang="en-US"/>
          </a:p>
        </p:txBody>
      </p:sp>
    </p:spTree>
    <p:extLst>
      <p:ext uri="{BB962C8B-B14F-4D97-AF65-F5344CB8AC3E}">
        <p14:creationId xmlns:p14="http://schemas.microsoft.com/office/powerpoint/2010/main" val="3708065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Quiz Questions, Hands-on Challenge</a:t>
            </a:r>
          </a:p>
        </p:txBody>
      </p:sp>
      <p:sp>
        <p:nvSpPr>
          <p:cNvPr id="4" name="Slide Number Placeholder 3"/>
          <p:cNvSpPr>
            <a:spLocks noGrp="1"/>
          </p:cNvSpPr>
          <p:nvPr>
            <p:ph type="sldNum" sz="quarter" idx="5"/>
          </p:nvPr>
        </p:nvSpPr>
        <p:spPr/>
        <p:txBody>
          <a:bodyPr/>
          <a:lstStyle/>
          <a:p>
            <a:fld id="{5FE0839B-996C-49C5-9FD3-F1D629E7D1F4}" type="slidenum">
              <a:t>14</a:t>
            </a:fld>
            <a:endParaRPr lang="en-US"/>
          </a:p>
        </p:txBody>
      </p:sp>
    </p:spTree>
    <p:extLst>
      <p:ext uri="{BB962C8B-B14F-4D97-AF65-F5344CB8AC3E}">
        <p14:creationId xmlns:p14="http://schemas.microsoft.com/office/powerpoint/2010/main" val="1950780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15</a:t>
            </a:fld>
            <a:endParaRPr lang="en-US"/>
          </a:p>
        </p:txBody>
      </p:sp>
    </p:spTree>
    <p:extLst>
      <p:ext uri="{BB962C8B-B14F-4D97-AF65-F5344CB8AC3E}">
        <p14:creationId xmlns:p14="http://schemas.microsoft.com/office/powerpoint/2010/main" val="126967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E0839B-996C-49C5-9FD3-F1D629E7D1F4}" type="slidenum">
              <a:t>16</a:t>
            </a:fld>
            <a:endParaRPr lang="en-US"/>
          </a:p>
        </p:txBody>
      </p:sp>
    </p:spTree>
    <p:extLst>
      <p:ext uri="{BB962C8B-B14F-4D97-AF65-F5344CB8AC3E}">
        <p14:creationId xmlns:p14="http://schemas.microsoft.com/office/powerpoint/2010/main" val="4138938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What’s Next?</a:t>
            </a:r>
          </a:p>
        </p:txBody>
      </p:sp>
      <p:sp>
        <p:nvSpPr>
          <p:cNvPr id="4" name="Slide Number Placeholder 3"/>
          <p:cNvSpPr>
            <a:spLocks noGrp="1"/>
          </p:cNvSpPr>
          <p:nvPr>
            <p:ph type="sldNum" sz="quarter" idx="5"/>
          </p:nvPr>
        </p:nvSpPr>
        <p:spPr/>
        <p:txBody>
          <a:bodyPr/>
          <a:lstStyle/>
          <a:p>
            <a:fld id="{5FE0839B-996C-49C5-9FD3-F1D629E7D1F4}" type="slidenum">
              <a:t>17</a:t>
            </a:fld>
            <a:endParaRPr lang="en-US"/>
          </a:p>
        </p:txBody>
      </p:sp>
    </p:spTree>
    <p:extLst>
      <p:ext uri="{BB962C8B-B14F-4D97-AF65-F5344CB8AC3E}">
        <p14:creationId xmlns:p14="http://schemas.microsoft.com/office/powerpoint/2010/main" val="2914585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the next session, we will explore Ansible modules in depth. These modules are the building blocks of Ansible playbooks and are essential for performing tasks such as package installation, file manipulation, and service management. Stay tuned to AutomateOps for more tutorials. Like, share, and subscribe to our channel, and hit the bell icon to get notified of new videos. Continue your journey to mastering IT automation with Ansible!</a:t>
            </a:r>
          </a:p>
        </p:txBody>
      </p:sp>
      <p:sp>
        <p:nvSpPr>
          <p:cNvPr id="4" name="Slide Number Placeholder 3"/>
          <p:cNvSpPr>
            <a:spLocks noGrp="1"/>
          </p:cNvSpPr>
          <p:nvPr>
            <p:ph type="sldNum" sz="quarter" idx="5"/>
          </p:nvPr>
        </p:nvSpPr>
        <p:spPr/>
        <p:txBody>
          <a:bodyPr/>
          <a:lstStyle/>
          <a:p>
            <a:fld id="{5FE0839B-996C-49C5-9FD3-F1D629E7D1F4}" type="slidenum">
              <a:t>18</a:t>
            </a:fld>
            <a:endParaRPr lang="en-US"/>
          </a:p>
        </p:txBody>
      </p:sp>
    </p:spTree>
    <p:extLst>
      <p:ext uri="{BB962C8B-B14F-4D97-AF65-F5344CB8AC3E}">
        <p14:creationId xmlns:p14="http://schemas.microsoft.com/office/powerpoint/2010/main" val="3360154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11/9/2025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11/9/2025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11/9/2025</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11/9/2025</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11/9/2025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11/9/2025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11/9/2025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11/9/2025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11/9/2025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11/9/2025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11/9/2025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11/9/2025</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11/9/2025</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11/9/2025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11/9/2025</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11/9/2025</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11/9/2025</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11/9/2025</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11/9/2025</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11/9/2025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11/9/2025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11/9/2025</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11/9/2025</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11/9/2025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11/9/2025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11/9/2025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11/9/2025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11/9/2025</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11/9/2025</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11/9/2025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11/9/2025</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11/9/2025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11/9/2025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5.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4C29-A698-2A6E-DAA5-2AB375E53858}"/>
              </a:ext>
            </a:extLst>
          </p:cNvPr>
          <p:cNvSpPr>
            <a:spLocks noGrp="1"/>
          </p:cNvSpPr>
          <p:nvPr>
            <p:ph type="title"/>
          </p:nvPr>
        </p:nvSpPr>
        <p:spPr>
          <a:xfrm>
            <a:off x="429901" y="5056743"/>
            <a:ext cx="11339400" cy="966902"/>
          </a:xfrm>
        </p:spPr>
        <p:txBody>
          <a:bodyPr anchor="b">
            <a:normAutofit/>
          </a:bodyPr>
          <a:lstStyle/>
          <a:p>
            <a:r>
              <a:rPr lang="en-US" sz="3400"/>
              <a:t>Ansible Inventory &amp; Variable Precedence Explained</a:t>
            </a:r>
          </a:p>
        </p:txBody>
      </p:sp>
      <p:pic>
        <p:nvPicPr>
          <p:cNvPr id="4" name="Picture 3" descr="Woman using laptop with artificial intelligence icons">
            <a:extLst>
              <a:ext uri="{FF2B5EF4-FFF2-40B4-BE49-F238E27FC236}">
                <a16:creationId xmlns:a16="http://schemas.microsoft.com/office/drawing/2014/main" id="{9C8E00D4-2C98-4332-ACDD-9914A49069C5}"/>
              </a:ext>
            </a:extLst>
          </p:cNvPr>
          <p:cNvPicPr>
            <a:picLocks noChangeAspect="1"/>
          </p:cNvPicPr>
          <p:nvPr/>
        </p:nvPicPr>
        <p:blipFill>
          <a:blip r:embed="rId3"/>
          <a:srcRect t="12015" b="27395"/>
          <a:stretch>
            <a:fillRect/>
          </a:stretch>
        </p:blipFill>
        <p:spPr>
          <a:xfrm>
            <a:off x="20" y="10"/>
            <a:ext cx="12191980" cy="4930902"/>
          </a:xfrm>
          <a:prstGeom prst="rect">
            <a:avLst/>
          </a:prstGeom>
          <a:noFill/>
          <a:effectLst>
            <a:outerShdw blurRad="203200" dist="12700" dir="7800000" algn="r" rotWithShape="0">
              <a:prstClr val="black">
                <a:alpha val="10000"/>
              </a:prstClr>
            </a:outerShdw>
          </a:effectLst>
        </p:spPr>
      </p:pic>
      <p:sp>
        <p:nvSpPr>
          <p:cNvPr id="3" name="Subtitle 2">
            <a:extLst>
              <a:ext uri="{FF2B5EF4-FFF2-40B4-BE49-F238E27FC236}">
                <a16:creationId xmlns:a16="http://schemas.microsoft.com/office/drawing/2014/main" id="{EF53B423-8077-E3DA-849F-CA86825CB1CF}"/>
              </a:ext>
            </a:extLst>
          </p:cNvPr>
          <p:cNvSpPr>
            <a:spLocks noGrp="1"/>
          </p:cNvSpPr>
          <p:nvPr>
            <p:ph type="body" idx="1"/>
          </p:nvPr>
        </p:nvSpPr>
        <p:spPr>
          <a:xfrm>
            <a:off x="429902" y="5979576"/>
            <a:ext cx="11339400" cy="365126"/>
          </a:xfrm>
        </p:spPr>
        <p:txBody>
          <a:bodyPr anchor="t">
            <a:normAutofit/>
          </a:bodyPr>
          <a:lstStyle/>
          <a:p>
            <a:pPr>
              <a:lnSpc>
                <a:spcPct val="110000"/>
              </a:lnSpc>
            </a:pPr>
            <a:r>
              <a:rPr lang="en-US" sz="1700" dirty="0"/>
              <a:t>Understanding configuration management with dynamic variables</a:t>
            </a:r>
          </a:p>
        </p:txBody>
      </p:sp>
      <p:pic>
        <p:nvPicPr>
          <p:cNvPr id="5" name="Picture 4" descr="Download Free ansible Icons - SVG and PNG formats">
            <a:extLst>
              <a:ext uri="{FF2B5EF4-FFF2-40B4-BE49-F238E27FC236}">
                <a16:creationId xmlns:a16="http://schemas.microsoft.com/office/drawing/2014/main" id="{22240F51-7D0B-4008-E567-BE3BA94D03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282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DD7CC-E377-5286-A6D1-165DE2807770}"/>
              </a:ext>
            </a:extLst>
          </p:cNvPr>
          <p:cNvSpPr>
            <a:spLocks noGrp="1"/>
          </p:cNvSpPr>
          <p:nvPr>
            <p:ph type="title"/>
          </p:nvPr>
        </p:nvSpPr>
        <p:spPr>
          <a:xfrm>
            <a:off x="426997" y="3018408"/>
            <a:ext cx="8961120" cy="3247475"/>
          </a:xfrm>
        </p:spPr>
        <p:txBody>
          <a:bodyPr anchor="b">
            <a:normAutofit/>
          </a:bodyPr>
          <a:lstStyle/>
          <a:p>
            <a:r>
              <a:rPr lang="en-US"/>
              <a:t>Introduction</a:t>
            </a:r>
          </a:p>
        </p:txBody>
      </p:sp>
      <p:pic>
        <p:nvPicPr>
          <p:cNvPr id="3" name="Picture 2" descr="Download Free ansible Icons - SVG and PNG formats">
            <a:extLst>
              <a:ext uri="{FF2B5EF4-FFF2-40B4-BE49-F238E27FC236}">
                <a16:creationId xmlns:a16="http://schemas.microsoft.com/office/drawing/2014/main" id="{06615041-F099-2EA9-F15D-A26B547EB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512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96E0-208C-FAD1-7FA8-9EAA3AA974BA}"/>
              </a:ext>
            </a:extLst>
          </p:cNvPr>
          <p:cNvSpPr>
            <a:spLocks noGrp="1"/>
          </p:cNvSpPr>
          <p:nvPr>
            <p:ph type="title"/>
          </p:nvPr>
        </p:nvSpPr>
        <p:spPr>
          <a:xfrm>
            <a:off x="7007497" y="691868"/>
            <a:ext cx="4660247" cy="3916708"/>
          </a:xfrm>
        </p:spPr>
        <p:style>
          <a:lnRef idx="2">
            <a:schemeClr val="accent1"/>
          </a:lnRef>
          <a:fillRef idx="1">
            <a:schemeClr val="lt1"/>
          </a:fillRef>
          <a:effectRef idx="0">
            <a:schemeClr val="accent1"/>
          </a:effectRef>
          <a:fontRef idx="minor">
            <a:schemeClr val="dk1"/>
          </a:fontRef>
        </p:style>
        <p:txBody>
          <a:bodyPr anchor="t">
            <a:normAutofit/>
          </a:bodyPr>
          <a:lstStyle/>
          <a:p>
            <a:r>
              <a:rPr lang="en-US" dirty="0"/>
              <a:t>Session goals</a:t>
            </a:r>
            <a:br>
              <a:rPr lang="en-US" dirty="0"/>
            </a:br>
            <a:br>
              <a:rPr lang="en-US" dirty="0"/>
            </a:br>
            <a:r>
              <a:rPr lang="en-US" sz="2200" dirty="0"/>
              <a:t>Learn Ansible Inventory &amp; Variable Precedence</a:t>
            </a:r>
            <a:br>
              <a:rPr lang="en-US" sz="2200" dirty="0"/>
            </a:br>
            <a:r>
              <a:rPr lang="en-US" sz="2200" dirty="0"/>
              <a:t>Hands-on demos</a:t>
            </a:r>
            <a:br>
              <a:rPr lang="en-US" sz="2200" dirty="0"/>
            </a:br>
            <a:r>
              <a:rPr lang="en-US" sz="2200" dirty="0"/>
              <a:t>quizzes and challenges</a:t>
            </a:r>
            <a:br>
              <a:rPr lang="en-US" sz="2200" dirty="0"/>
            </a:br>
            <a:r>
              <a:rPr lang="en-US" sz="2200" dirty="0"/>
              <a:t>Focus on practical automation workflows</a:t>
            </a:r>
            <a:endParaRPr dirty="0"/>
          </a:p>
        </p:txBody>
      </p:sp>
      <p:pic>
        <p:nvPicPr>
          <p:cNvPr id="5" name="Content Placeholder 4" descr="IT network administrator in a server room.">
            <a:extLst>
              <a:ext uri="{FF2B5EF4-FFF2-40B4-BE49-F238E27FC236}">
                <a16:creationId xmlns:a16="http://schemas.microsoft.com/office/drawing/2014/main" id="{EC6BE93A-B703-4C08-AFBD-E07F2847B2F4}"/>
              </a:ext>
            </a:extLst>
          </p:cNvPr>
          <p:cNvPicPr>
            <a:picLocks noGrp="1" noChangeAspect="1"/>
          </p:cNvPicPr>
          <p:nvPr>
            <p:ph type="pic" sz="quarter" idx="13"/>
          </p:nvPr>
        </p:nvPicPr>
        <p:blipFill>
          <a:blip r:embed="rId3"/>
          <a:srcRect t="27876" r="2" b="8011"/>
          <a:stretch>
            <a:fillRect/>
          </a:stretch>
        </p:blipFill>
        <p:spPr>
          <a:xfrm>
            <a:off x="533400" y="533399"/>
            <a:ext cx="6029286" cy="5791201"/>
          </a:xfrm>
          <a:prstGeom prst="rect">
            <a:avLst/>
          </a:prstGeom>
          <a:noFill/>
        </p:spPr>
      </p:pic>
      <p:pic>
        <p:nvPicPr>
          <p:cNvPr id="3" name="Picture 2" descr="Download Free ansible Icons - SVG and PNG formats">
            <a:extLst>
              <a:ext uri="{FF2B5EF4-FFF2-40B4-BE49-F238E27FC236}">
                <a16:creationId xmlns:a16="http://schemas.microsoft.com/office/drawing/2014/main" id="{99115DF7-09FC-50C8-49A2-F2B495FCA2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112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41E1F-87B7-9AE5-DCFA-AB25754C17F9}"/>
              </a:ext>
            </a:extLst>
          </p:cNvPr>
          <p:cNvSpPr>
            <a:spLocks noGrp="1"/>
          </p:cNvSpPr>
          <p:nvPr>
            <p:ph type="title"/>
          </p:nvPr>
        </p:nvSpPr>
        <p:spPr>
          <a:xfrm>
            <a:off x="426997" y="3018408"/>
            <a:ext cx="8961120" cy="3247475"/>
          </a:xfrm>
        </p:spPr>
        <p:txBody>
          <a:bodyPr anchor="b">
            <a:normAutofit/>
          </a:bodyPr>
          <a:lstStyle/>
          <a:p>
            <a:r>
              <a:rPr lang="en-US"/>
              <a:t>Understanding Inventory Structure</a:t>
            </a:r>
          </a:p>
        </p:txBody>
      </p:sp>
      <p:pic>
        <p:nvPicPr>
          <p:cNvPr id="3" name="Picture 2" descr="Download Free ansible Icons - SVG and PNG formats">
            <a:extLst>
              <a:ext uri="{FF2B5EF4-FFF2-40B4-BE49-F238E27FC236}">
                <a16:creationId xmlns:a16="http://schemas.microsoft.com/office/drawing/2014/main" id="{77DCC5C9-8AD3-6810-A713-658F15901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199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E94E3-B6F4-3549-4203-DA219625F125}"/>
              </a:ext>
            </a:extLst>
          </p:cNvPr>
          <p:cNvSpPr>
            <a:spLocks noGrp="1"/>
          </p:cNvSpPr>
          <p:nvPr>
            <p:ph type="title"/>
          </p:nvPr>
        </p:nvSpPr>
        <p:spPr>
          <a:xfrm>
            <a:off x="4977971" y="691866"/>
            <a:ext cx="6680630" cy="1217337"/>
          </a:xfrm>
        </p:spPr>
        <p:txBody>
          <a:bodyPr anchor="t">
            <a:normAutofit/>
          </a:bodyPr>
          <a:lstStyle/>
          <a:p>
            <a:r>
              <a:rPr lang="en-US"/>
              <a:t>Inventory File Structure and Group Hierarchies</a:t>
            </a:r>
          </a:p>
        </p:txBody>
      </p:sp>
      <p:sp>
        <p:nvSpPr>
          <p:cNvPr id="4" name="Content Placeholder 3">
            <a:extLst>
              <a:ext uri="{FF2B5EF4-FFF2-40B4-BE49-F238E27FC236}">
                <a16:creationId xmlns:a16="http://schemas.microsoft.com/office/drawing/2014/main" id="{B2035325-EA98-9493-74FA-71CB47A93B1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85647" y="1748655"/>
            <a:ext cx="4224529" cy="3713081"/>
          </a:xfrm>
        </p:spPr>
        <p:txBody>
          <a:bodyPr>
            <a:normAutofit fontScale="92500" lnSpcReduction="20000"/>
          </a:bodyPr>
          <a:lstStyle/>
          <a:p>
            <a:pPr marL="0" indent="0">
              <a:spcBef>
                <a:spcPts val="2500"/>
              </a:spcBef>
              <a:buFont typeface="Arial" panose="020B0604020202020204" pitchFamily="34" charset="0"/>
              <a:buNone/>
            </a:pPr>
            <a:r>
              <a:rPr lang="en-US" b="1" dirty="0"/>
              <a:t>Inventory File Formats</a:t>
            </a:r>
          </a:p>
          <a:p>
            <a:pPr marL="0" lvl="1" indent="0">
              <a:buFont typeface="Arial" panose="020B0604020202020204" pitchFamily="34" charset="0"/>
              <a:buNone/>
            </a:pPr>
            <a:r>
              <a:rPr dirty="0"/>
              <a:t>Ansible inventory files can be written in INI or YAML formats for defining hosts and groups.</a:t>
            </a:r>
            <a:endParaRPr lang="en-US" dirty="0"/>
          </a:p>
          <a:p>
            <a:pPr marL="0" indent="0">
              <a:spcBef>
                <a:spcPts val="2500"/>
              </a:spcBef>
              <a:buFont typeface="Arial" panose="020B0604020202020204" pitchFamily="34" charset="0"/>
              <a:buNone/>
            </a:pPr>
            <a:r>
              <a:rPr lang="en-US" b="1" dirty="0"/>
              <a:t>Multiple Group Memberships</a:t>
            </a:r>
          </a:p>
          <a:p>
            <a:pPr marL="0" lvl="1" indent="0">
              <a:buFont typeface="Arial" panose="020B0604020202020204" pitchFamily="34" charset="0"/>
              <a:buNone/>
            </a:pPr>
            <a:r>
              <a:rPr dirty="0"/>
              <a:t>Hosts can belong to multiple groups, enabling flexible automation targeting.</a:t>
            </a:r>
            <a:endParaRPr lang="en-US" dirty="0"/>
          </a:p>
          <a:p>
            <a:pPr marL="0" indent="0">
              <a:spcBef>
                <a:spcPts val="2500"/>
              </a:spcBef>
              <a:buFont typeface="Arial" panose="020B0604020202020204" pitchFamily="34" charset="0"/>
              <a:buNone/>
            </a:pPr>
            <a:r>
              <a:rPr lang="en-US" b="1" dirty="0"/>
              <a:t>Nested Group Hierarchies</a:t>
            </a:r>
          </a:p>
          <a:p>
            <a:pPr marL="0" lvl="1" indent="0">
              <a:buFont typeface="Arial" panose="020B0604020202020204" pitchFamily="34" charset="0"/>
              <a:buNone/>
            </a:pPr>
            <a:r>
              <a:rPr dirty="0"/>
              <a:t>Groups can have child groups to create nested hierarchical structures for better organization.</a:t>
            </a:r>
            <a:endParaRPr lang="en-US" dirty="0"/>
          </a:p>
          <a:p>
            <a:pPr marL="0" indent="0">
              <a:spcBef>
                <a:spcPts val="2500"/>
              </a:spcBef>
              <a:buFont typeface="Arial" panose="020B0604020202020204" pitchFamily="34" charset="0"/>
              <a:buNone/>
            </a:pPr>
            <a:r>
              <a:rPr lang="en-US" b="1" dirty="0"/>
              <a:t>Effective Infrastructure Management</a:t>
            </a:r>
          </a:p>
          <a:p>
            <a:pPr marL="0" lvl="1" indent="0">
              <a:buFont typeface="Arial" panose="020B0604020202020204" pitchFamily="34" charset="0"/>
              <a:buNone/>
            </a:pPr>
            <a:r>
              <a:rPr dirty="0"/>
              <a:t>Understanding group structures is key for efficient playbook execution and infrastructure control.</a:t>
            </a:r>
            <a:endParaRPr lang="en-US" dirty="0"/>
          </a:p>
        </p:txBody>
      </p:sp>
      <p:pic>
        <p:nvPicPr>
          <p:cNvPr id="3" name="Picture 2" descr="Download Free ansible Icons - SVG and PNG formats">
            <a:extLst>
              <a:ext uri="{FF2B5EF4-FFF2-40B4-BE49-F238E27FC236}">
                <a16:creationId xmlns:a16="http://schemas.microsoft.com/office/drawing/2014/main" id="{C6CA322D-9FB3-4F26-E9B1-3242A0B460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0F82F64-BE77-FEE3-B09A-E65D4BB4D471}"/>
              </a:ext>
            </a:extLst>
          </p:cNvPr>
          <p:cNvSpPr txBox="1"/>
          <p:nvPr/>
        </p:nvSpPr>
        <p:spPr>
          <a:xfrm>
            <a:off x="373978" y="691866"/>
            <a:ext cx="4124870" cy="2092881"/>
          </a:xfrm>
          <a:prstGeom prst="rect">
            <a:avLst/>
          </a:prstGeom>
          <a:solidFill>
            <a:schemeClr val="bg1">
              <a:lumMod val="95000"/>
            </a:schemeClr>
          </a:solidFill>
          <a:ln w="19050">
            <a:solidFill>
              <a:srgbClr val="0070C0"/>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strike="noStrike" kern="1200" cap="none" spc="0" normalizeH="0" baseline="0" noProof="0" dirty="0">
                <a:ln>
                  <a:noFill/>
                </a:ln>
                <a:solidFill>
                  <a:srgbClr val="000000"/>
                </a:solidFill>
                <a:effectLst/>
                <a:uLnTx/>
                <a:uFillTx/>
                <a:latin typeface="Aptos" panose="020B0004020202020204" pitchFamily="34" charset="0"/>
              </a:rPr>
              <a:t>[control]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strike="noStrike" kern="1200" cap="none" spc="0" normalizeH="0" baseline="0" noProof="0" dirty="0">
                <a:ln>
                  <a:noFill/>
                </a:ln>
                <a:solidFill>
                  <a:srgbClr val="000000"/>
                </a:solidFill>
                <a:effectLst/>
                <a:uLnTx/>
                <a:uFillTx/>
                <a:latin typeface="Aptos" panose="020B0004020202020204" pitchFamily="34" charset="0"/>
              </a:rPr>
              <a:t>localhost ansible_connection=local</a:t>
            </a:r>
          </a:p>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000" b="1" i="0" u="none" strike="noStrike" kern="1200" cap="none" spc="0" normalizeH="0" baseline="0" noProof="0" dirty="0">
                <a:ln>
                  <a:noFill/>
                </a:ln>
                <a:solidFill>
                  <a:srgbClr val="000000"/>
                </a:solidFill>
                <a:effectLst/>
                <a:uLnTx/>
                <a:uFillTx/>
                <a:latin typeface="Aptos" panose="020B0004020202020204" pitchFamily="34" charset="0"/>
              </a:rPr>
            </a:br>
            <a:endParaRPr kumimoji="0" lang="en-US" altLang="en-US" sz="1000" b="1" i="0" u="none" strike="noStrike" kern="1200" cap="none" spc="0" normalizeH="0" baseline="0" noProof="0" dirty="0">
              <a:ln>
                <a:noFill/>
              </a:ln>
              <a:solidFill>
                <a:srgbClr val="000000"/>
              </a:solidFill>
              <a:effectLst/>
              <a:uLnTx/>
              <a:uFillTx/>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strike="noStrike" kern="1200" cap="none" spc="0" normalizeH="0" baseline="0" noProof="0" dirty="0">
                <a:ln>
                  <a:noFill/>
                </a:ln>
                <a:solidFill>
                  <a:srgbClr val="000000"/>
                </a:solidFill>
                <a:effectLst/>
                <a:uLnTx/>
                <a:uFillTx/>
                <a:latin typeface="Aptos" panose="020B0004020202020204" pitchFamily="34" charset="0"/>
              </a:rPr>
              <a:t>[target]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strike="noStrike" kern="1200" cap="none" spc="0" normalizeH="0" baseline="0" noProof="0" dirty="0">
                <a:ln>
                  <a:noFill/>
                </a:ln>
                <a:solidFill>
                  <a:srgbClr val="000000"/>
                </a:solidFill>
                <a:effectLst/>
                <a:uLnTx/>
                <a:uFillTx/>
                <a:latin typeface="Aptos" panose="020B0004020202020204" pitchFamily="34" charset="0"/>
              </a:rPr>
              <a:t>target1 ansible_host= </a:t>
            </a:r>
            <a:r>
              <a:rPr lang="en-US" altLang="en-US" sz="1000" b="1" dirty="0" err="1">
                <a:solidFill>
                  <a:srgbClr val="000000"/>
                </a:solidFill>
                <a:latin typeface="Aptos" panose="020B0004020202020204" pitchFamily="34" charset="0"/>
              </a:rPr>
              <a:t>x.x.x.x</a:t>
            </a:r>
            <a:endParaRPr lang="en-US" altLang="en-US" sz="1000" b="1" dirty="0">
              <a:solidFill>
                <a:srgbClr val="000000"/>
              </a:solidFill>
              <a:latin typeface="Aptos" panose="020B0004020202020204" pitchFamily="34" charset="0"/>
            </a:endParaRPr>
          </a:p>
          <a:p>
            <a:pPr eaLnBrk="0" fontAlgn="base" hangingPunct="0">
              <a:spcBef>
                <a:spcPct val="0"/>
              </a:spcBef>
              <a:spcAft>
                <a:spcPct val="0"/>
              </a:spcAft>
              <a:defRPr/>
            </a:pPr>
            <a:r>
              <a:rPr lang="en-US" altLang="en-US" sz="1000" b="1" dirty="0">
                <a:solidFill>
                  <a:srgbClr val="000000"/>
                </a:solidFill>
                <a:latin typeface="Aptos" panose="020B0004020202020204" pitchFamily="34" charset="0"/>
              </a:rPr>
              <a:t>target2 ansible_host= </a:t>
            </a:r>
            <a:r>
              <a:rPr lang="en-US" altLang="en-US" sz="1000" b="1" dirty="0" err="1">
                <a:solidFill>
                  <a:srgbClr val="000000"/>
                </a:solidFill>
                <a:latin typeface="Aptos" panose="020B0004020202020204" pitchFamily="34" charset="0"/>
              </a:rPr>
              <a:t>y.y.y.y</a:t>
            </a:r>
            <a:endParaRPr lang="en-US" altLang="en-US" sz="1000" b="1" dirty="0">
              <a:solidFill>
                <a:srgbClr val="000000"/>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000" b="1" dirty="0">
              <a:solidFill>
                <a:srgbClr val="000000"/>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1" i="0" u="none" strike="noStrike" kern="1200" cap="none" spc="0" normalizeH="0" baseline="0" noProof="0" dirty="0">
              <a:ln>
                <a:noFill/>
              </a:ln>
              <a:solidFill>
                <a:srgbClr val="000000"/>
              </a:solidFill>
              <a:effectLst/>
              <a:uLnTx/>
              <a:uFillTx/>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strike="noStrike" kern="1200" cap="none" spc="0" normalizeH="0" baseline="0" noProof="0" dirty="0">
                <a:ln>
                  <a:noFill/>
                </a:ln>
                <a:solidFill>
                  <a:srgbClr val="000000"/>
                </a:solidFill>
                <a:effectLst/>
                <a:uLnTx/>
                <a:uFillTx/>
                <a:latin typeface="Aptos" panose="020B0004020202020204" pitchFamily="34" charset="0"/>
              </a:rPr>
              <a:t># Explanation: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strike="noStrike" kern="1200" cap="none" spc="0" normalizeH="0" baseline="0" noProof="0" dirty="0">
                <a:ln>
                  <a:noFill/>
                </a:ln>
                <a:solidFill>
                  <a:srgbClr val="000000"/>
                </a:solidFill>
                <a:effectLst/>
                <a:uLnTx/>
                <a:uFillTx/>
                <a:latin typeface="Aptos" panose="020B0004020202020204" pitchFamily="34" charset="0"/>
              </a:rPr>
              <a:t># ansible_connection=local → Used for localhost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1" i="0" strike="noStrike" kern="1200" cap="none" spc="0" normalizeH="0" baseline="0" noProof="0" dirty="0">
                <a:ln>
                  <a:noFill/>
                </a:ln>
                <a:solidFill>
                  <a:srgbClr val="000000"/>
                </a:solidFill>
                <a:effectLst/>
                <a:uLnTx/>
                <a:uFillTx/>
                <a:latin typeface="Aptos" panose="020B0004020202020204" pitchFamily="34" charset="0"/>
              </a:rPr>
              <a:t># ansible_host → IP or DNS name of the target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1" i="0" u="none" strike="noStrike" kern="1200" cap="none" spc="0" normalizeH="0" baseline="0" noProof="0" dirty="0">
              <a:ln>
                <a:noFill/>
              </a:ln>
              <a:solidFill>
                <a:srgbClr val="000000"/>
              </a:solidFill>
              <a:effectLst/>
              <a:uLnTx/>
              <a:uFillTx/>
              <a:latin typeface="Aptos" panose="020B0004020202020204" pitchFamily="34" charset="0"/>
            </a:endParaRPr>
          </a:p>
        </p:txBody>
      </p:sp>
      <p:sp>
        <p:nvSpPr>
          <p:cNvPr id="7" name="Rectangle 1">
            <a:extLst>
              <a:ext uri="{FF2B5EF4-FFF2-40B4-BE49-F238E27FC236}">
                <a16:creationId xmlns:a16="http://schemas.microsoft.com/office/drawing/2014/main" id="{D4CC3D01-A364-9BDB-CD5F-D85F7AF7F56E}"/>
              </a:ext>
            </a:extLst>
          </p:cNvPr>
          <p:cNvSpPr>
            <a:spLocks noChangeArrowheads="1"/>
          </p:cNvSpPr>
          <p:nvPr/>
        </p:nvSpPr>
        <p:spPr bwMode="auto">
          <a:xfrm>
            <a:off x="301885" y="3262247"/>
            <a:ext cx="3730619" cy="2400657"/>
          </a:xfrm>
          <a:prstGeom prst="rect">
            <a:avLst/>
          </a:prstGeom>
          <a:solidFill>
            <a:schemeClr val="bg1">
              <a:lumMod val="95000"/>
            </a:schemeClr>
          </a:solidFill>
          <a:ln w="19050">
            <a:solidFill>
              <a:srgbClr val="0070C0"/>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all: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vars: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email_server: mail.google.com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children: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control: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hosts: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localhost: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ansible_connection: local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1" i="0" u="none" strike="noStrike" cap="none" normalizeH="0" baseline="0" dirty="0">
              <a:ln>
                <a:noFill/>
              </a:ln>
              <a:solidFill>
                <a:srgbClr val="002060"/>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target: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vars: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email_server: mail.yahoo.com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hosts: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target1: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ansible_host: </a:t>
            </a:r>
            <a:r>
              <a:rPr lang="en-US" altLang="en-US" sz="600" b="1" dirty="0">
                <a:solidFill>
                  <a:srgbClr val="002060"/>
                </a:solidFill>
                <a:latin typeface="Aptos" panose="020B0004020202020204" pitchFamily="34" charset="0"/>
              </a:rPr>
              <a:t>Z.Z.Z.Z</a:t>
            </a:r>
            <a:endParaRPr kumimoji="0" lang="en-US" altLang="en-US" sz="600" b="1" i="0" u="none" strike="noStrike" cap="none" normalizeH="0" baseline="0" dirty="0">
              <a:ln>
                <a:noFill/>
              </a:ln>
              <a:solidFill>
                <a:srgbClr val="002060"/>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ansible_user: ec2-user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ansible_python_interpreter: "/usr/bin/python3.9"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target2: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ansible_host: </a:t>
            </a:r>
            <a:r>
              <a:rPr lang="en-US" altLang="en-US" sz="600" b="1" dirty="0">
                <a:solidFill>
                  <a:srgbClr val="002060"/>
                </a:solidFill>
                <a:latin typeface="Aptos" panose="020B0004020202020204" pitchFamily="34" charset="0"/>
              </a:rPr>
              <a:t> M.M.M.M</a:t>
            </a:r>
            <a:endParaRPr kumimoji="0" lang="en-US" altLang="en-US" sz="600" b="1" i="0" u="none" strike="noStrike" cap="none" normalizeH="0" baseline="0" dirty="0">
              <a:ln>
                <a:noFill/>
              </a:ln>
              <a:solidFill>
                <a:srgbClr val="002060"/>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ansible_user: ubuntu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1" i="0" u="none" strike="noStrike" cap="none" normalizeH="0" baseline="0" dirty="0">
              <a:ln>
                <a:noFill/>
              </a:ln>
              <a:solidFill>
                <a:srgbClr val="002060"/>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ITESTATE: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children: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target: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strike="noStrike" cap="none" normalizeH="0" baseline="0" dirty="0">
                <a:ln>
                  <a:noFill/>
                </a:ln>
                <a:solidFill>
                  <a:srgbClr val="002060"/>
                </a:solidFill>
                <a:effectLst/>
                <a:latin typeface="Aptos" panose="020B0004020202020204" pitchFamily="34" charset="0"/>
              </a:rPr>
              <a:t>        control: {}</a:t>
            </a:r>
          </a:p>
        </p:txBody>
      </p:sp>
      <p:sp>
        <p:nvSpPr>
          <p:cNvPr id="10" name="TextBox 9">
            <a:extLst>
              <a:ext uri="{FF2B5EF4-FFF2-40B4-BE49-F238E27FC236}">
                <a16:creationId xmlns:a16="http://schemas.microsoft.com/office/drawing/2014/main" id="{3AAFBC3F-50CB-C05A-8D1B-ACB9D3ECD08B}"/>
              </a:ext>
            </a:extLst>
          </p:cNvPr>
          <p:cNvSpPr txBox="1"/>
          <p:nvPr/>
        </p:nvSpPr>
        <p:spPr>
          <a:xfrm>
            <a:off x="396374" y="2919814"/>
            <a:ext cx="2040039" cy="369332"/>
          </a:xfrm>
          <a:prstGeom prst="rect">
            <a:avLst/>
          </a:prstGeom>
          <a:noFill/>
        </p:spPr>
        <p:txBody>
          <a:bodyPr wrap="square" rtlCol="0">
            <a:spAutoFit/>
          </a:bodyPr>
          <a:lstStyle/>
          <a:p>
            <a:r>
              <a:rPr lang="en-US" dirty="0"/>
              <a:t>YAML Format</a:t>
            </a:r>
            <a:endParaRPr lang="en-IN" dirty="0"/>
          </a:p>
        </p:txBody>
      </p:sp>
      <p:sp>
        <p:nvSpPr>
          <p:cNvPr id="11" name="TextBox 10">
            <a:extLst>
              <a:ext uri="{FF2B5EF4-FFF2-40B4-BE49-F238E27FC236}">
                <a16:creationId xmlns:a16="http://schemas.microsoft.com/office/drawing/2014/main" id="{0D57176A-2DDC-C8DB-7079-7549F2D2F069}"/>
              </a:ext>
            </a:extLst>
          </p:cNvPr>
          <p:cNvSpPr txBox="1"/>
          <p:nvPr/>
        </p:nvSpPr>
        <p:spPr>
          <a:xfrm>
            <a:off x="301885" y="372133"/>
            <a:ext cx="2040039" cy="369332"/>
          </a:xfrm>
          <a:prstGeom prst="rect">
            <a:avLst/>
          </a:prstGeom>
          <a:noFill/>
        </p:spPr>
        <p:txBody>
          <a:bodyPr wrap="square" rtlCol="0">
            <a:spAutoFit/>
          </a:bodyPr>
          <a:lstStyle/>
          <a:p>
            <a:r>
              <a:rPr lang="en-US" dirty="0"/>
              <a:t>INI Format</a:t>
            </a:r>
            <a:endParaRPr lang="en-IN" dirty="0"/>
          </a:p>
        </p:txBody>
      </p:sp>
      <p:sp>
        <p:nvSpPr>
          <p:cNvPr id="12" name="TextBox 11">
            <a:extLst>
              <a:ext uri="{FF2B5EF4-FFF2-40B4-BE49-F238E27FC236}">
                <a16:creationId xmlns:a16="http://schemas.microsoft.com/office/drawing/2014/main" id="{5A4A3895-24E9-1EBD-6C85-D3FE8C4E9BE5}"/>
              </a:ext>
            </a:extLst>
          </p:cNvPr>
          <p:cNvSpPr txBox="1"/>
          <p:nvPr/>
        </p:nvSpPr>
        <p:spPr>
          <a:xfrm>
            <a:off x="4571933" y="3830520"/>
            <a:ext cx="2185483" cy="1785104"/>
          </a:xfrm>
          <a:prstGeom prst="rect">
            <a:avLst/>
          </a:prstGeom>
          <a:noFill/>
          <a:ln w="19050">
            <a:solidFill>
              <a:schemeClr val="accent6"/>
            </a:solidFill>
          </a:ln>
        </p:spPr>
        <p:txBody>
          <a:bodyPr wrap="square">
            <a:spAutoFit/>
          </a:bodyPr>
          <a:lstStyle/>
          <a:p>
            <a:r>
              <a:rPr lang="en-IN" sz="1100" b="1" dirty="0">
                <a:latin typeface="Aptos" panose="020B0004020202020204" pitchFamily="34" charset="0"/>
              </a:rPr>
              <a:t>[all]</a:t>
            </a:r>
          </a:p>
          <a:p>
            <a:r>
              <a:rPr lang="en-IN" sz="1100" b="1" dirty="0">
                <a:latin typeface="Aptos" panose="020B0004020202020204" pitchFamily="34" charset="0"/>
              </a:rPr>
              <a:t>host1</a:t>
            </a:r>
          </a:p>
          <a:p>
            <a:r>
              <a:rPr lang="en-IN" sz="1100" b="1" dirty="0">
                <a:latin typeface="Aptos" panose="020B0004020202020204" pitchFamily="34" charset="0"/>
              </a:rPr>
              <a:t>[</a:t>
            </a:r>
            <a:r>
              <a:rPr lang="en-IN" sz="1100" b="1" dirty="0" err="1">
                <a:latin typeface="Aptos" panose="020B0004020202020204" pitchFamily="34" charset="0"/>
              </a:rPr>
              <a:t>webservers:children</a:t>
            </a:r>
            <a:r>
              <a:rPr lang="en-IN" sz="1100" b="1" dirty="0">
                <a:latin typeface="Aptos" panose="020B0004020202020204" pitchFamily="34" charset="0"/>
              </a:rPr>
              <a:t>]</a:t>
            </a:r>
          </a:p>
          <a:p>
            <a:r>
              <a:rPr lang="en-IN" sz="1100" b="1" dirty="0">
                <a:latin typeface="Aptos" panose="020B0004020202020204" pitchFamily="34" charset="0"/>
              </a:rPr>
              <a:t>Frontend</a:t>
            </a:r>
          </a:p>
          <a:p>
            <a:r>
              <a:rPr lang="en-IN" sz="1100" b="1" dirty="0">
                <a:latin typeface="Aptos" panose="020B0004020202020204" pitchFamily="34" charset="0"/>
              </a:rPr>
              <a:t>[frontend]</a:t>
            </a:r>
          </a:p>
          <a:p>
            <a:r>
              <a:rPr lang="en-IN" sz="1100" b="1" dirty="0">
                <a:latin typeface="Aptos" panose="020B0004020202020204" pitchFamily="34" charset="0"/>
              </a:rPr>
              <a:t>host1</a:t>
            </a:r>
          </a:p>
          <a:p>
            <a:r>
              <a:rPr lang="en-IN" sz="1100" b="1" dirty="0">
                <a:latin typeface="Aptos" panose="020B0004020202020204" pitchFamily="34" charset="0"/>
              </a:rPr>
              <a:t>[</a:t>
            </a:r>
            <a:r>
              <a:rPr lang="en-IN" sz="1100" b="1" dirty="0" err="1">
                <a:latin typeface="Aptos" panose="020B0004020202020204" pitchFamily="34" charset="0"/>
              </a:rPr>
              <a:t>groupA</a:t>
            </a:r>
            <a:r>
              <a:rPr lang="en-IN" sz="1100" b="1" dirty="0">
                <a:latin typeface="Aptos" panose="020B0004020202020204" pitchFamily="34" charset="0"/>
              </a:rPr>
              <a:t>]</a:t>
            </a:r>
          </a:p>
          <a:p>
            <a:r>
              <a:rPr lang="en-IN" sz="1100" b="1" dirty="0">
                <a:latin typeface="Aptos" panose="020B0004020202020204" pitchFamily="34" charset="0"/>
              </a:rPr>
              <a:t>host1</a:t>
            </a:r>
          </a:p>
          <a:p>
            <a:r>
              <a:rPr lang="en-IN" sz="1100" b="1" dirty="0">
                <a:latin typeface="Aptos" panose="020B0004020202020204" pitchFamily="34" charset="0"/>
              </a:rPr>
              <a:t>[</a:t>
            </a:r>
            <a:r>
              <a:rPr lang="en-IN" sz="1100" b="1" dirty="0" err="1">
                <a:latin typeface="Aptos" panose="020B0004020202020204" pitchFamily="34" charset="0"/>
              </a:rPr>
              <a:t>groupB</a:t>
            </a:r>
            <a:r>
              <a:rPr lang="en-IN" sz="1100" b="1" dirty="0">
                <a:latin typeface="Aptos" panose="020B0004020202020204" pitchFamily="34" charset="0"/>
              </a:rPr>
              <a:t>]</a:t>
            </a:r>
          </a:p>
          <a:p>
            <a:r>
              <a:rPr lang="en-IN" sz="1100" b="1" dirty="0">
                <a:latin typeface="Aptos" panose="020B0004020202020204" pitchFamily="34" charset="0"/>
              </a:rPr>
              <a:t>host1</a:t>
            </a:r>
          </a:p>
        </p:txBody>
      </p:sp>
      <p:sp>
        <p:nvSpPr>
          <p:cNvPr id="14" name="TextBox 13">
            <a:extLst>
              <a:ext uri="{FF2B5EF4-FFF2-40B4-BE49-F238E27FC236}">
                <a16:creationId xmlns:a16="http://schemas.microsoft.com/office/drawing/2014/main" id="{8E44ABC1-9F5C-25CD-95BF-CB9AA51403D6}"/>
              </a:ext>
            </a:extLst>
          </p:cNvPr>
          <p:cNvSpPr txBox="1"/>
          <p:nvPr/>
        </p:nvSpPr>
        <p:spPr>
          <a:xfrm>
            <a:off x="4294975" y="3420529"/>
            <a:ext cx="3090672" cy="369332"/>
          </a:xfrm>
          <a:prstGeom prst="rect">
            <a:avLst/>
          </a:prstGeom>
          <a:noFill/>
        </p:spPr>
        <p:txBody>
          <a:bodyPr wrap="square">
            <a:spAutoFit/>
          </a:bodyPr>
          <a:lstStyle/>
          <a:p>
            <a:pPr marL="0" indent="0">
              <a:spcBef>
                <a:spcPts val="2500"/>
              </a:spcBef>
              <a:buFont typeface="Arial" panose="020B0604020202020204" pitchFamily="34" charset="0"/>
              <a:buNone/>
            </a:pPr>
            <a:r>
              <a:rPr lang="en-US" b="1" dirty="0"/>
              <a:t>Multiple Group Memberships</a:t>
            </a:r>
          </a:p>
        </p:txBody>
      </p:sp>
    </p:spTree>
    <p:extLst>
      <p:ext uri="{BB962C8B-B14F-4D97-AF65-F5344CB8AC3E}">
        <p14:creationId xmlns:p14="http://schemas.microsoft.com/office/powerpoint/2010/main" val="3604901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11D45-F71F-4987-BA9C-B8DEE4B547F6}"/>
              </a:ext>
            </a:extLst>
          </p:cNvPr>
          <p:cNvSpPr>
            <a:spLocks noGrp="1"/>
          </p:cNvSpPr>
          <p:nvPr>
            <p:ph type="title"/>
          </p:nvPr>
        </p:nvSpPr>
        <p:spPr>
          <a:xfrm>
            <a:off x="4977971" y="691867"/>
            <a:ext cx="6050381" cy="405413"/>
          </a:xfrm>
        </p:spPr>
        <p:txBody>
          <a:bodyPr anchor="t">
            <a:normAutofit/>
          </a:bodyPr>
          <a:lstStyle/>
          <a:p>
            <a:r>
              <a:rPr lang="en-US" sz="2000"/>
              <a:t>Inventory Explanation and Visual Hierarchy</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4010541C-AE59-4DC2-BDDE-CF2F3EE13C20}"/>
              </a:ext>
            </a:extLst>
          </p:cNvPr>
          <p:cNvPicPr>
            <a:picLocks noGrp="1" noChangeAspect="1"/>
          </p:cNvPicPr>
          <p:nvPr>
            <p:ph type="pic" sz="quarter" idx="13"/>
          </p:nvPr>
        </p:nvPicPr>
        <p:blipFill>
          <a:blip r:embed="rId3"/>
          <a:srcRect l="20795" r="34573" b="2"/>
          <a:stretch>
            <a:fillRect/>
          </a:stretch>
        </p:blipFill>
        <p:spPr>
          <a:xfrm>
            <a:off x="533400" y="533400"/>
            <a:ext cx="3886200" cy="5811924"/>
          </a:xfrm>
          <a:prstGeom prst="rect">
            <a:avLst/>
          </a:prstGeom>
          <a:noFill/>
        </p:spPr>
      </p:pic>
      <p:sp>
        <p:nvSpPr>
          <p:cNvPr id="4" name="Content Placeholder 3">
            <a:extLst>
              <a:ext uri="{FF2B5EF4-FFF2-40B4-BE49-F238E27FC236}">
                <a16:creationId xmlns:a16="http://schemas.microsoft.com/office/drawing/2014/main" id="{03288EF4-4C09-C8FD-8C68-E936F7BA844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894907" y="2339882"/>
            <a:ext cx="4019725" cy="4334625"/>
          </a:xfrm>
        </p:spPr>
        <p:txBody>
          <a:bodyPr>
            <a:normAutofit fontScale="92500" lnSpcReduction="20000"/>
          </a:bodyPr>
          <a:lstStyle/>
          <a:p>
            <a:pPr marL="0" indent="0">
              <a:lnSpc>
                <a:spcPct val="110000"/>
              </a:lnSpc>
              <a:spcBef>
                <a:spcPts val="2500"/>
              </a:spcBef>
              <a:buFont typeface="Arial" panose="020B0604020202020204" pitchFamily="34" charset="0"/>
              <a:buNone/>
            </a:pPr>
            <a:r>
              <a:rPr lang="en-US" b="1" dirty="0"/>
              <a:t>Group Membership and Inheritance</a:t>
            </a:r>
          </a:p>
          <a:p>
            <a:pPr marL="0" lvl="1" indent="0">
              <a:lnSpc>
                <a:spcPct val="110000"/>
              </a:lnSpc>
              <a:buFont typeface="Arial" panose="020B0604020202020204" pitchFamily="34" charset="0"/>
              <a:buNone/>
            </a:pPr>
            <a:r>
              <a:rPr dirty="0"/>
              <a:t>Host1 belongs to multiple groups, inheriting variables from both parent and child groups for flexible configuration.</a:t>
            </a:r>
            <a:endParaRPr lang="en-US" dirty="0"/>
          </a:p>
          <a:p>
            <a:pPr marL="0" indent="0">
              <a:lnSpc>
                <a:spcPct val="110000"/>
              </a:lnSpc>
              <a:spcBef>
                <a:spcPts val="2500"/>
              </a:spcBef>
              <a:buFont typeface="Arial" panose="020B0604020202020204" pitchFamily="34" charset="0"/>
              <a:buNone/>
            </a:pPr>
            <a:r>
              <a:rPr lang="en-US" b="1" dirty="0"/>
              <a:t>Same-level Group Variable Merging</a:t>
            </a:r>
          </a:p>
          <a:p>
            <a:pPr marL="0" lvl="1" indent="0">
              <a:lnSpc>
                <a:spcPct val="110000"/>
              </a:lnSpc>
              <a:buFont typeface="Arial" panose="020B0604020202020204" pitchFamily="34" charset="0"/>
              <a:buNone/>
            </a:pPr>
            <a:r>
              <a:rPr dirty="0"/>
              <a:t>Variables from same-level groups merge alphabetically, with later groups overriding earlier ones in case of conflicts.</a:t>
            </a:r>
            <a:endParaRPr lang="en-US" dirty="0"/>
          </a:p>
          <a:p>
            <a:pPr marL="0" indent="0">
              <a:lnSpc>
                <a:spcPct val="110000"/>
              </a:lnSpc>
              <a:spcBef>
                <a:spcPts val="2500"/>
              </a:spcBef>
              <a:buFont typeface="Arial" panose="020B0604020202020204" pitchFamily="34" charset="0"/>
              <a:buNone/>
            </a:pPr>
            <a:r>
              <a:rPr lang="en-US" b="1" dirty="0"/>
              <a:t>Host-specific Variable Precedence</a:t>
            </a:r>
          </a:p>
          <a:p>
            <a:pPr marL="0" lvl="1" indent="0">
              <a:lnSpc>
                <a:spcPct val="110000"/>
              </a:lnSpc>
              <a:buFont typeface="Arial" panose="020B0604020202020204" pitchFamily="34" charset="0"/>
              <a:buNone/>
            </a:pPr>
            <a:r>
              <a:rPr dirty="0"/>
              <a:t>Host-specific variables have the highest priority, overriding group variables for precise control over configurations.</a:t>
            </a:r>
            <a:endParaRPr lang="en-US" dirty="0"/>
          </a:p>
          <a:p>
            <a:pPr marL="0" indent="0">
              <a:lnSpc>
                <a:spcPct val="110000"/>
              </a:lnSpc>
              <a:spcBef>
                <a:spcPts val="2500"/>
              </a:spcBef>
              <a:buFont typeface="Arial" panose="020B0604020202020204" pitchFamily="34" charset="0"/>
              <a:buNone/>
            </a:pPr>
            <a:r>
              <a:rPr lang="en-US" b="1" dirty="0"/>
              <a:t>Importance of Hierarchy Understanding</a:t>
            </a:r>
          </a:p>
          <a:p>
            <a:pPr marL="0" lvl="1" indent="0">
              <a:lnSpc>
                <a:spcPct val="110000"/>
              </a:lnSpc>
              <a:buFont typeface="Arial" panose="020B0604020202020204" pitchFamily="34" charset="0"/>
              <a:buNone/>
            </a:pPr>
            <a:r>
              <a:rPr dirty="0"/>
              <a:t>Grasping Ansible's inventory and variable hierarchy ensures predictable and maintainable automation workflows.</a:t>
            </a:r>
            <a:endParaRPr lang="en-US" dirty="0"/>
          </a:p>
        </p:txBody>
      </p:sp>
      <p:pic>
        <p:nvPicPr>
          <p:cNvPr id="3" name="Picture 2" descr="Download Free ansible Icons - SVG and PNG formats">
            <a:extLst>
              <a:ext uri="{FF2B5EF4-FFF2-40B4-BE49-F238E27FC236}">
                <a16:creationId xmlns:a16="http://schemas.microsoft.com/office/drawing/2014/main" id="{265CA82F-460B-0811-35A6-0E5D0F1B69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88FADE8-87F2-4B20-2205-4CEDD30B05CE}"/>
              </a:ext>
            </a:extLst>
          </p:cNvPr>
          <p:cNvSpPr txBox="1"/>
          <p:nvPr/>
        </p:nvSpPr>
        <p:spPr>
          <a:xfrm>
            <a:off x="4564732" y="1694984"/>
            <a:ext cx="3219753" cy="2634567"/>
          </a:xfrm>
          <a:prstGeom prst="rect">
            <a:avLst/>
          </a:prstGeom>
          <a:noFill/>
          <a:ln w="19050">
            <a:solidFill>
              <a:schemeClr val="accent6"/>
            </a:solidFill>
          </a:ln>
        </p:spPr>
        <p:txBody>
          <a:bodyPr wrap="square">
            <a:spAutoFit/>
          </a:bodyPr>
          <a:lstStyle/>
          <a:p>
            <a:r>
              <a:rPr lang="en-IN" sz="1180" b="1" dirty="0">
                <a:solidFill>
                  <a:srgbClr val="002060"/>
                </a:solidFill>
                <a:latin typeface="Aptos" panose="020B0004020202020204" pitchFamily="34" charset="0"/>
              </a:rPr>
              <a:t>[all]</a:t>
            </a:r>
          </a:p>
          <a:p>
            <a:r>
              <a:rPr lang="en-IN" sz="1180" b="1" dirty="0">
                <a:solidFill>
                  <a:srgbClr val="002060"/>
                </a:solidFill>
                <a:latin typeface="Aptos" panose="020B0004020202020204" pitchFamily="34" charset="0"/>
              </a:rPr>
              <a:t>Host1</a:t>
            </a:r>
          </a:p>
          <a:p>
            <a:endParaRPr lang="en-IN" sz="1180" b="1" dirty="0">
              <a:solidFill>
                <a:srgbClr val="002060"/>
              </a:solidFill>
              <a:latin typeface="Aptos" panose="020B0004020202020204" pitchFamily="34" charset="0"/>
            </a:endParaRPr>
          </a:p>
          <a:p>
            <a:r>
              <a:rPr lang="en-IN" sz="1180" b="1" dirty="0">
                <a:solidFill>
                  <a:srgbClr val="002060"/>
                </a:solidFill>
                <a:latin typeface="Aptos" panose="020B0004020202020204" pitchFamily="34" charset="0"/>
              </a:rPr>
              <a:t>[</a:t>
            </a:r>
            <a:r>
              <a:rPr lang="en-IN" sz="1180" b="1" dirty="0" err="1">
                <a:solidFill>
                  <a:srgbClr val="002060"/>
                </a:solidFill>
                <a:latin typeface="Aptos" panose="020B0004020202020204" pitchFamily="34" charset="0"/>
              </a:rPr>
              <a:t>webservers:children</a:t>
            </a:r>
            <a:r>
              <a:rPr lang="en-IN" sz="1180" b="1" dirty="0">
                <a:solidFill>
                  <a:srgbClr val="002060"/>
                </a:solidFill>
                <a:latin typeface="Aptos" panose="020B0004020202020204" pitchFamily="34" charset="0"/>
              </a:rPr>
              <a:t>]</a:t>
            </a:r>
          </a:p>
          <a:p>
            <a:r>
              <a:rPr lang="en-IN" sz="1180" b="1" dirty="0">
                <a:solidFill>
                  <a:srgbClr val="002060"/>
                </a:solidFill>
                <a:latin typeface="Aptos" panose="020B0004020202020204" pitchFamily="34" charset="0"/>
              </a:rPr>
              <a:t>Frontend</a:t>
            </a:r>
          </a:p>
          <a:p>
            <a:endParaRPr lang="en-IN" sz="1180" b="1" dirty="0">
              <a:solidFill>
                <a:srgbClr val="002060"/>
              </a:solidFill>
              <a:latin typeface="Aptos" panose="020B0004020202020204" pitchFamily="34" charset="0"/>
            </a:endParaRPr>
          </a:p>
          <a:p>
            <a:r>
              <a:rPr lang="en-IN" sz="1180" b="1" dirty="0">
                <a:solidFill>
                  <a:srgbClr val="002060"/>
                </a:solidFill>
                <a:latin typeface="Aptos" panose="020B0004020202020204" pitchFamily="34" charset="0"/>
              </a:rPr>
              <a:t>[Frontend]</a:t>
            </a:r>
          </a:p>
          <a:p>
            <a:r>
              <a:rPr lang="en-IN" sz="1180" b="1" dirty="0">
                <a:solidFill>
                  <a:srgbClr val="002060"/>
                </a:solidFill>
                <a:latin typeface="Aptos" panose="020B0004020202020204" pitchFamily="34" charset="0"/>
              </a:rPr>
              <a:t>Host1</a:t>
            </a:r>
          </a:p>
          <a:p>
            <a:endParaRPr lang="en-IN" sz="1180" b="1" dirty="0">
              <a:solidFill>
                <a:srgbClr val="002060"/>
              </a:solidFill>
              <a:latin typeface="Aptos" panose="020B0004020202020204" pitchFamily="34" charset="0"/>
            </a:endParaRPr>
          </a:p>
          <a:p>
            <a:r>
              <a:rPr lang="en-IN" sz="1180" b="1" dirty="0">
                <a:solidFill>
                  <a:srgbClr val="002060"/>
                </a:solidFill>
                <a:latin typeface="Aptos" panose="020B0004020202020204" pitchFamily="34" charset="0"/>
              </a:rPr>
              <a:t>[</a:t>
            </a:r>
            <a:r>
              <a:rPr lang="en-IN" sz="1180" b="1" dirty="0" err="1">
                <a:solidFill>
                  <a:srgbClr val="002060"/>
                </a:solidFill>
                <a:latin typeface="Aptos" panose="020B0004020202020204" pitchFamily="34" charset="0"/>
              </a:rPr>
              <a:t>groupA</a:t>
            </a:r>
            <a:r>
              <a:rPr lang="en-IN" sz="1180" b="1" dirty="0">
                <a:solidFill>
                  <a:srgbClr val="002060"/>
                </a:solidFill>
                <a:latin typeface="Aptos" panose="020B0004020202020204" pitchFamily="34" charset="0"/>
              </a:rPr>
              <a:t>]</a:t>
            </a:r>
          </a:p>
          <a:p>
            <a:r>
              <a:rPr lang="en-IN" sz="1180" b="1" dirty="0">
                <a:solidFill>
                  <a:srgbClr val="002060"/>
                </a:solidFill>
                <a:latin typeface="Aptos" panose="020B0004020202020204" pitchFamily="34" charset="0"/>
              </a:rPr>
              <a:t>Host1</a:t>
            </a:r>
          </a:p>
          <a:p>
            <a:endParaRPr lang="en-IN" sz="1180" b="1" dirty="0">
              <a:solidFill>
                <a:srgbClr val="002060"/>
              </a:solidFill>
              <a:latin typeface="Aptos" panose="020B0004020202020204" pitchFamily="34" charset="0"/>
            </a:endParaRPr>
          </a:p>
          <a:p>
            <a:r>
              <a:rPr lang="en-IN" sz="1180" b="1" dirty="0">
                <a:solidFill>
                  <a:srgbClr val="002060"/>
                </a:solidFill>
                <a:latin typeface="Aptos" panose="020B0004020202020204" pitchFamily="34" charset="0"/>
              </a:rPr>
              <a:t>[</a:t>
            </a:r>
            <a:r>
              <a:rPr lang="en-IN" sz="1180" b="1" dirty="0" err="1">
                <a:solidFill>
                  <a:srgbClr val="002060"/>
                </a:solidFill>
                <a:latin typeface="Aptos" panose="020B0004020202020204" pitchFamily="34" charset="0"/>
              </a:rPr>
              <a:t>groupB</a:t>
            </a:r>
            <a:r>
              <a:rPr lang="en-IN" sz="1180" b="1" dirty="0">
                <a:solidFill>
                  <a:srgbClr val="002060"/>
                </a:solidFill>
                <a:latin typeface="Aptos" panose="020B0004020202020204" pitchFamily="34" charset="0"/>
              </a:rPr>
              <a:t>]</a:t>
            </a:r>
          </a:p>
          <a:p>
            <a:r>
              <a:rPr lang="en-IN" sz="1180" b="1" dirty="0">
                <a:solidFill>
                  <a:srgbClr val="002060"/>
                </a:solidFill>
                <a:latin typeface="Aptos" panose="020B0004020202020204" pitchFamily="34" charset="0"/>
              </a:rPr>
              <a:t>host1</a:t>
            </a:r>
          </a:p>
        </p:txBody>
      </p:sp>
      <p:sp>
        <p:nvSpPr>
          <p:cNvPr id="7" name="TextBox 6">
            <a:extLst>
              <a:ext uri="{FF2B5EF4-FFF2-40B4-BE49-F238E27FC236}">
                <a16:creationId xmlns:a16="http://schemas.microsoft.com/office/drawing/2014/main" id="{2CADB736-1762-C7A4-E13A-A7A574158B9E}"/>
              </a:ext>
            </a:extLst>
          </p:cNvPr>
          <p:cNvSpPr txBox="1"/>
          <p:nvPr/>
        </p:nvSpPr>
        <p:spPr>
          <a:xfrm>
            <a:off x="4564732" y="1204916"/>
            <a:ext cx="5563772" cy="369332"/>
          </a:xfrm>
          <a:prstGeom prst="rect">
            <a:avLst/>
          </a:prstGeom>
          <a:noFill/>
          <a:ln w="19050">
            <a:solidFill>
              <a:schemeClr val="accent1"/>
            </a:solidFill>
          </a:ln>
        </p:spPr>
        <p:txBody>
          <a:bodyPr wrap="square" rtlCol="0">
            <a:spAutoFit/>
          </a:bodyPr>
          <a:lstStyle/>
          <a:p>
            <a:pPr algn="ctr"/>
            <a:r>
              <a:rPr lang="en-US" b="1" dirty="0">
                <a:solidFill>
                  <a:schemeClr val="accent6">
                    <a:lumMod val="75000"/>
                  </a:schemeClr>
                </a:solidFill>
              </a:rPr>
              <a:t>Example</a:t>
            </a:r>
            <a:endParaRPr lang="en-IN" b="1" dirty="0">
              <a:solidFill>
                <a:schemeClr val="accent6">
                  <a:lumMod val="75000"/>
                </a:schemeClr>
              </a:solidFill>
            </a:endParaRPr>
          </a:p>
        </p:txBody>
      </p:sp>
    </p:spTree>
    <p:extLst>
      <p:ext uri="{BB962C8B-B14F-4D97-AF65-F5344CB8AC3E}">
        <p14:creationId xmlns:p14="http://schemas.microsoft.com/office/powerpoint/2010/main" val="763005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23B3-F355-151C-1CE9-6F9D1F8B2240}"/>
              </a:ext>
            </a:extLst>
          </p:cNvPr>
          <p:cNvSpPr>
            <a:spLocks noGrp="1"/>
          </p:cNvSpPr>
          <p:nvPr>
            <p:ph type="title"/>
          </p:nvPr>
        </p:nvSpPr>
        <p:spPr>
          <a:xfrm>
            <a:off x="426997" y="3018408"/>
            <a:ext cx="8961120" cy="3247475"/>
          </a:xfrm>
        </p:spPr>
        <p:txBody>
          <a:bodyPr anchor="b">
            <a:normAutofit/>
          </a:bodyPr>
          <a:lstStyle/>
          <a:p>
            <a:r>
              <a:rPr lang="en-US"/>
              <a:t>Variable Precedence in Ansible</a:t>
            </a:r>
          </a:p>
        </p:txBody>
      </p:sp>
      <p:pic>
        <p:nvPicPr>
          <p:cNvPr id="3" name="Picture 2" descr="Download Free ansible Icons - SVG and PNG formats">
            <a:extLst>
              <a:ext uri="{FF2B5EF4-FFF2-40B4-BE49-F238E27FC236}">
                <a16:creationId xmlns:a16="http://schemas.microsoft.com/office/drawing/2014/main" id="{9AA2225F-1EA7-3882-1657-AE522DC31E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20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DAD41-AE70-4F2B-7940-14F1D1B5C4B6}"/>
              </a:ext>
            </a:extLst>
          </p:cNvPr>
          <p:cNvSpPr>
            <a:spLocks noGrp="1"/>
          </p:cNvSpPr>
          <p:nvPr>
            <p:ph type="title"/>
          </p:nvPr>
        </p:nvSpPr>
        <p:spPr>
          <a:xfrm>
            <a:off x="419559" y="444023"/>
            <a:ext cx="6664559" cy="1217340"/>
          </a:xfrm>
        </p:spPr>
        <p:txBody>
          <a:bodyPr anchor="t">
            <a:normAutofit/>
          </a:bodyPr>
          <a:lstStyle/>
          <a:p>
            <a:r>
              <a:rPr lang="en-US" dirty="0"/>
              <a:t>Variable Precedence Impact and Hierarchy</a:t>
            </a:r>
          </a:p>
        </p:txBody>
      </p:sp>
      <p:sp>
        <p:nvSpPr>
          <p:cNvPr id="4" name="Content Placeholder 3">
            <a:extLst>
              <a:ext uri="{FF2B5EF4-FFF2-40B4-BE49-F238E27FC236}">
                <a16:creationId xmlns:a16="http://schemas.microsoft.com/office/drawing/2014/main" id="{AC2A4379-671F-8374-05C2-DEC5AE61AD6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5372" y="1661362"/>
            <a:ext cx="5877716" cy="3788461"/>
          </a:xfrm>
        </p:spPr>
        <p:txBody>
          <a:bodyPr>
            <a:normAutofit fontScale="92500" lnSpcReduction="10000"/>
          </a:bodyPr>
          <a:lstStyle/>
          <a:p>
            <a:pPr marL="0" indent="0">
              <a:lnSpc>
                <a:spcPct val="110000"/>
              </a:lnSpc>
              <a:spcBef>
                <a:spcPts val="2500"/>
              </a:spcBef>
              <a:buFont typeface="Arial" panose="020B0604020202020204" pitchFamily="34" charset="0"/>
              <a:buNone/>
            </a:pPr>
            <a:r>
              <a:rPr lang="en-US" b="1" dirty="0"/>
              <a:t>Variable Definition Locations</a:t>
            </a:r>
          </a:p>
          <a:p>
            <a:pPr marL="0" lvl="1" indent="0">
              <a:lnSpc>
                <a:spcPct val="110000"/>
              </a:lnSpc>
              <a:buFont typeface="Arial" panose="020B0604020202020204" pitchFamily="34" charset="0"/>
              <a:buNone/>
            </a:pPr>
            <a:r>
              <a:rPr dirty="0"/>
              <a:t>Variables can be defined in group_vars and host_vars directories to manage configurations effectively.</a:t>
            </a:r>
            <a:endParaRPr lang="en-US" dirty="0"/>
          </a:p>
          <a:p>
            <a:pPr marL="0" indent="0">
              <a:lnSpc>
                <a:spcPct val="110000"/>
              </a:lnSpc>
              <a:spcBef>
                <a:spcPts val="2500"/>
              </a:spcBef>
              <a:buFont typeface="Arial" panose="020B0604020202020204" pitchFamily="34" charset="0"/>
              <a:buNone/>
            </a:pPr>
            <a:r>
              <a:rPr lang="en-US" b="1" dirty="0"/>
              <a:t>Precedence Hierarchy Order</a:t>
            </a:r>
          </a:p>
          <a:p>
            <a:pPr marL="0" lvl="1" indent="0">
              <a:lnSpc>
                <a:spcPct val="110000"/>
              </a:lnSpc>
              <a:buFont typeface="Arial" panose="020B0604020202020204" pitchFamily="34" charset="0"/>
              <a:buNone/>
            </a:pPr>
            <a:r>
              <a:rPr dirty="0"/>
              <a:t>Ansible applies variables starting from 'all' group, then parent, child, and same-level groups in order.</a:t>
            </a:r>
            <a:endParaRPr lang="en-US" dirty="0"/>
          </a:p>
          <a:p>
            <a:pPr marL="0" indent="0">
              <a:lnSpc>
                <a:spcPct val="110000"/>
              </a:lnSpc>
              <a:spcBef>
                <a:spcPts val="2500"/>
              </a:spcBef>
              <a:buFont typeface="Arial" panose="020B0604020202020204" pitchFamily="34" charset="0"/>
              <a:buNone/>
            </a:pPr>
            <a:r>
              <a:rPr lang="en-US" b="1" dirty="0"/>
              <a:t>Same-Level Group Variable Merge</a:t>
            </a:r>
          </a:p>
          <a:p>
            <a:pPr marL="0" lvl="1" indent="0">
              <a:lnSpc>
                <a:spcPct val="110000"/>
              </a:lnSpc>
              <a:buFont typeface="Arial" panose="020B0604020202020204" pitchFamily="34" charset="0"/>
              <a:buNone/>
            </a:pPr>
            <a:r>
              <a:rPr dirty="0"/>
              <a:t>Variables from same-level groups merge alphabetically, with later groups overriding earlier ones if keys clash.</a:t>
            </a:r>
            <a:endParaRPr lang="en-US" dirty="0"/>
          </a:p>
          <a:p>
            <a:pPr marL="0" indent="0">
              <a:lnSpc>
                <a:spcPct val="110000"/>
              </a:lnSpc>
              <a:spcBef>
                <a:spcPts val="2500"/>
              </a:spcBef>
              <a:buFont typeface="Arial" panose="020B0604020202020204" pitchFamily="34" charset="0"/>
              <a:buNone/>
            </a:pPr>
            <a:r>
              <a:rPr lang="en-US" b="1" dirty="0"/>
              <a:t>Host-Specific Variable Priority</a:t>
            </a:r>
          </a:p>
          <a:p>
            <a:pPr marL="0" lvl="1" indent="0">
              <a:lnSpc>
                <a:spcPct val="110000"/>
              </a:lnSpc>
              <a:buFont typeface="Arial" panose="020B0604020202020204" pitchFamily="34" charset="0"/>
              <a:buNone/>
            </a:pPr>
            <a:r>
              <a:rPr dirty="0"/>
              <a:t>Host-specific variables have the </a:t>
            </a:r>
            <a:r>
              <a:rPr sz="1600" dirty="0"/>
              <a:t>highest</a:t>
            </a:r>
            <a:r>
              <a:rPr dirty="0"/>
              <a:t> precedence and override any group-level variables for precision.</a:t>
            </a:r>
            <a:endParaRPr lang="en-US" dirty="0"/>
          </a:p>
        </p:txBody>
      </p:sp>
      <p:pic>
        <p:nvPicPr>
          <p:cNvPr id="8" name="Picture 7" descr="Download Free ansible Icons - SVG and PNG formats">
            <a:extLst>
              <a:ext uri="{FF2B5EF4-FFF2-40B4-BE49-F238E27FC236}">
                <a16:creationId xmlns:a16="http://schemas.microsoft.com/office/drawing/2014/main" id="{93A44827-7D2E-5484-03C4-60D6B503A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35591"/>
            <a:ext cx="1163648" cy="54864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variable_precedence_flow.png">
            <a:extLst>
              <a:ext uri="{FF2B5EF4-FFF2-40B4-BE49-F238E27FC236}">
                <a16:creationId xmlns:a16="http://schemas.microsoft.com/office/drawing/2014/main" id="{9EAA673E-9F84-9D6F-5428-CDBDBA37B615}"/>
              </a:ext>
            </a:extLst>
          </p:cNvPr>
          <p:cNvPicPr>
            <a:picLocks noChangeAspect="1"/>
          </p:cNvPicPr>
          <p:nvPr/>
        </p:nvPicPr>
        <p:blipFill>
          <a:blip r:embed="rId4"/>
          <a:stretch>
            <a:fillRect/>
          </a:stretch>
        </p:blipFill>
        <p:spPr>
          <a:xfrm>
            <a:off x="6709304" y="1325880"/>
            <a:ext cx="4693862" cy="3683246"/>
          </a:xfrm>
          <a:prstGeom prst="rect">
            <a:avLst/>
          </a:prstGeom>
          <a:ln w="19050">
            <a:solidFill>
              <a:schemeClr val="accent6"/>
            </a:solidFill>
          </a:ln>
        </p:spPr>
      </p:pic>
    </p:spTree>
    <p:extLst>
      <p:ext uri="{BB962C8B-B14F-4D97-AF65-F5344CB8AC3E}">
        <p14:creationId xmlns:p14="http://schemas.microsoft.com/office/powerpoint/2010/main" val="5336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54E15-428E-738E-2F0A-17B07E1089E0}"/>
              </a:ext>
            </a:extLst>
          </p:cNvPr>
          <p:cNvSpPr>
            <a:spLocks noGrp="1"/>
          </p:cNvSpPr>
          <p:nvPr>
            <p:ph type="title"/>
          </p:nvPr>
        </p:nvSpPr>
        <p:spPr>
          <a:xfrm>
            <a:off x="5571746" y="263129"/>
            <a:ext cx="5300470" cy="478971"/>
          </a:xfrm>
        </p:spPr>
        <p:txBody>
          <a:bodyPr anchor="ctr">
            <a:normAutofit/>
          </a:bodyPr>
          <a:lstStyle/>
          <a:p>
            <a:r>
              <a:rPr lang="en-US" sz="1800" dirty="0"/>
              <a:t>Alphabetical Merge and Group Priority</a:t>
            </a:r>
          </a:p>
        </p:txBody>
      </p:sp>
      <p:pic>
        <p:nvPicPr>
          <p:cNvPr id="5" name="Content Placeholder 4" descr="Social network">
            <a:extLst>
              <a:ext uri="{FF2B5EF4-FFF2-40B4-BE49-F238E27FC236}">
                <a16:creationId xmlns:a16="http://schemas.microsoft.com/office/drawing/2014/main" id="{6674F9A9-C89C-4EFB-8A58-ADD3C5CC9122}"/>
              </a:ext>
            </a:extLst>
          </p:cNvPr>
          <p:cNvPicPr>
            <a:picLocks noGrp="1" noChangeAspect="1"/>
          </p:cNvPicPr>
          <p:nvPr>
            <p:ph type="pic" sz="quarter" idx="13"/>
          </p:nvPr>
        </p:nvPicPr>
        <p:blipFill>
          <a:blip r:embed="rId3"/>
          <a:srcRect l="10574" r="7746" b="1"/>
          <a:stretch>
            <a:fillRect/>
          </a:stretch>
        </p:blipFill>
        <p:spPr>
          <a:xfrm>
            <a:off x="249936" y="149352"/>
            <a:ext cx="5017008" cy="6096000"/>
          </a:xfrm>
          <a:prstGeom prst="rect">
            <a:avLst/>
          </a:prstGeom>
          <a:noFill/>
        </p:spPr>
      </p:pic>
      <p:sp>
        <p:nvSpPr>
          <p:cNvPr id="4" name="Content Placeholder 3">
            <a:extLst>
              <a:ext uri="{FF2B5EF4-FFF2-40B4-BE49-F238E27FC236}">
                <a16:creationId xmlns:a16="http://schemas.microsoft.com/office/drawing/2014/main" id="{42B1261D-4104-DC10-AB8B-50CAAC7F42A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9468" y="742100"/>
            <a:ext cx="5853684" cy="2751626"/>
          </a:xfrm>
        </p:spPr>
        <p:style>
          <a:lnRef idx="2">
            <a:schemeClr val="accent2"/>
          </a:lnRef>
          <a:fillRef idx="1">
            <a:schemeClr val="lt1"/>
          </a:fillRef>
          <a:effectRef idx="0">
            <a:schemeClr val="accent2"/>
          </a:effectRef>
          <a:fontRef idx="minor">
            <a:schemeClr val="dk1"/>
          </a:fontRef>
        </p:style>
        <p:txBody>
          <a:bodyPr>
            <a:noAutofit/>
          </a:bodyPr>
          <a:lstStyle/>
          <a:p>
            <a:pPr marL="0" indent="0">
              <a:spcBef>
                <a:spcPts val="2500"/>
              </a:spcBef>
              <a:buFont typeface="Arial" panose="020B0604020202020204" pitchFamily="34" charset="0"/>
              <a:buNone/>
            </a:pPr>
            <a:r>
              <a:rPr lang="en-US" sz="1100" b="1" dirty="0"/>
              <a:t>Alphabetical Variable Resolution</a:t>
            </a:r>
          </a:p>
          <a:p>
            <a:pPr marL="0" lvl="1" indent="0">
              <a:buFont typeface="Arial" panose="020B0604020202020204" pitchFamily="34" charset="0"/>
              <a:buNone/>
            </a:pPr>
            <a:r>
              <a:rPr sz="1100" dirty="0"/>
              <a:t>Ansible merges variables alphabetically when a host belongs to multiple groups at the same level, resolving conflicts predictably.</a:t>
            </a:r>
            <a:endParaRPr lang="en-US" sz="1100" dirty="0"/>
          </a:p>
          <a:p>
            <a:pPr marL="0" indent="0">
              <a:spcBef>
                <a:spcPts val="2500"/>
              </a:spcBef>
              <a:buFont typeface="Arial" panose="020B0604020202020204" pitchFamily="34" charset="0"/>
              <a:buNone/>
            </a:pPr>
            <a:r>
              <a:rPr lang="en-US" sz="1100" b="1" dirty="0"/>
              <a:t>Group Priority Override</a:t>
            </a:r>
          </a:p>
          <a:p>
            <a:pPr marL="0" lvl="1" indent="0">
              <a:buFont typeface="Arial" panose="020B0604020202020204" pitchFamily="34" charset="0"/>
              <a:buNone/>
            </a:pPr>
            <a:r>
              <a:rPr sz="1100" dirty="0"/>
              <a:t>The '</a:t>
            </a:r>
            <a:r>
              <a:rPr sz="1100" dirty="0" err="1"/>
              <a:t>ansible_group_priority</a:t>
            </a:r>
            <a:r>
              <a:rPr sz="1100" dirty="0"/>
              <a:t>' setting overrides alphabetical merging, allowing manual control over variable precedence.</a:t>
            </a:r>
            <a:endParaRPr lang="en-US" sz="1100" dirty="0"/>
          </a:p>
          <a:p>
            <a:pPr marL="0" indent="0">
              <a:spcBef>
                <a:spcPts val="2500"/>
              </a:spcBef>
              <a:buFont typeface="Arial" panose="020B0604020202020204" pitchFamily="34" charset="0"/>
              <a:buNone/>
            </a:pPr>
            <a:r>
              <a:rPr lang="en-US" sz="1100" b="1" dirty="0"/>
              <a:t>Complex Environment Management</a:t>
            </a:r>
          </a:p>
          <a:p>
            <a:pPr marL="0" lvl="1" indent="0">
              <a:buFont typeface="Arial" panose="020B0604020202020204" pitchFamily="34" charset="0"/>
              <a:buNone/>
            </a:pPr>
            <a:r>
              <a:rPr sz="1100" dirty="0"/>
              <a:t>This mechanism helps manage complex environments with overlapping groups defining similar variables more predictably.</a:t>
            </a:r>
            <a:endParaRPr lang="en-US" sz="1100" dirty="0"/>
          </a:p>
        </p:txBody>
      </p:sp>
      <p:pic>
        <p:nvPicPr>
          <p:cNvPr id="3" name="Picture 2" descr="b8e618f562.png">
            <a:extLst>
              <a:ext uri="{FF2B5EF4-FFF2-40B4-BE49-F238E27FC236}">
                <a16:creationId xmlns:a16="http://schemas.microsoft.com/office/drawing/2014/main" id="{E533F090-0EB3-580B-CA02-773637C7EEEE}"/>
              </a:ext>
            </a:extLst>
          </p:cNvPr>
          <p:cNvPicPr>
            <a:picLocks noChangeAspect="1"/>
          </p:cNvPicPr>
          <p:nvPr/>
        </p:nvPicPr>
        <p:blipFill>
          <a:blip r:embed="rId4"/>
          <a:stretch>
            <a:fillRect/>
          </a:stretch>
        </p:blipFill>
        <p:spPr>
          <a:xfrm>
            <a:off x="5649468" y="3588126"/>
            <a:ext cx="2587691" cy="2786870"/>
          </a:xfrm>
          <a:prstGeom prst="rect">
            <a:avLst/>
          </a:prstGeom>
          <a:ln w="19050">
            <a:solidFill>
              <a:schemeClr val="accent2">
                <a:lumMod val="75000"/>
              </a:schemeClr>
            </a:solidFill>
          </a:ln>
        </p:spPr>
      </p:pic>
      <p:pic>
        <p:nvPicPr>
          <p:cNvPr id="9" name="Picture 8" descr="Download Free ansible Icons - SVG and PNG formats">
            <a:extLst>
              <a:ext uri="{FF2B5EF4-FFF2-40B4-BE49-F238E27FC236}">
                <a16:creationId xmlns:a16="http://schemas.microsoft.com/office/drawing/2014/main" id="{1B22393C-B9A8-D07D-520A-EC087D4407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75850" y="99060"/>
            <a:ext cx="1163648" cy="5486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lphabetical_vs_priority.png">
            <a:extLst>
              <a:ext uri="{FF2B5EF4-FFF2-40B4-BE49-F238E27FC236}">
                <a16:creationId xmlns:a16="http://schemas.microsoft.com/office/drawing/2014/main" id="{B95D9645-B14B-78C4-8126-6F83FB05F91A}"/>
              </a:ext>
            </a:extLst>
          </p:cNvPr>
          <p:cNvPicPr>
            <a:picLocks noChangeAspect="1"/>
          </p:cNvPicPr>
          <p:nvPr/>
        </p:nvPicPr>
        <p:blipFill>
          <a:blip r:embed="rId6"/>
          <a:stretch>
            <a:fillRect/>
          </a:stretch>
        </p:blipFill>
        <p:spPr>
          <a:xfrm>
            <a:off x="8421624" y="3588126"/>
            <a:ext cx="3081528" cy="2786870"/>
          </a:xfrm>
          <a:prstGeom prst="rect">
            <a:avLst/>
          </a:prstGeom>
          <a:ln w="12700">
            <a:solidFill>
              <a:schemeClr val="accent6"/>
            </a:solidFill>
          </a:ln>
        </p:spPr>
      </p:pic>
    </p:spTree>
    <p:extLst>
      <p:ext uri="{BB962C8B-B14F-4D97-AF65-F5344CB8AC3E}">
        <p14:creationId xmlns:p14="http://schemas.microsoft.com/office/powerpoint/2010/main" val="162510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B6D46-6010-15FE-3945-794A559D4D2E}"/>
              </a:ext>
            </a:extLst>
          </p:cNvPr>
          <p:cNvSpPr>
            <a:spLocks noGrp="1"/>
          </p:cNvSpPr>
          <p:nvPr>
            <p:ph type="title"/>
          </p:nvPr>
        </p:nvSpPr>
        <p:spPr>
          <a:xfrm>
            <a:off x="426997" y="3018408"/>
            <a:ext cx="8961120" cy="3247475"/>
          </a:xfrm>
        </p:spPr>
        <p:txBody>
          <a:bodyPr anchor="b">
            <a:normAutofit/>
          </a:bodyPr>
          <a:lstStyle/>
          <a:p>
            <a:r>
              <a:rPr lang="en-US"/>
              <a:t>Real-World Applications</a:t>
            </a:r>
          </a:p>
        </p:txBody>
      </p:sp>
      <p:pic>
        <p:nvPicPr>
          <p:cNvPr id="3" name="Picture 2" descr="Download Free ansible Icons - SVG and PNG formats">
            <a:extLst>
              <a:ext uri="{FF2B5EF4-FFF2-40B4-BE49-F238E27FC236}">
                <a16:creationId xmlns:a16="http://schemas.microsoft.com/office/drawing/2014/main" id="{FA7F9A70-D923-9BC1-7AB4-173AE38D9C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0"/>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68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99B1F-0794-2A90-FE5E-C20B6637F0B7}"/>
              </a:ext>
            </a:extLst>
          </p:cNvPr>
          <p:cNvSpPr>
            <a:spLocks noGrp="1"/>
          </p:cNvSpPr>
          <p:nvPr>
            <p:ph type="title"/>
          </p:nvPr>
        </p:nvSpPr>
        <p:spPr>
          <a:xfrm>
            <a:off x="4848555" y="512011"/>
            <a:ext cx="6792069" cy="1259920"/>
          </a:xfrm>
        </p:spPr>
        <p:txBody>
          <a:bodyPr anchor="b">
            <a:normAutofit/>
          </a:bodyPr>
          <a:lstStyle/>
          <a:p>
            <a:r>
              <a:rPr lang="en-US"/>
              <a:t>Using Precedence in Staging and Production</a:t>
            </a:r>
          </a:p>
        </p:txBody>
      </p:sp>
      <p:pic>
        <p:nvPicPr>
          <p:cNvPr id="5" name="Content Placeholder 4" descr="Artificial intelligence recognition for warehouse security. Machine learning, person and object detection.">
            <a:extLst>
              <a:ext uri="{FF2B5EF4-FFF2-40B4-BE49-F238E27FC236}">
                <a16:creationId xmlns:a16="http://schemas.microsoft.com/office/drawing/2014/main" id="{47407464-9D1F-4789-9C37-F37C1CC8D75C}"/>
              </a:ext>
            </a:extLst>
          </p:cNvPr>
          <p:cNvPicPr>
            <a:picLocks noGrp="1" noChangeAspect="1"/>
          </p:cNvPicPr>
          <p:nvPr>
            <p:ph type="pic" sz="quarter" idx="13"/>
          </p:nvPr>
        </p:nvPicPr>
        <p:blipFill>
          <a:blip r:embed="rId3"/>
          <a:srcRect l="22503" r="39750"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CB03B336-2DEF-9123-0072-C6865E7C763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810045" cy="4175760"/>
          </a:xfrm>
        </p:spPr>
        <p:style>
          <a:lnRef idx="2">
            <a:schemeClr val="accent2"/>
          </a:lnRef>
          <a:fillRef idx="1">
            <a:schemeClr val="lt1"/>
          </a:fillRef>
          <a:effectRef idx="0">
            <a:schemeClr val="accent2"/>
          </a:effectRef>
          <a:fontRef idx="minor">
            <a:schemeClr val="dk1"/>
          </a:fontRef>
        </p:style>
        <p:txBody>
          <a:bodyPr>
            <a:normAutofit/>
          </a:bodyPr>
          <a:lstStyle/>
          <a:p>
            <a:pPr marL="0" indent="0">
              <a:lnSpc>
                <a:spcPct val="110000"/>
              </a:lnSpc>
              <a:spcBef>
                <a:spcPts val="2500"/>
              </a:spcBef>
              <a:buFont typeface="Arial" panose="020B0604020202020204" pitchFamily="34" charset="0"/>
              <a:buNone/>
            </a:pPr>
            <a:r>
              <a:rPr lang="en-US" b="1" dirty="0"/>
              <a:t>Variable Precedence Concept</a:t>
            </a:r>
          </a:p>
          <a:p>
            <a:pPr marL="0" lvl="1" indent="0">
              <a:lnSpc>
                <a:spcPct val="110000"/>
              </a:lnSpc>
              <a:buFont typeface="Arial" panose="020B0604020202020204" pitchFamily="34" charset="0"/>
              <a:buNone/>
            </a:pPr>
            <a:r>
              <a:rPr dirty="0"/>
              <a:t>Variable precedence differentiates staging and production configurations by overriding default settings as needed.</a:t>
            </a:r>
            <a:endParaRPr lang="en-US" dirty="0"/>
          </a:p>
          <a:p>
            <a:pPr marL="0" indent="0">
              <a:lnSpc>
                <a:spcPct val="110000"/>
              </a:lnSpc>
              <a:spcBef>
                <a:spcPts val="2500"/>
              </a:spcBef>
              <a:buFont typeface="Arial" panose="020B0604020202020204" pitchFamily="34" charset="0"/>
              <a:buNone/>
            </a:pPr>
            <a:r>
              <a:rPr lang="en-US" b="1" dirty="0"/>
              <a:t>Environment-Specific Variables</a:t>
            </a:r>
          </a:p>
          <a:p>
            <a:pPr marL="0" lvl="1" indent="0">
              <a:lnSpc>
                <a:spcPct val="110000"/>
              </a:lnSpc>
              <a:buFont typeface="Arial" panose="020B0604020202020204" pitchFamily="34" charset="0"/>
              <a:buNone/>
            </a:pPr>
            <a:r>
              <a:rPr dirty="0"/>
              <a:t>Environment variables in group_vars/</a:t>
            </a:r>
            <a:r>
              <a:rPr dirty="0" err="1"/>
              <a:t>staging.yml</a:t>
            </a:r>
            <a:r>
              <a:rPr dirty="0"/>
              <a:t> enable Ansible to apply correct settings for staging environments.</a:t>
            </a:r>
            <a:endParaRPr lang="en-US" dirty="0"/>
          </a:p>
          <a:p>
            <a:pPr marL="0" indent="0">
              <a:lnSpc>
                <a:spcPct val="110000"/>
              </a:lnSpc>
              <a:spcBef>
                <a:spcPts val="2500"/>
              </a:spcBef>
              <a:buFont typeface="Arial" panose="020B0604020202020204" pitchFamily="34" charset="0"/>
              <a:buNone/>
            </a:pPr>
            <a:r>
              <a:rPr lang="en-US" b="1" dirty="0"/>
              <a:t>Host-Specific Configuration</a:t>
            </a:r>
          </a:p>
          <a:p>
            <a:pPr marL="0" lvl="1" indent="0">
              <a:lnSpc>
                <a:spcPct val="110000"/>
              </a:lnSpc>
              <a:buFont typeface="Arial" panose="020B0604020202020204" pitchFamily="34" charset="0"/>
              <a:buNone/>
            </a:pPr>
            <a:r>
              <a:rPr dirty="0"/>
              <a:t>Host-specific variables allow fine-tuning of server settings, such as SSH ports and application parameters.</a:t>
            </a:r>
            <a:endParaRPr lang="en-US" dirty="0"/>
          </a:p>
          <a:p>
            <a:pPr marL="0" indent="0">
              <a:lnSpc>
                <a:spcPct val="110000"/>
              </a:lnSpc>
              <a:spcBef>
                <a:spcPts val="2500"/>
              </a:spcBef>
              <a:buFont typeface="Arial" panose="020B0604020202020204" pitchFamily="34" charset="0"/>
              <a:buNone/>
            </a:pPr>
            <a:r>
              <a:rPr lang="en-US" b="1" dirty="0"/>
              <a:t>Dynamic Playbook Behavior</a:t>
            </a:r>
          </a:p>
          <a:p>
            <a:pPr marL="0" lvl="1" indent="0">
              <a:lnSpc>
                <a:spcPct val="110000"/>
              </a:lnSpc>
              <a:buFont typeface="Arial" panose="020B0604020202020204" pitchFamily="34" charset="0"/>
              <a:buNone/>
            </a:pPr>
            <a:r>
              <a:rPr dirty="0"/>
              <a:t>A single playbook dynamically adjusts behavior based on the target environment, improving deployment efficiency.</a:t>
            </a:r>
            <a:endParaRPr lang="en-US" dirty="0"/>
          </a:p>
        </p:txBody>
      </p:sp>
      <p:pic>
        <p:nvPicPr>
          <p:cNvPr id="7" name="Picture 6" descr="Download Free ansible Icons - SVG and PNG formats">
            <a:extLst>
              <a:ext uri="{FF2B5EF4-FFF2-40B4-BE49-F238E27FC236}">
                <a16:creationId xmlns:a16="http://schemas.microsoft.com/office/drawing/2014/main" id="{F3EC369F-EF91-3662-5DCF-32D9466D90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18520" y="27326"/>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90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B7B2-25DF-FB9F-5AEE-A4ADDC08372E}"/>
              </a:ext>
            </a:extLst>
          </p:cNvPr>
          <p:cNvSpPr>
            <a:spLocks noGrp="1"/>
          </p:cNvSpPr>
          <p:nvPr>
            <p:ph type="title"/>
          </p:nvPr>
        </p:nvSpPr>
        <p:spPr>
          <a:xfrm>
            <a:off x="426997" y="3018408"/>
            <a:ext cx="8961120" cy="3247475"/>
          </a:xfrm>
        </p:spPr>
        <p:txBody>
          <a:bodyPr anchor="b">
            <a:normAutofit/>
          </a:bodyPr>
          <a:lstStyle/>
          <a:p>
            <a:r>
              <a:rPr lang="en-US"/>
              <a:t>Demonstration</a:t>
            </a:r>
          </a:p>
        </p:txBody>
      </p:sp>
      <p:pic>
        <p:nvPicPr>
          <p:cNvPr id="3" name="Picture 2" descr="Download Free ansible Icons - SVG and PNG formats">
            <a:extLst>
              <a:ext uri="{FF2B5EF4-FFF2-40B4-BE49-F238E27FC236}">
                <a16:creationId xmlns:a16="http://schemas.microsoft.com/office/drawing/2014/main" id="{7283C04F-53EE-6488-32F9-91D6F9EC81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0"/>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73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8867-7873-5CAC-D4F9-28304FFCB82B}"/>
              </a:ext>
            </a:extLst>
          </p:cNvPr>
          <p:cNvSpPr>
            <a:spLocks noGrp="1"/>
          </p:cNvSpPr>
          <p:nvPr>
            <p:ph type="title"/>
          </p:nvPr>
        </p:nvSpPr>
        <p:spPr>
          <a:xfrm>
            <a:off x="8029814" y="512011"/>
            <a:ext cx="3628786" cy="1259920"/>
          </a:xfrm>
        </p:spPr>
        <p:txBody>
          <a:bodyPr anchor="b">
            <a:normAutofit/>
          </a:bodyPr>
          <a:lstStyle/>
          <a:p>
            <a:r>
              <a:rPr lang="en-US"/>
              <a:t>Step-by-Step Demo Plan</a:t>
            </a:r>
          </a:p>
        </p:txBody>
      </p:sp>
      <p:pic>
        <p:nvPicPr>
          <p:cNvPr id="5" name="Content Placeholder 4" descr="Shipping and logistics concept,cargo box">
            <a:extLst>
              <a:ext uri="{FF2B5EF4-FFF2-40B4-BE49-F238E27FC236}">
                <a16:creationId xmlns:a16="http://schemas.microsoft.com/office/drawing/2014/main" id="{1F2C6C73-146E-42A5-A2FB-4ECB967DFA02}"/>
              </a:ext>
            </a:extLst>
          </p:cNvPr>
          <p:cNvPicPr>
            <a:picLocks noGrp="1" noChangeAspect="1"/>
          </p:cNvPicPr>
          <p:nvPr>
            <p:ph type="pic" sz="quarter" idx="13"/>
          </p:nvPr>
        </p:nvPicPr>
        <p:blipFill>
          <a:blip r:embed="rId3"/>
          <a:stretch/>
        </p:blipFill>
        <p:spPr>
          <a:xfrm>
            <a:off x="533400" y="904397"/>
            <a:ext cx="7086600" cy="5049202"/>
          </a:xfrm>
          <a:prstGeom prst="rect">
            <a:avLst/>
          </a:prstGeom>
          <a:noFill/>
        </p:spPr>
      </p:pic>
      <p:sp>
        <p:nvSpPr>
          <p:cNvPr id="4" name="Content Placeholder 3">
            <a:extLst>
              <a:ext uri="{FF2B5EF4-FFF2-40B4-BE49-F238E27FC236}">
                <a16:creationId xmlns:a16="http://schemas.microsoft.com/office/drawing/2014/main" id="{92A329CE-15D5-4668-4B58-380D373B055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style>
          <a:lnRef idx="2">
            <a:schemeClr val="accent2"/>
          </a:lnRef>
          <a:fillRef idx="1">
            <a:schemeClr val="lt1"/>
          </a:fillRef>
          <a:effectRef idx="0">
            <a:schemeClr val="accent2"/>
          </a:effectRef>
          <a:fontRef idx="minor">
            <a:schemeClr val="dk1"/>
          </a:fontRef>
        </p:style>
        <p:txBody>
          <a:bodyPr>
            <a:normAutofit/>
          </a:bodyPr>
          <a:lstStyle/>
          <a:p>
            <a:pPr marL="0" indent="0">
              <a:lnSpc>
                <a:spcPct val="110000"/>
              </a:lnSpc>
              <a:spcBef>
                <a:spcPts val="2500"/>
              </a:spcBef>
              <a:buFont typeface="Arial" panose="020B0604020202020204" pitchFamily="34" charset="0"/>
              <a:buNone/>
            </a:pPr>
            <a:r>
              <a:rPr lang="en-US" b="1" dirty="0"/>
              <a:t>Inventory Setup</a:t>
            </a:r>
          </a:p>
          <a:p>
            <a:pPr marL="0" lvl="1" indent="0">
              <a:lnSpc>
                <a:spcPct val="110000"/>
              </a:lnSpc>
              <a:buFont typeface="Arial" panose="020B0604020202020204" pitchFamily="34" charset="0"/>
              <a:buNone/>
            </a:pPr>
            <a:r>
              <a:rPr dirty="0"/>
              <a:t>Create an inventory.ini file with parent-child and same-level groups for Ansible testing.</a:t>
            </a:r>
            <a:endParaRPr lang="en-US" dirty="0"/>
          </a:p>
          <a:p>
            <a:pPr marL="0" indent="0">
              <a:lnSpc>
                <a:spcPct val="110000"/>
              </a:lnSpc>
              <a:spcBef>
                <a:spcPts val="2500"/>
              </a:spcBef>
              <a:buFont typeface="Arial" panose="020B0604020202020204" pitchFamily="34" charset="0"/>
              <a:buNone/>
            </a:pPr>
            <a:r>
              <a:rPr lang="en-US" b="1" dirty="0"/>
              <a:t>Variable Definition</a:t>
            </a:r>
          </a:p>
          <a:p>
            <a:pPr marL="0" lvl="1" indent="0">
              <a:lnSpc>
                <a:spcPct val="110000"/>
              </a:lnSpc>
              <a:buFont typeface="Arial" panose="020B0604020202020204" pitchFamily="34" charset="0"/>
              <a:buNone/>
            </a:pPr>
            <a:r>
              <a:rPr dirty="0"/>
              <a:t>Define variables in group_vars and host_vars with differing values for testing precedence.</a:t>
            </a:r>
            <a:endParaRPr lang="en-US" dirty="0"/>
          </a:p>
          <a:p>
            <a:pPr marL="0" indent="0">
              <a:lnSpc>
                <a:spcPct val="110000"/>
              </a:lnSpc>
              <a:spcBef>
                <a:spcPts val="2500"/>
              </a:spcBef>
              <a:buFont typeface="Arial" panose="020B0604020202020204" pitchFamily="34" charset="0"/>
              <a:buNone/>
            </a:pPr>
            <a:r>
              <a:rPr lang="en-US" b="1" dirty="0"/>
              <a:t>Inventory Visualization</a:t>
            </a:r>
          </a:p>
          <a:p>
            <a:pPr marL="0" lvl="1" indent="0">
              <a:lnSpc>
                <a:spcPct val="110000"/>
              </a:lnSpc>
              <a:buFont typeface="Arial" panose="020B0604020202020204" pitchFamily="34" charset="0"/>
              <a:buNone/>
            </a:pPr>
            <a:r>
              <a:rPr dirty="0"/>
              <a:t>Use ansible-inventory commands to visualize inventory structure and variable resolution.</a:t>
            </a:r>
            <a:endParaRPr lang="en-US" dirty="0"/>
          </a:p>
          <a:p>
            <a:pPr marL="0" indent="0">
              <a:lnSpc>
                <a:spcPct val="110000"/>
              </a:lnSpc>
              <a:spcBef>
                <a:spcPts val="2500"/>
              </a:spcBef>
              <a:buFont typeface="Arial" panose="020B0604020202020204" pitchFamily="34" charset="0"/>
              <a:buNone/>
            </a:pPr>
            <a:r>
              <a:rPr lang="en-US" b="1" dirty="0"/>
              <a:t>Inventory Conversion &amp; Validation</a:t>
            </a:r>
          </a:p>
          <a:p>
            <a:pPr marL="0" lvl="1" indent="0">
              <a:lnSpc>
                <a:spcPct val="110000"/>
              </a:lnSpc>
              <a:buFont typeface="Arial" panose="020B0604020202020204" pitchFamily="34" charset="0"/>
              <a:buNone/>
            </a:pPr>
            <a:r>
              <a:rPr dirty="0"/>
              <a:t>Convert inventory formats and run a playbook to validate variable setup with ping.</a:t>
            </a:r>
            <a:endParaRPr lang="en-US" dirty="0"/>
          </a:p>
        </p:txBody>
      </p:sp>
      <p:pic>
        <p:nvPicPr>
          <p:cNvPr id="3" name="Picture 2" descr="Download Free ansible Icons - SVG and PNG formats">
            <a:extLst>
              <a:ext uri="{FF2B5EF4-FFF2-40B4-BE49-F238E27FC236}">
                <a16:creationId xmlns:a16="http://schemas.microsoft.com/office/drawing/2014/main" id="{794A60A6-91DF-E42B-8FD1-E50F0A3BB9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4766" y="113331"/>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23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C3BC8-7498-5612-97B4-AFCF0BE48E4A}"/>
              </a:ext>
            </a:extLst>
          </p:cNvPr>
          <p:cNvSpPr>
            <a:spLocks noGrp="1"/>
          </p:cNvSpPr>
          <p:nvPr>
            <p:ph type="title"/>
          </p:nvPr>
        </p:nvSpPr>
        <p:spPr>
          <a:xfrm>
            <a:off x="426997" y="3018408"/>
            <a:ext cx="8961120" cy="3247475"/>
          </a:xfrm>
        </p:spPr>
        <p:txBody>
          <a:bodyPr anchor="b">
            <a:normAutofit/>
          </a:bodyPr>
          <a:lstStyle/>
          <a:p>
            <a:r>
              <a:rPr lang="en-US"/>
              <a:t>Interactive Learning</a:t>
            </a:r>
          </a:p>
        </p:txBody>
      </p:sp>
      <p:pic>
        <p:nvPicPr>
          <p:cNvPr id="3" name="Picture 2" descr="Download Free ansible Icons - SVG and PNG formats">
            <a:extLst>
              <a:ext uri="{FF2B5EF4-FFF2-40B4-BE49-F238E27FC236}">
                <a16:creationId xmlns:a16="http://schemas.microsoft.com/office/drawing/2014/main" id="{CD4FE680-8C58-521F-C4B8-CC039936B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0"/>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88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1F68D-6451-A92B-5747-2ECF47140757}"/>
              </a:ext>
            </a:extLst>
          </p:cNvPr>
          <p:cNvSpPr>
            <a:spLocks noGrp="1"/>
          </p:cNvSpPr>
          <p:nvPr>
            <p:ph type="title"/>
          </p:nvPr>
        </p:nvSpPr>
        <p:spPr>
          <a:xfrm>
            <a:off x="4911710" y="222503"/>
            <a:ext cx="3628786" cy="548640"/>
          </a:xfrm>
        </p:spPr>
        <p:txBody>
          <a:bodyPr anchor="t">
            <a:normAutofit/>
          </a:bodyPr>
          <a:lstStyle/>
          <a:p>
            <a:r>
              <a:rPr lang="en-US" dirty="0"/>
              <a:t>Quiz Questions</a:t>
            </a:r>
          </a:p>
        </p:txBody>
      </p:sp>
      <p:pic>
        <p:nvPicPr>
          <p:cNvPr id="5" name="Content Placeholder 4" descr="Blackboard with handwritten text.">
            <a:extLst>
              <a:ext uri="{FF2B5EF4-FFF2-40B4-BE49-F238E27FC236}">
                <a16:creationId xmlns:a16="http://schemas.microsoft.com/office/drawing/2014/main" id="{8C2DD2C5-6F11-4C09-9B5E-F257211CB702}"/>
              </a:ext>
            </a:extLst>
          </p:cNvPr>
          <p:cNvPicPr>
            <a:picLocks noGrp="1" noChangeAspect="1"/>
          </p:cNvPicPr>
          <p:nvPr>
            <p:ph type="pic" sz="quarter" idx="13"/>
          </p:nvPr>
        </p:nvPicPr>
        <p:blipFill>
          <a:blip r:embed="rId3"/>
          <a:srcRect l="12663" r="5960" b="-2"/>
          <a:stretch>
            <a:fillRect/>
          </a:stretch>
        </p:blipFill>
        <p:spPr>
          <a:xfrm>
            <a:off x="533400" y="222504"/>
            <a:ext cx="4184904" cy="6175844"/>
          </a:xfrm>
          <a:prstGeom prst="rect">
            <a:avLst/>
          </a:prstGeom>
          <a:noFill/>
        </p:spPr>
      </p:pic>
      <p:pic>
        <p:nvPicPr>
          <p:cNvPr id="3" name="Picture 2" descr="Download Free ansible Icons - SVG and PNG formats">
            <a:extLst>
              <a:ext uri="{FF2B5EF4-FFF2-40B4-BE49-F238E27FC236}">
                <a16:creationId xmlns:a16="http://schemas.microsoft.com/office/drawing/2014/main" id="{4A40BCCF-9A95-B76B-A7F4-B84821CF2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4766" y="38351"/>
            <a:ext cx="1163648" cy="5486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1FFEE9AD-9ED6-7CAE-4B69-F704D3D6D54D}"/>
              </a:ext>
            </a:extLst>
          </p:cNvPr>
          <p:cNvGraphicFramePr>
            <a:graphicFrameLocks noGrp="1"/>
          </p:cNvGraphicFramePr>
          <p:nvPr/>
        </p:nvGraphicFramePr>
        <p:xfrm>
          <a:off x="4911710" y="771142"/>
          <a:ext cx="7039498" cy="5627205"/>
        </p:xfrm>
        <a:graphic>
          <a:graphicData uri="http://schemas.openxmlformats.org/drawingml/2006/table">
            <a:tbl>
              <a:tblPr>
                <a:tableStyleId>{0660B408-B3CF-4A94-85FC-2B1E0A45F4A2}</a:tableStyleId>
              </a:tblPr>
              <a:tblGrid>
                <a:gridCol w="2068690">
                  <a:extLst>
                    <a:ext uri="{9D8B030D-6E8A-4147-A177-3AD203B41FA5}">
                      <a16:colId xmlns:a16="http://schemas.microsoft.com/office/drawing/2014/main" val="292118795"/>
                    </a:ext>
                  </a:extLst>
                </a:gridCol>
                <a:gridCol w="1514376">
                  <a:extLst>
                    <a:ext uri="{9D8B030D-6E8A-4147-A177-3AD203B41FA5}">
                      <a16:colId xmlns:a16="http://schemas.microsoft.com/office/drawing/2014/main" val="888050781"/>
                    </a:ext>
                  </a:extLst>
                </a:gridCol>
                <a:gridCol w="3456432">
                  <a:extLst>
                    <a:ext uri="{9D8B030D-6E8A-4147-A177-3AD203B41FA5}">
                      <a16:colId xmlns:a16="http://schemas.microsoft.com/office/drawing/2014/main" val="167130467"/>
                    </a:ext>
                  </a:extLst>
                </a:gridCol>
              </a:tblGrid>
              <a:tr h="279598">
                <a:tc>
                  <a:txBody>
                    <a:bodyPr/>
                    <a:lstStyle/>
                    <a:p>
                      <a:pPr algn="ctr" fontAlgn="ctr">
                        <a:buNone/>
                      </a:pPr>
                      <a:r>
                        <a:rPr lang="en-IN" sz="1600" b="1" u="none" strike="noStrike" dirty="0">
                          <a:solidFill>
                            <a:srgbClr val="002060"/>
                          </a:solidFill>
                          <a:effectLst/>
                        </a:rPr>
                        <a:t>Question</a:t>
                      </a:r>
                      <a:endParaRPr lang="en-IN" sz="1600" b="1" i="0" u="none" strike="noStrike" dirty="0">
                        <a:solidFill>
                          <a:srgbClr val="00206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ctr">
                        <a:buNone/>
                      </a:pPr>
                      <a:r>
                        <a:rPr lang="en-IN" sz="1600" b="1" u="none" strike="noStrike" dirty="0">
                          <a:solidFill>
                            <a:srgbClr val="002060"/>
                          </a:solidFill>
                          <a:effectLst/>
                        </a:rPr>
                        <a:t>Answer</a:t>
                      </a:r>
                      <a:endParaRPr lang="en-IN" sz="1600" b="1" i="0" u="none" strike="noStrike" dirty="0">
                        <a:solidFill>
                          <a:srgbClr val="00206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ctr">
                        <a:buNone/>
                      </a:pPr>
                      <a:r>
                        <a:rPr lang="en-IN" sz="1600" b="1" u="none" strike="noStrike" dirty="0">
                          <a:solidFill>
                            <a:srgbClr val="002060"/>
                          </a:solidFill>
                          <a:effectLst/>
                        </a:rPr>
                        <a:t>Explanation</a:t>
                      </a:r>
                      <a:endParaRPr lang="en-IN" sz="1600" b="1" i="0" u="none" strike="noStrike" dirty="0">
                        <a:solidFill>
                          <a:srgbClr val="00206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4536349"/>
                  </a:ext>
                </a:extLst>
              </a:tr>
              <a:tr h="838795">
                <a:tc>
                  <a:txBody>
                    <a:bodyPr/>
                    <a:lstStyle/>
                    <a:p>
                      <a:pPr algn="l" fontAlgn="ctr">
                        <a:buNone/>
                      </a:pPr>
                      <a:r>
                        <a:rPr lang="en-US" sz="1200" b="0" u="none" strike="noStrike" dirty="0">
                          <a:solidFill>
                            <a:srgbClr val="000000"/>
                          </a:solidFill>
                          <a:effectLst/>
                        </a:rPr>
                        <a:t>What is the default inventory file name in Ansible?</a:t>
                      </a:r>
                      <a:br>
                        <a:rPr lang="en-US" sz="1200" b="0" u="none" strike="noStrike" dirty="0">
                          <a:solidFill>
                            <a:srgbClr val="000000"/>
                          </a:solidFill>
                          <a:effectLst/>
                        </a:rPr>
                      </a:br>
                      <a:endParaRPr lang="en-US" sz="12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200" b="0" u="none" strike="noStrike" dirty="0">
                          <a:solidFill>
                            <a:srgbClr val="000000"/>
                          </a:solidFill>
                          <a:effectLst/>
                        </a:rPr>
                        <a:t>hosts</a:t>
                      </a:r>
                      <a:endParaRPr lang="en-IN"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200" b="0" u="none" strike="noStrike" dirty="0">
                          <a:solidFill>
                            <a:srgbClr val="000000"/>
                          </a:solidFill>
                          <a:effectLst/>
                        </a:rPr>
                        <a:t>By default, Ansible looks for an inventory file named hosts in /etc/ansible/. You can override this using -i option.</a:t>
                      </a: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027543"/>
                  </a:ext>
                </a:extLst>
              </a:tr>
              <a:tr h="1118394">
                <a:tc>
                  <a:txBody>
                    <a:bodyPr/>
                    <a:lstStyle/>
                    <a:p>
                      <a:pPr algn="l" fontAlgn="ctr">
                        <a:buNone/>
                      </a:pPr>
                      <a:r>
                        <a:rPr lang="en-US" sz="1200" b="0" u="none" strike="noStrike" dirty="0">
                          <a:solidFill>
                            <a:srgbClr val="000000"/>
                          </a:solidFill>
                          <a:effectLst/>
                        </a:rPr>
                        <a:t>Which group has the lowest precedence when applying variables?</a:t>
                      </a:r>
                      <a:endParaRPr lang="en-US" sz="12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200" b="0" u="none" strike="noStrike" dirty="0">
                          <a:solidFill>
                            <a:srgbClr val="000000"/>
                          </a:solidFill>
                          <a:effectLst/>
                        </a:rPr>
                        <a:t>all</a:t>
                      </a:r>
                      <a:endParaRPr lang="en-IN"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200" b="0" u="none" strike="noStrike" dirty="0">
                          <a:solidFill>
                            <a:srgbClr val="000000"/>
                          </a:solidFill>
                          <a:effectLst/>
                        </a:rPr>
                        <a:t> The all group is the parent of all groups and has the lowest precedence. Variables defined here are overridden by group-specific and host-specific variables.</a:t>
                      </a: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506824"/>
                  </a:ext>
                </a:extLst>
              </a:tr>
              <a:tr h="1118394">
                <a:tc>
                  <a:txBody>
                    <a:bodyPr/>
                    <a:lstStyle/>
                    <a:p>
                      <a:pPr algn="l" fontAlgn="ctr">
                        <a:buNone/>
                      </a:pPr>
                      <a:r>
                        <a:rPr lang="en-US" sz="1200" b="0" u="none" strike="noStrike" dirty="0">
                          <a:solidFill>
                            <a:srgbClr val="000000"/>
                          </a:solidFill>
                          <a:effectLst/>
                        </a:rPr>
                        <a:t>How does Ansible merge variables from same-level groups?</a:t>
                      </a:r>
                      <a:endParaRPr lang="en-US" sz="12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200" b="0" u="none" strike="noStrike" dirty="0">
                          <a:solidFill>
                            <a:srgbClr val="000000"/>
                          </a:solidFill>
                          <a:effectLst/>
                        </a:rPr>
                        <a:t>Alphabetically</a:t>
                      </a:r>
                      <a:endParaRPr lang="en-IN"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200" b="0" u="none" strike="noStrike" dirty="0">
                          <a:solidFill>
                            <a:srgbClr val="000000"/>
                          </a:solidFill>
                          <a:effectLst/>
                        </a:rPr>
                        <a:t>When a host belongs to multiple same-level groups, Ansible merges variables alphabetically. For example, </a:t>
                      </a:r>
                      <a:r>
                        <a:rPr lang="en-US" sz="1200" b="0" u="none" strike="noStrike" dirty="0" err="1">
                          <a:solidFill>
                            <a:srgbClr val="000000"/>
                          </a:solidFill>
                          <a:effectLst/>
                        </a:rPr>
                        <a:t>groupB</a:t>
                      </a:r>
                      <a:r>
                        <a:rPr lang="en-US" sz="1200" b="0" u="none" strike="noStrike" dirty="0">
                          <a:solidFill>
                            <a:srgbClr val="000000"/>
                          </a:solidFill>
                          <a:effectLst/>
                        </a:rPr>
                        <a:t> overrides </a:t>
                      </a:r>
                      <a:r>
                        <a:rPr lang="en-US" sz="1200" b="0" u="none" strike="noStrike" dirty="0" err="1">
                          <a:solidFill>
                            <a:srgbClr val="000000"/>
                          </a:solidFill>
                          <a:effectLst/>
                        </a:rPr>
                        <a:t>groupA</a:t>
                      </a:r>
                      <a:r>
                        <a:rPr lang="en-US" sz="1200" b="0" u="none" strike="noStrike" dirty="0">
                          <a:solidFill>
                            <a:srgbClr val="000000"/>
                          </a:solidFill>
                          <a:effectLst/>
                        </a:rPr>
                        <a:t> if both define the same variable.</a:t>
                      </a: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794815"/>
                  </a:ext>
                </a:extLst>
              </a:tr>
              <a:tr h="1433229">
                <a:tc>
                  <a:txBody>
                    <a:bodyPr/>
                    <a:lstStyle/>
                    <a:p>
                      <a:pPr algn="l" fontAlgn="ctr">
                        <a:buNone/>
                      </a:pPr>
                      <a:r>
                        <a:rPr lang="en-US" sz="1200" b="0" u="none" strike="noStrike" dirty="0">
                          <a:solidFill>
                            <a:srgbClr val="000000"/>
                          </a:solidFill>
                          <a:effectLst/>
                        </a:rPr>
                        <a:t> Which setting can override alphabetical merging of group variables?</a:t>
                      </a:r>
                      <a:endParaRPr lang="en-US" sz="1200" b="0" i="0" u="none" strike="noStrike" dirty="0">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200" b="0" u="none" strike="noStrike" dirty="0" err="1">
                          <a:solidFill>
                            <a:srgbClr val="000000"/>
                          </a:solidFill>
                          <a:effectLst/>
                        </a:rPr>
                        <a:t>ansible_group_priority</a:t>
                      </a:r>
                      <a:endParaRPr lang="en-IN"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200" b="0" u="none" strike="noStrike" dirty="0">
                          <a:solidFill>
                            <a:srgbClr val="000000"/>
                          </a:solidFill>
                          <a:effectLst/>
                        </a:rPr>
                        <a:t>This setting allows you to assign a numeric priority to groups, so higher priority groups override lower ones regardless of alphabetical order.</a:t>
                      </a:r>
                      <a:br>
                        <a:rPr lang="en-US" sz="1200" b="0" u="none" strike="noStrike" dirty="0">
                          <a:solidFill>
                            <a:srgbClr val="000000"/>
                          </a:solidFill>
                          <a:effectLst/>
                        </a:rPr>
                      </a:br>
                      <a:r>
                        <a:rPr lang="en-US" sz="1200" b="0" u="none" strike="noStrike" dirty="0">
                          <a:solidFill>
                            <a:srgbClr val="000000"/>
                          </a:solidFill>
                          <a:effectLst/>
                        </a:rPr>
                        <a:t>This setting allows you to assign a numeric priority to groups, so higher priority groups override lower ones regardless of alphabetical order.</a:t>
                      </a:r>
                      <a:br>
                        <a:rPr lang="en-US" sz="1200" b="0" u="none" strike="noStrike" dirty="0">
                          <a:solidFill>
                            <a:srgbClr val="000000"/>
                          </a:solidFill>
                          <a:effectLst/>
                        </a:rPr>
                      </a:b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3033481"/>
                  </a:ext>
                </a:extLst>
              </a:tr>
              <a:tr h="838795">
                <a:tc>
                  <a:txBody>
                    <a:bodyPr/>
                    <a:lstStyle/>
                    <a:p>
                      <a:pPr algn="l" fontAlgn="ctr">
                        <a:buNone/>
                      </a:pPr>
                      <a:r>
                        <a:rPr lang="en-US" sz="1200" b="0" u="none" strike="noStrike">
                          <a:solidFill>
                            <a:srgbClr val="000000"/>
                          </a:solidFill>
                          <a:effectLst/>
                        </a:rPr>
                        <a:t>Which variable type has the highest precedence?</a:t>
                      </a:r>
                      <a:endParaRPr lang="en-US" sz="12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ctr">
                        <a:buNone/>
                      </a:pPr>
                      <a:r>
                        <a:rPr lang="en-IN" sz="1200" b="0" u="none" strike="noStrike">
                          <a:solidFill>
                            <a:srgbClr val="000000"/>
                          </a:solidFill>
                          <a:effectLst/>
                        </a:rPr>
                        <a:t>Host-specific variables</a:t>
                      </a:r>
                      <a:endParaRPr lang="en-IN" sz="12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ctr">
                        <a:buNone/>
                      </a:pPr>
                      <a:r>
                        <a:rPr lang="en-US" sz="1200" b="0" u="none" strike="noStrike" dirty="0">
                          <a:solidFill>
                            <a:srgbClr val="000000"/>
                          </a:solidFill>
                          <a:effectLst/>
                        </a:rPr>
                        <a:t>Variables defined in host_vars or directly in the playbook for a host override all group-level variables, ensuring precise configuration.</a:t>
                      </a:r>
                      <a:endParaRPr lang="en-US" sz="12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7508363"/>
                  </a:ext>
                </a:extLst>
              </a:tr>
            </a:tbl>
          </a:graphicData>
        </a:graphic>
      </p:graphicFrame>
      <p:graphicFrame>
        <p:nvGraphicFramePr>
          <p:cNvPr id="11" name="Table 10">
            <a:extLst>
              <a:ext uri="{FF2B5EF4-FFF2-40B4-BE49-F238E27FC236}">
                <a16:creationId xmlns:a16="http://schemas.microsoft.com/office/drawing/2014/main" id="{D65CEC20-F633-279C-1142-E85B065DB8A9}"/>
              </a:ext>
            </a:extLst>
          </p:cNvPr>
          <p:cNvGraphicFramePr>
            <a:graphicFrameLocks noGrp="1"/>
          </p:cNvGraphicFramePr>
          <p:nvPr/>
        </p:nvGraphicFramePr>
        <p:xfrm>
          <a:off x="4911710" y="758952"/>
          <a:ext cx="7021210" cy="5669280"/>
        </p:xfrm>
        <a:graphic>
          <a:graphicData uri="http://schemas.openxmlformats.org/drawingml/2006/table">
            <a:tbl>
              <a:tblPr/>
              <a:tblGrid>
                <a:gridCol w="7021210">
                  <a:extLst>
                    <a:ext uri="{9D8B030D-6E8A-4147-A177-3AD203B41FA5}">
                      <a16:colId xmlns:a16="http://schemas.microsoft.com/office/drawing/2014/main" val="3637780477"/>
                    </a:ext>
                  </a:extLst>
                </a:gridCol>
              </a:tblGrid>
              <a:tr h="5669280">
                <a:tc>
                  <a:txBody>
                    <a:bodyPr/>
                    <a:lstStyle/>
                    <a:p>
                      <a:endParaRPr lang="en-IN" dirty="0"/>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extLst>
                  <a:ext uri="{0D108BD9-81ED-4DB2-BD59-A6C34878D82A}">
                    <a16:rowId xmlns:a16="http://schemas.microsoft.com/office/drawing/2014/main" val="3351676903"/>
                  </a:ext>
                </a:extLst>
              </a:tr>
            </a:tbl>
          </a:graphicData>
        </a:graphic>
      </p:graphicFrame>
    </p:spTree>
    <p:extLst>
      <p:ext uri="{BB962C8B-B14F-4D97-AF65-F5344CB8AC3E}">
        <p14:creationId xmlns:p14="http://schemas.microsoft.com/office/powerpoint/2010/main" val="144173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EC07F-E0B3-5971-82CC-00A741D287E9}"/>
              </a:ext>
            </a:extLst>
          </p:cNvPr>
          <p:cNvSpPr>
            <a:spLocks noGrp="1"/>
          </p:cNvSpPr>
          <p:nvPr>
            <p:ph type="title"/>
          </p:nvPr>
        </p:nvSpPr>
        <p:spPr>
          <a:xfrm>
            <a:off x="8029814" y="512011"/>
            <a:ext cx="3628786" cy="1259920"/>
          </a:xfrm>
        </p:spPr>
        <p:txBody>
          <a:bodyPr anchor="b">
            <a:normAutofit/>
          </a:bodyPr>
          <a:lstStyle/>
          <a:p>
            <a:r>
              <a:rPr lang="en-US"/>
              <a:t>Hands-on Challenge</a:t>
            </a:r>
          </a:p>
        </p:txBody>
      </p:sp>
      <p:pic>
        <p:nvPicPr>
          <p:cNvPr id="5" name="Content Placeholder 4" descr="DNA code on large LED screen">
            <a:extLst>
              <a:ext uri="{FF2B5EF4-FFF2-40B4-BE49-F238E27FC236}">
                <a16:creationId xmlns:a16="http://schemas.microsoft.com/office/drawing/2014/main" id="{BC7E617C-E939-4590-AAED-51BD6117C88C}"/>
              </a:ext>
            </a:extLst>
          </p:cNvPr>
          <p:cNvPicPr>
            <a:picLocks noGrp="1" noChangeAspect="1"/>
          </p:cNvPicPr>
          <p:nvPr>
            <p:ph type="pic" sz="quarter" idx="13"/>
          </p:nvPr>
        </p:nvPicPr>
        <p:blipFill>
          <a:blip r:embed="rId3"/>
          <a:srcRect r="18320" b="1"/>
          <a:stretch>
            <a:fillRect/>
          </a:stretch>
        </p:blipFill>
        <p:spPr>
          <a:xfrm>
            <a:off x="533400" y="533399"/>
            <a:ext cx="7086600" cy="5791199"/>
          </a:xfrm>
          <a:prstGeom prst="rect">
            <a:avLst/>
          </a:prstGeom>
          <a:noFill/>
        </p:spPr>
      </p:pic>
      <p:sp>
        <p:nvSpPr>
          <p:cNvPr id="4" name="Content Placeholder 3">
            <a:extLst>
              <a:ext uri="{FF2B5EF4-FFF2-40B4-BE49-F238E27FC236}">
                <a16:creationId xmlns:a16="http://schemas.microsoft.com/office/drawing/2014/main" id="{48142FFF-B2E7-F823-B2DE-3049928CE2F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style>
          <a:lnRef idx="2">
            <a:schemeClr val="accent2"/>
          </a:lnRef>
          <a:fillRef idx="1">
            <a:schemeClr val="lt1"/>
          </a:fillRef>
          <a:effectRef idx="0">
            <a:schemeClr val="accent2"/>
          </a:effectRef>
          <a:fontRef idx="minor">
            <a:schemeClr val="dk1"/>
          </a:fontRef>
        </p:style>
        <p:txBody>
          <a:bodyPr>
            <a:normAutofit/>
          </a:bodyPr>
          <a:lstStyle/>
          <a:p>
            <a:pPr marL="0" indent="0">
              <a:spcBef>
                <a:spcPts val="2500"/>
              </a:spcBef>
              <a:buFont typeface="Arial" panose="020B0604020202020204" pitchFamily="34" charset="0"/>
              <a:buNone/>
            </a:pPr>
            <a:r>
              <a:rPr lang="en-US" b="1" dirty="0"/>
              <a:t>Inventory Conversion Challenge</a:t>
            </a:r>
          </a:p>
          <a:p>
            <a:pPr marL="0" lvl="1" indent="0">
              <a:buFont typeface="Arial" panose="020B0604020202020204" pitchFamily="34" charset="0"/>
              <a:buNone/>
            </a:pPr>
            <a:r>
              <a:rPr dirty="0"/>
              <a:t>Convert INI inventory files to YAML and JSON formats using Python scripting for better automation management.</a:t>
            </a:r>
            <a:endParaRPr lang="en-US" dirty="0"/>
          </a:p>
          <a:p>
            <a:pPr marL="0" indent="0">
              <a:spcBef>
                <a:spcPts val="2500"/>
              </a:spcBef>
              <a:buFont typeface="Arial" panose="020B0604020202020204" pitchFamily="34" charset="0"/>
              <a:buNone/>
            </a:pPr>
            <a:r>
              <a:rPr lang="en-US" b="1" dirty="0"/>
              <a:t>Variable Precedence Testing</a:t>
            </a:r>
          </a:p>
          <a:p>
            <a:pPr marL="0" lvl="1" indent="0">
              <a:buFont typeface="Arial" panose="020B0604020202020204" pitchFamily="34" charset="0"/>
              <a:buNone/>
            </a:pPr>
            <a:r>
              <a:rPr dirty="0"/>
              <a:t>Define variables in multiple locations and observe which value Ansible prioritizes during playbook execution.</a:t>
            </a:r>
            <a:endParaRPr lang="en-US" dirty="0"/>
          </a:p>
          <a:p>
            <a:pPr marL="0" indent="0">
              <a:spcBef>
                <a:spcPts val="2500"/>
              </a:spcBef>
              <a:buFont typeface="Arial" panose="020B0604020202020204" pitchFamily="34" charset="0"/>
              <a:buNone/>
            </a:pPr>
            <a:r>
              <a:rPr lang="en-US" b="1" dirty="0"/>
              <a:t>Task Execution Visualization</a:t>
            </a:r>
          </a:p>
          <a:p>
            <a:pPr marL="0" lvl="1" indent="0">
              <a:buFont typeface="Arial" panose="020B0604020202020204" pitchFamily="34" charset="0"/>
              <a:buNone/>
            </a:pPr>
            <a:r>
              <a:rPr dirty="0"/>
              <a:t>Utilize Ansible's '--graph' option to visualize task order and convert DOT files to PNG with </a:t>
            </a:r>
            <a:r>
              <a:rPr dirty="0" err="1"/>
              <a:t>Graphviz</a:t>
            </a:r>
            <a:r>
              <a:rPr dirty="0"/>
              <a:t>.</a:t>
            </a:r>
            <a:endParaRPr lang="en-US" dirty="0"/>
          </a:p>
        </p:txBody>
      </p:sp>
      <p:pic>
        <p:nvPicPr>
          <p:cNvPr id="3" name="Picture 2" descr="Download Free ansible Icons - SVG and PNG formats">
            <a:extLst>
              <a:ext uri="{FF2B5EF4-FFF2-40B4-BE49-F238E27FC236}">
                <a16:creationId xmlns:a16="http://schemas.microsoft.com/office/drawing/2014/main" id="{C27820C9-7427-5E36-7E17-77AC5DB8B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28352" y="113331"/>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325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CD42-8CAA-642F-4177-49B59711DB70}"/>
              </a:ext>
            </a:extLst>
          </p:cNvPr>
          <p:cNvSpPr>
            <a:spLocks noGrp="1"/>
          </p:cNvSpPr>
          <p:nvPr>
            <p:ph type="title"/>
          </p:nvPr>
        </p:nvSpPr>
        <p:spPr>
          <a:xfrm>
            <a:off x="426997" y="3018408"/>
            <a:ext cx="8961120" cy="3247475"/>
          </a:xfrm>
        </p:spPr>
        <p:txBody>
          <a:bodyPr anchor="b">
            <a:normAutofit/>
          </a:bodyPr>
          <a:lstStyle/>
          <a:p>
            <a:r>
              <a:rPr lang="en-US"/>
              <a:t>Conclusion</a:t>
            </a:r>
          </a:p>
        </p:txBody>
      </p:sp>
      <p:pic>
        <p:nvPicPr>
          <p:cNvPr id="3" name="Picture 2" descr="Download Free ansible Icons - SVG and PNG formats">
            <a:extLst>
              <a:ext uri="{FF2B5EF4-FFF2-40B4-BE49-F238E27FC236}">
                <a16:creationId xmlns:a16="http://schemas.microsoft.com/office/drawing/2014/main" id="{62CCA0FB-3E53-7610-5A08-B135FA748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8352" y="0"/>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11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8DFBC-00D6-5FF5-0CE7-DD2E77197E63}"/>
              </a:ext>
            </a:extLst>
          </p:cNvPr>
          <p:cNvSpPr>
            <a:spLocks noGrp="1"/>
          </p:cNvSpPr>
          <p:nvPr>
            <p:ph type="title"/>
          </p:nvPr>
        </p:nvSpPr>
        <p:spPr>
          <a:xfrm>
            <a:off x="399679" y="332308"/>
            <a:ext cx="11253667" cy="909921"/>
          </a:xfrm>
        </p:spPr>
        <p:txBody>
          <a:bodyPr anchor="b">
            <a:normAutofit/>
          </a:bodyPr>
          <a:lstStyle/>
          <a:p>
            <a:r>
              <a:rPr lang="en-US"/>
              <a:t>What’s Next?</a:t>
            </a:r>
          </a:p>
        </p:txBody>
      </p:sp>
      <p:graphicFrame>
        <p:nvGraphicFramePr>
          <p:cNvPr id="4" name="Content Placeholder 3">
            <a:extLst>
              <a:ext uri="{FF2B5EF4-FFF2-40B4-BE49-F238E27FC236}">
                <a16:creationId xmlns:a16="http://schemas.microsoft.com/office/drawing/2014/main" id="{4AB39FBE-EA51-4B37-8DE4-460ED3177AA5}"/>
              </a:ext>
            </a:extLst>
          </p:cNvPr>
          <p:cNvGraphicFramePr>
            <a:graphicFrameLocks noGrp="1"/>
          </p:cNvGraphicFramePr>
          <p:nvPr>
            <p:ph idx="1"/>
            <p:extLst>
              <p:ext uri="{D42A27DB-BD31-4B8C-83A1-F6EECF244321}">
                <p14:modId xmlns:p14="http://schemas.microsoft.com/office/powerpoint/2010/main" val="24914420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2336" y="1488931"/>
          <a:ext cx="11253668" cy="47007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Download Free ansible Icons - SVG and PNG formats">
            <a:extLst>
              <a:ext uri="{FF2B5EF4-FFF2-40B4-BE49-F238E27FC236}">
                <a16:creationId xmlns:a16="http://schemas.microsoft.com/office/drawing/2014/main" id="{B316B439-4DB3-C300-7EB1-D8AD657A83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89249" y="57988"/>
            <a:ext cx="1163648"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378431"/>
      </p:ext>
    </p:extLst>
  </p:cSld>
  <p:clrMapOvr>
    <a:masterClrMapping/>
  </p:clrMapOvr>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A6ECCF-1C9D-4352-BA6F-79122165958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8251039-0B1C-45AD-BDF3-E784F1E00F4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6DDFC564-B38B-4437-B10C-2B4F696FB123}">
  <ds:schemaRefs>
    <ds:schemaRef ds:uri="http://schemas.microsoft.com/sharepoint/v3/contenttype/forms"/>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Lines</Template>
  <TotalTime>142</TotalTime>
  <Words>1304</Words>
  <Application>Microsoft Office PowerPoint</Application>
  <PresentationFormat>Widescreen</PresentationFormat>
  <Paragraphs>181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Narrow</vt:lpstr>
      <vt:lpstr>Arial</vt:lpstr>
      <vt:lpstr>Arial Nova Light</vt:lpstr>
      <vt:lpstr>Calibri</vt:lpstr>
      <vt:lpstr>Univers Condensed</vt:lpstr>
      <vt:lpstr>Lines</vt:lpstr>
      <vt:lpstr>Ansible Inventory &amp; Variable Precedence Explained</vt:lpstr>
      <vt:lpstr>Introduction</vt:lpstr>
      <vt:lpstr>Session goals  Learn Ansible Inventory &amp; Variable Precedence Hands-on demos quizzes and challenges Focus on practical automation workflows</vt:lpstr>
      <vt:lpstr>Understanding Inventory Structure</vt:lpstr>
      <vt:lpstr>Inventory File Structure and Group Hierarchies</vt:lpstr>
      <vt:lpstr>Inventory Explanation and Visual Hierarchy</vt:lpstr>
      <vt:lpstr>Variable Precedence in Ansible</vt:lpstr>
      <vt:lpstr>Variable Precedence Impact and Hierarchy</vt:lpstr>
      <vt:lpstr>Alphabetical Merge and Group Priority</vt:lpstr>
      <vt:lpstr>Real-World Applications</vt:lpstr>
      <vt:lpstr>Using Precedence in Staging and Production</vt:lpstr>
      <vt:lpstr>Demonstration</vt:lpstr>
      <vt:lpstr>Step-by-Step Demo Plan</vt:lpstr>
      <vt:lpstr>Interactive Learning</vt:lpstr>
      <vt:lpstr>Quiz Questions</vt:lpstr>
      <vt:lpstr>Hands-on Challenge</vt:lpstr>
      <vt:lpstr>Conclusion</vt:lpstr>
      <vt:lpstr>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 Soumyendu</dc:creator>
  <cp:lastModifiedBy>Pal, Soumyendu</cp:lastModifiedBy>
  <cp:revision>1</cp:revision>
  <dcterms:created xsi:type="dcterms:W3CDTF">2025-08-04T19:15:43Z</dcterms:created>
  <dcterms:modified xsi:type="dcterms:W3CDTF">2025-11-09T11:50:01Z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