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FA2D37-A2E0-4420-AC64-0EC2E23EC427}" v="8" dt="2026-01-18T12:44:31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, Soumyendu" userId="68503d3d-ac8d-4828-9c3f-abc5a97f3674" providerId="ADAL" clId="{92440D97-2063-49B4-9BF5-3A22B04E4F12}"/>
    <pc:docChg chg="custSel addSld delSld modSld">
      <pc:chgData name="Pal, Soumyendu" userId="68503d3d-ac8d-4828-9c3f-abc5a97f3674" providerId="ADAL" clId="{92440D97-2063-49B4-9BF5-3A22B04E4F12}" dt="2026-01-18T12:45:09.891" v="170" actId="1037"/>
      <pc:docMkLst>
        <pc:docMk/>
      </pc:docMkLst>
      <pc:sldChg chg="addSp modSp mod">
        <pc:chgData name="Pal, Soumyendu" userId="68503d3d-ac8d-4828-9c3f-abc5a97f3674" providerId="ADAL" clId="{92440D97-2063-49B4-9BF5-3A22B04E4F12}" dt="2026-01-18T12:28:34.008" v="82" actId="1036"/>
        <pc:sldMkLst>
          <pc:docMk/>
          <pc:sldMk cId="0" sldId="260"/>
        </pc:sldMkLst>
        <pc:spChg chg="mod">
          <ac:chgData name="Pal, Soumyendu" userId="68503d3d-ac8d-4828-9c3f-abc5a97f3674" providerId="ADAL" clId="{92440D97-2063-49B4-9BF5-3A22B04E4F12}" dt="2026-01-18T12:28:24.946" v="59" actId="20577"/>
          <ac:spMkLst>
            <pc:docMk/>
            <pc:sldMk cId="0" sldId="260"/>
            <ac:spMk id="3" creationId="{00000000-0000-0000-0000-000000000000}"/>
          </ac:spMkLst>
        </pc:spChg>
        <pc:spChg chg="add">
          <ac:chgData name="Pal, Soumyendu" userId="68503d3d-ac8d-4828-9c3f-abc5a97f3674" providerId="ADAL" clId="{92440D97-2063-49B4-9BF5-3A22B04E4F12}" dt="2026-01-18T12:26:21.934" v="22"/>
          <ac:spMkLst>
            <pc:docMk/>
            <pc:sldMk cId="0" sldId="260"/>
            <ac:spMk id="5" creationId="{02D644FD-2C9A-8A19-8556-C3DB9F59C8EA}"/>
          </ac:spMkLst>
        </pc:spChg>
        <pc:spChg chg="add mod">
          <ac:chgData name="Pal, Soumyendu" userId="68503d3d-ac8d-4828-9c3f-abc5a97f3674" providerId="ADAL" clId="{92440D97-2063-49B4-9BF5-3A22B04E4F12}" dt="2026-01-18T12:28:34.008" v="82" actId="1036"/>
          <ac:spMkLst>
            <pc:docMk/>
            <pc:sldMk cId="0" sldId="260"/>
            <ac:spMk id="6" creationId="{040A62CC-673E-8D65-F685-0F7BE4E2E02D}"/>
          </ac:spMkLst>
        </pc:spChg>
      </pc:sldChg>
      <pc:sldChg chg="modSp mod">
        <pc:chgData name="Pal, Soumyendu" userId="68503d3d-ac8d-4828-9c3f-abc5a97f3674" providerId="ADAL" clId="{92440D97-2063-49B4-9BF5-3A22B04E4F12}" dt="2026-01-18T12:29:15.626" v="84" actId="1076"/>
        <pc:sldMkLst>
          <pc:docMk/>
          <pc:sldMk cId="0" sldId="265"/>
        </pc:sldMkLst>
        <pc:spChg chg="mod">
          <ac:chgData name="Pal, Soumyendu" userId="68503d3d-ac8d-4828-9c3f-abc5a97f3674" providerId="ADAL" clId="{92440D97-2063-49B4-9BF5-3A22B04E4F12}" dt="2026-01-18T12:29:13.263" v="83" actId="14100"/>
          <ac:spMkLst>
            <pc:docMk/>
            <pc:sldMk cId="0" sldId="265"/>
            <ac:spMk id="2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6-01-18T12:29:15.626" v="84" actId="1076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Pal, Soumyendu" userId="68503d3d-ac8d-4828-9c3f-abc5a97f3674" providerId="ADAL" clId="{92440D97-2063-49B4-9BF5-3A22B04E4F12}" dt="2026-01-18T12:12:52.756" v="21" actId="1076"/>
        <pc:sldMkLst>
          <pc:docMk/>
          <pc:sldMk cId="0" sldId="268"/>
        </pc:sldMkLst>
        <pc:spChg chg="mod">
          <ac:chgData name="Pal, Soumyendu" userId="68503d3d-ac8d-4828-9c3f-abc5a97f3674" providerId="ADAL" clId="{92440D97-2063-49B4-9BF5-3A22B04E4F12}" dt="2026-01-18T12:12:49.016" v="20" actId="27636"/>
          <ac:spMkLst>
            <pc:docMk/>
            <pc:sldMk cId="0" sldId="268"/>
            <ac:spMk id="2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6-01-18T12:12:52.756" v="21" actId="1076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Pal, Soumyendu" userId="68503d3d-ac8d-4828-9c3f-abc5a97f3674" providerId="ADAL" clId="{92440D97-2063-49B4-9BF5-3A22B04E4F12}" dt="2026-01-18T12:10:38.735" v="17" actId="1076"/>
        <pc:sldMkLst>
          <pc:docMk/>
          <pc:sldMk cId="0" sldId="269"/>
        </pc:sldMkLst>
        <pc:spChg chg="mod">
          <ac:chgData name="Pal, Soumyendu" userId="68503d3d-ac8d-4828-9c3f-abc5a97f3674" providerId="ADAL" clId="{92440D97-2063-49B4-9BF5-3A22B04E4F12}" dt="2026-01-18T12:10:38.735" v="17" actId="1076"/>
          <ac:spMkLst>
            <pc:docMk/>
            <pc:sldMk cId="0" sldId="269"/>
            <ac:spMk id="3" creationId="{00000000-0000-0000-0000-000000000000}"/>
          </ac:spMkLst>
        </pc:spChg>
      </pc:sldChg>
      <pc:sldChg chg="del">
        <pc:chgData name="Pal, Soumyendu" userId="68503d3d-ac8d-4828-9c3f-abc5a97f3674" providerId="ADAL" clId="{92440D97-2063-49B4-9BF5-3A22B04E4F12}" dt="2026-01-18T12:04:58.997" v="1" actId="47"/>
        <pc:sldMkLst>
          <pc:docMk/>
          <pc:sldMk cId="0" sldId="272"/>
        </pc:sldMkLst>
      </pc:sldChg>
      <pc:sldChg chg="addSp delSp modSp add mod">
        <pc:chgData name="Pal, Soumyendu" userId="68503d3d-ac8d-4828-9c3f-abc5a97f3674" providerId="ADAL" clId="{92440D97-2063-49B4-9BF5-3A22B04E4F12}" dt="2026-01-18T12:45:09.891" v="170" actId="1037"/>
        <pc:sldMkLst>
          <pc:docMk/>
          <pc:sldMk cId="425882018" sldId="274"/>
        </pc:sldMkLst>
        <pc:spChg chg="add mod">
          <ac:chgData name="Pal, Soumyendu" userId="68503d3d-ac8d-4828-9c3f-abc5a97f3674" providerId="ADAL" clId="{92440D97-2063-49B4-9BF5-3A22B04E4F12}" dt="2026-01-18T12:45:09.891" v="170" actId="1037"/>
          <ac:spMkLst>
            <pc:docMk/>
            <pc:sldMk cId="425882018" sldId="274"/>
            <ac:spMk id="4" creationId="{2C4AFFDD-2A6F-4683-54CF-C30C973C4A46}"/>
          </ac:spMkLst>
        </pc:spChg>
        <pc:spChg chg="mod">
          <ac:chgData name="Pal, Soumyendu" userId="68503d3d-ac8d-4828-9c3f-abc5a97f3674" providerId="ADAL" clId="{92440D97-2063-49B4-9BF5-3A22B04E4F12}" dt="2026-01-18T12:09:03.725" v="8" actId="1076"/>
          <ac:spMkLst>
            <pc:docMk/>
            <pc:sldMk cId="425882018" sldId="274"/>
            <ac:spMk id="5" creationId="{B28FC958-40E7-B1CF-66A9-5F17BC8C5E25}"/>
          </ac:spMkLst>
        </pc:spChg>
        <pc:spChg chg="add mod">
          <ac:chgData name="Pal, Soumyendu" userId="68503d3d-ac8d-4828-9c3f-abc5a97f3674" providerId="ADAL" clId="{92440D97-2063-49B4-9BF5-3A22B04E4F12}" dt="2026-01-18T12:09:35.692" v="16" actId="13822"/>
          <ac:spMkLst>
            <pc:docMk/>
            <pc:sldMk cId="425882018" sldId="274"/>
            <ac:spMk id="7" creationId="{CF84A549-78AE-DD92-3D04-C417C51F5270}"/>
          </ac:spMkLst>
        </pc:spChg>
        <pc:spChg chg="mod">
          <ac:chgData name="Pal, Soumyendu" userId="68503d3d-ac8d-4828-9c3f-abc5a97f3674" providerId="ADAL" clId="{92440D97-2063-49B4-9BF5-3A22B04E4F12}" dt="2026-01-18T12:09:30.997" v="15" actId="1076"/>
          <ac:spMkLst>
            <pc:docMk/>
            <pc:sldMk cId="425882018" sldId="274"/>
            <ac:spMk id="8" creationId="{0FBDD484-F9F3-21A3-5006-1B8E38C4AF05}"/>
          </ac:spMkLst>
        </pc:spChg>
        <pc:spChg chg="del">
          <ac:chgData name="Pal, Soumyendu" userId="68503d3d-ac8d-4828-9c3f-abc5a97f3674" providerId="ADAL" clId="{92440D97-2063-49B4-9BF5-3A22B04E4F12}" dt="2026-01-18T12:09:16.092" v="12" actId="478"/>
          <ac:spMkLst>
            <pc:docMk/>
            <pc:sldMk cId="425882018" sldId="274"/>
            <ac:spMk id="13" creationId="{D7EFC6F4-4662-71BC-03E8-65BBD862D805}"/>
          </ac:spMkLst>
        </pc:spChg>
        <pc:graphicFrameChg chg="del mod">
          <ac:chgData name="Pal, Soumyendu" userId="68503d3d-ac8d-4828-9c3f-abc5a97f3674" providerId="ADAL" clId="{92440D97-2063-49B4-9BF5-3A22B04E4F12}" dt="2026-01-18T12:07:01.636" v="4" actId="478"/>
          <ac:graphicFrameMkLst>
            <pc:docMk/>
            <pc:sldMk cId="425882018" sldId="274"/>
            <ac:graphicFrameMk id="10" creationId="{0DD140A2-BB03-4407-F048-E3EC09D560AA}"/>
          </ac:graphicFrameMkLst>
        </pc:graphicFrameChg>
        <pc:picChg chg="mod">
          <ac:chgData name="Pal, Soumyendu" userId="68503d3d-ac8d-4828-9c3f-abc5a97f3674" providerId="ADAL" clId="{92440D97-2063-49B4-9BF5-3A22B04E4F12}" dt="2026-01-18T12:09:28.844" v="14" actId="1076"/>
          <ac:picMkLst>
            <pc:docMk/>
            <pc:sldMk cId="425882018" sldId="274"/>
            <ac:picMk id="6" creationId="{B762ACAD-6DFC-C059-9E20-E89B61DED29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4048" y="657923"/>
            <a:ext cx="7351776" cy="960565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defRPr sz="3800">
                <a:solidFill>
                  <a:srgbClr val="212529"/>
                </a:solidFill>
              </a:defRPr>
            </a:pPr>
            <a:r>
              <a:rPr dirty="0">
                <a:latin typeface="Aptos" panose="020B0004020202020204" pitchFamily="34" charset="0"/>
              </a:rPr>
              <a:t> Ansible Lookup Plugins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B9E6F32-219D-744F-D4DE-2D5C4984A616}"/>
              </a:ext>
            </a:extLst>
          </p:cNvPr>
          <p:cNvSpPr txBox="1">
            <a:spLocks/>
          </p:cNvSpPr>
          <p:nvPr/>
        </p:nvSpPr>
        <p:spPr>
          <a:xfrm>
            <a:off x="1239012" y="1618487"/>
            <a:ext cx="5879592" cy="45815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000">
                <a:solidFill>
                  <a:srgbClr val="373B3F"/>
                </a:solidFill>
              </a:defRPr>
            </a:pPr>
            <a:r>
              <a:rPr lang="en-IN" sz="1800" b="1" dirty="0">
                <a:solidFill>
                  <a:schemeClr val="dk1"/>
                </a:solidFill>
                <a:latin typeface="Aptos" panose="020B0004020202020204" pitchFamily="34" charset="0"/>
              </a:rPr>
              <a:t>Agenda: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2000">
                <a:solidFill>
                  <a:srgbClr val="373B3F"/>
                </a:solidFill>
              </a:defRPr>
            </a:pPr>
            <a:r>
              <a:rPr lang="en-IN" sz="1800" dirty="0">
                <a:solidFill>
                  <a:schemeClr val="dk1"/>
                </a:solidFill>
                <a:latin typeface="Aptos" panose="020B0004020202020204" pitchFamily="34" charset="0"/>
              </a:rPr>
              <a:t>Quick recap: Where lookup runs vs where task runs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2000">
                <a:solidFill>
                  <a:srgbClr val="373B3F"/>
                </a:solidFill>
              </a:defRPr>
            </a:pPr>
            <a:r>
              <a:rPr lang="en-IN" sz="1800" dirty="0">
                <a:solidFill>
                  <a:schemeClr val="dk1"/>
                </a:solidFill>
                <a:latin typeface="Aptos" panose="020B0004020202020204" pitchFamily="34" charset="0"/>
              </a:rPr>
              <a:t>Deep dives: </a:t>
            </a:r>
          </a:p>
          <a:p>
            <a:pPr marL="742950" lvl="1" indent="-285750" algn="l">
              <a:buFont typeface="Arial" panose="020B0604020202020204" pitchFamily="34" charset="0"/>
              <a:buChar char="•"/>
              <a:defRPr sz="2000">
                <a:solidFill>
                  <a:srgbClr val="373B3F"/>
                </a:solidFill>
              </a:defRPr>
            </a:pPr>
            <a:r>
              <a:rPr lang="en-IN" sz="1800" dirty="0" err="1">
                <a:solidFill>
                  <a:schemeClr val="dk1"/>
                </a:solidFill>
                <a:latin typeface="Aptos" panose="020B0004020202020204" pitchFamily="34" charset="0"/>
              </a:rPr>
              <a:t>url</a:t>
            </a:r>
            <a:r>
              <a:rPr lang="en-IN" sz="1800" dirty="0">
                <a:solidFill>
                  <a:schemeClr val="dk1"/>
                </a:solidFill>
                <a:latin typeface="Aptos" panose="020B0004020202020204" pitchFamily="34" charset="0"/>
              </a:rPr>
              <a:t>, </a:t>
            </a:r>
          </a:p>
          <a:p>
            <a:pPr marL="742950" lvl="1" indent="-285750" algn="l">
              <a:buFont typeface="Arial" panose="020B0604020202020204" pitchFamily="34" charset="0"/>
              <a:buChar char="•"/>
              <a:defRPr sz="2000">
                <a:solidFill>
                  <a:srgbClr val="373B3F"/>
                </a:solidFill>
              </a:defRPr>
            </a:pPr>
            <a:r>
              <a:rPr lang="en-IN" sz="1800" dirty="0" err="1">
                <a:solidFill>
                  <a:schemeClr val="dk1"/>
                </a:solidFill>
                <a:latin typeface="Aptos" panose="020B0004020202020204" pitchFamily="34" charset="0"/>
              </a:rPr>
              <a:t>ini</a:t>
            </a:r>
            <a:r>
              <a:rPr lang="en-IN" sz="1800" dirty="0">
                <a:solidFill>
                  <a:schemeClr val="dk1"/>
                </a:solidFill>
                <a:latin typeface="Aptos" panose="020B0004020202020204" pitchFamily="34" charset="0"/>
              </a:rPr>
              <a:t>, </a:t>
            </a:r>
          </a:p>
          <a:p>
            <a:pPr marL="742950" lvl="1" indent="-285750" algn="l">
              <a:buFont typeface="Arial" panose="020B0604020202020204" pitchFamily="34" charset="0"/>
              <a:buChar char="•"/>
              <a:defRPr sz="2000">
                <a:solidFill>
                  <a:srgbClr val="373B3F"/>
                </a:solidFill>
              </a:defRPr>
            </a:pPr>
            <a:r>
              <a:rPr lang="en-IN" sz="1800" dirty="0" err="1">
                <a:solidFill>
                  <a:schemeClr val="dk1"/>
                </a:solidFill>
                <a:latin typeface="Aptos" panose="020B0004020202020204" pitchFamily="34" charset="0"/>
              </a:rPr>
              <a:t>fileglob</a:t>
            </a:r>
            <a:r>
              <a:rPr lang="en-IN" sz="1800" dirty="0">
                <a:solidFill>
                  <a:schemeClr val="dk1"/>
                </a:solidFill>
                <a:latin typeface="Aptos" panose="020B0004020202020204" pitchFamily="34" charset="0"/>
              </a:rPr>
              <a:t>, </a:t>
            </a:r>
          </a:p>
          <a:p>
            <a:pPr marL="742950" lvl="1" indent="-285750" algn="l">
              <a:buFont typeface="Arial" panose="020B0604020202020204" pitchFamily="34" charset="0"/>
              <a:buChar char="•"/>
              <a:defRPr sz="2000">
                <a:solidFill>
                  <a:srgbClr val="373B3F"/>
                </a:solidFill>
              </a:defRPr>
            </a:pPr>
            <a:r>
              <a:rPr lang="en-IN" sz="1800" dirty="0">
                <a:solidFill>
                  <a:schemeClr val="dk1"/>
                </a:solidFill>
                <a:latin typeface="Aptos" panose="020B0004020202020204" pitchFamily="34" charset="0"/>
              </a:rPr>
              <a:t>password, </a:t>
            </a:r>
          </a:p>
          <a:p>
            <a:pPr marL="742950" lvl="1" indent="-285750" algn="l">
              <a:buFont typeface="Arial" panose="020B0604020202020204" pitchFamily="34" charset="0"/>
              <a:buChar char="•"/>
              <a:defRPr sz="2000">
                <a:solidFill>
                  <a:srgbClr val="373B3F"/>
                </a:solidFill>
              </a:defRPr>
            </a:pPr>
            <a:r>
              <a:rPr lang="en-IN" sz="1800" dirty="0" err="1">
                <a:solidFill>
                  <a:schemeClr val="dk1"/>
                </a:solidFill>
                <a:latin typeface="Aptos" panose="020B0004020202020204" pitchFamily="34" charset="0"/>
              </a:rPr>
              <a:t>first_found</a:t>
            </a:r>
            <a:endParaRPr lang="en-IN" sz="1800" dirty="0">
              <a:solidFill>
                <a:schemeClr val="dk1"/>
              </a:solidFill>
              <a:latin typeface="Aptos" panose="020B00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2000">
                <a:solidFill>
                  <a:srgbClr val="373B3F"/>
                </a:solidFill>
              </a:defRPr>
            </a:pPr>
            <a:r>
              <a:rPr lang="en-IN" sz="1800" dirty="0">
                <a:solidFill>
                  <a:schemeClr val="dk1"/>
                </a:solidFill>
                <a:latin typeface="Aptos" panose="020B0004020202020204" pitchFamily="34" charset="0"/>
              </a:rPr>
              <a:t>When to use lookup() vs query() in these cases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2000">
                <a:solidFill>
                  <a:srgbClr val="373B3F"/>
                </a:solidFill>
              </a:defRPr>
            </a:pPr>
            <a:r>
              <a:rPr lang="en-IN" sz="1800" dirty="0">
                <a:solidFill>
                  <a:schemeClr val="dk1"/>
                </a:solidFill>
                <a:latin typeface="Aptos" panose="020B0004020202020204" pitchFamily="34" charset="0"/>
              </a:rPr>
              <a:t>Best practices: errors=ignore, </a:t>
            </a:r>
            <a:r>
              <a:rPr lang="en-IN" sz="1800" dirty="0" err="1">
                <a:solidFill>
                  <a:schemeClr val="dk1"/>
                </a:solidFill>
                <a:latin typeface="Aptos" panose="020B0004020202020204" pitchFamily="34" charset="0"/>
              </a:rPr>
              <a:t>split_lines</a:t>
            </a:r>
            <a:r>
              <a:rPr lang="en-IN" sz="1800" dirty="0">
                <a:solidFill>
                  <a:schemeClr val="dk1"/>
                </a:solidFill>
                <a:latin typeface="Aptos" panose="020B0004020202020204" pitchFamily="34" charset="0"/>
              </a:rPr>
              <a:t>, </a:t>
            </a:r>
            <a:r>
              <a:rPr lang="en-IN" sz="1800" dirty="0" err="1">
                <a:solidFill>
                  <a:schemeClr val="dk1"/>
                </a:solidFill>
                <a:latin typeface="Aptos" panose="020B0004020202020204" pitchFamily="34" charset="0"/>
              </a:rPr>
              <a:t>from_json</a:t>
            </a:r>
            <a:r>
              <a:rPr lang="en-IN" sz="1800" dirty="0">
                <a:solidFill>
                  <a:schemeClr val="dk1"/>
                </a:solidFill>
                <a:latin typeface="Aptos" panose="020B0004020202020204" pitchFamily="34" charset="0"/>
              </a:rPr>
              <a:t>/</a:t>
            </a:r>
            <a:r>
              <a:rPr lang="en-IN" sz="1800" dirty="0" err="1">
                <a:solidFill>
                  <a:schemeClr val="dk1"/>
                </a:solidFill>
                <a:latin typeface="Aptos" panose="020B0004020202020204" pitchFamily="34" charset="0"/>
              </a:rPr>
              <a:t>from_yaml</a:t>
            </a:r>
            <a:endParaRPr lang="en-IN" sz="1800" dirty="0">
              <a:solidFill>
                <a:schemeClr val="dk1"/>
              </a:solidFill>
              <a:latin typeface="Aptos" panose="020B00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2000">
                <a:solidFill>
                  <a:srgbClr val="373B3F"/>
                </a:solidFill>
              </a:defRPr>
            </a:pPr>
            <a:r>
              <a:rPr lang="en-IN" sz="1800" dirty="0">
                <a:solidFill>
                  <a:schemeClr val="dk1"/>
                </a:solidFill>
                <a:latin typeface="Aptos" panose="020B0004020202020204" pitchFamily="34" charset="0"/>
              </a:rPr>
              <a:t>Mini demos + troubleshooting tips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2000">
                <a:solidFill>
                  <a:srgbClr val="373B3F"/>
                </a:solidFill>
              </a:defRPr>
            </a:pPr>
            <a:r>
              <a:rPr lang="en-IN" sz="1800" dirty="0">
                <a:solidFill>
                  <a:schemeClr val="dk1"/>
                </a:solidFill>
                <a:latin typeface="Aptos" panose="020B0004020202020204" pitchFamily="34" charset="0"/>
              </a:rPr>
              <a:t>Wrap-up and what's next</a:t>
            </a:r>
          </a:p>
        </p:txBody>
      </p:sp>
      <p:pic>
        <p:nvPicPr>
          <p:cNvPr id="7" name="Picture 6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715D9AC0-C344-9D47-4728-22E9B885E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0"/>
            <a:ext cx="1097280" cy="9605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062472" cy="717456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>
              <a:defRPr>
                <a:solidFill>
                  <a:srgbClr val="212529"/>
                </a:solidFill>
              </a:defRPr>
            </a:pPr>
            <a:r>
              <a:rPr dirty="0">
                <a:latin typeface="Aptos" panose="020B0004020202020204" pitchFamily="34" charset="0"/>
              </a:rPr>
              <a:t>Recap — Execution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589520" cy="1307591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 sz="2000">
                <a:solidFill>
                  <a:srgbClr val="373B3F"/>
                </a:solidFill>
              </a:defRPr>
            </a:pPr>
            <a:r>
              <a:rPr dirty="0">
                <a:latin typeface="Aptos" panose="020B0004020202020204" pitchFamily="34" charset="0"/>
              </a:rPr>
              <a:t>Lookups run on the controller; tasks execute on target hosts</a:t>
            </a:r>
          </a:p>
          <a:p>
            <a:pPr>
              <a:defRPr sz="2000">
                <a:solidFill>
                  <a:srgbClr val="373B3F"/>
                </a:solidFill>
              </a:defRPr>
            </a:pPr>
            <a:r>
              <a:rPr dirty="0">
                <a:latin typeface="Aptos" panose="020B0004020202020204" pitchFamily="34" charset="0"/>
              </a:rPr>
              <a:t>Flow: External Data → Controller (Lookup) → Task on Target</a:t>
            </a:r>
          </a:p>
          <a:p>
            <a:pPr>
              <a:defRPr sz="2000">
                <a:solidFill>
                  <a:srgbClr val="373B3F"/>
                </a:solidFill>
              </a:defRPr>
            </a:pPr>
            <a:r>
              <a:rPr dirty="0">
                <a:latin typeface="Aptos" panose="020B0004020202020204" pitchFamily="34" charset="0"/>
              </a:rPr>
              <a:t>Use query() when you expect multiple results (lists)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5ED721-C619-7084-428E-852DE242990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09473" y="3602734"/>
            <a:ext cx="4162528" cy="2587754"/>
          </a:xfrm>
          <a:prstGeom prst="rect">
            <a:avLst/>
          </a:prstGeom>
          <a:ln w="28575">
            <a:solidFill>
              <a:srgbClr val="002060"/>
            </a:solidFill>
          </a:ln>
        </p:spPr>
      </p:pic>
      <p:pic>
        <p:nvPicPr>
          <p:cNvPr id="5" name="Picture 4" descr="Designer (5).png">
            <a:extLst>
              <a:ext uri="{FF2B5EF4-FFF2-40B4-BE49-F238E27FC236}">
                <a16:creationId xmlns:a16="http://schemas.microsoft.com/office/drawing/2014/main" id="{609D3B82-C0F4-FF98-763F-AD6558CD0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3589364"/>
            <a:ext cx="4226537" cy="2601124"/>
          </a:xfrm>
          <a:prstGeom prst="rect">
            <a:avLst/>
          </a:prstGeom>
        </p:spPr>
      </p:pic>
      <p:pic>
        <p:nvPicPr>
          <p:cNvPr id="6" name="Picture 5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6F621893-B338-4B6B-7007-1FE45EB65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272" y="-1"/>
            <a:ext cx="1252728" cy="9186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026664" cy="88055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>
                <a:solidFill>
                  <a:srgbClr val="212529"/>
                </a:solidFill>
              </a:defRPr>
            </a:pPr>
            <a:r>
              <a:rPr dirty="0" err="1">
                <a:latin typeface="Aptos" panose="020B0004020202020204" pitchFamily="34" charset="0"/>
              </a:rPr>
              <a:t>url</a:t>
            </a:r>
            <a:endParaRPr dirty="0">
              <a:latin typeface="Aptos" panose="020B00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8448"/>
            <a:ext cx="8065008" cy="148132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defRPr sz="2000">
                <a:solidFill>
                  <a:srgbClr val="373B3F"/>
                </a:solidFill>
              </a:defRPr>
            </a:pPr>
            <a:r>
              <a:rPr dirty="0">
                <a:latin typeface="Aptos" panose="020B0004020202020204" pitchFamily="34" charset="0"/>
              </a:rPr>
              <a:t>Fetch content from HTTP/HTTPS endpoints on the controller</a:t>
            </a:r>
          </a:p>
          <a:p>
            <a:pPr>
              <a:defRPr sz="2000">
                <a:solidFill>
                  <a:srgbClr val="373B3F"/>
                </a:solidFill>
              </a:defRPr>
            </a:pPr>
            <a:r>
              <a:rPr dirty="0">
                <a:latin typeface="Aptos" panose="020B0004020202020204" pitchFamily="34" charset="0"/>
              </a:rPr>
              <a:t>Use for config fragments, metadata, or JSON payloads</a:t>
            </a:r>
          </a:p>
          <a:p>
            <a:pPr>
              <a:defRPr sz="2000">
                <a:solidFill>
                  <a:srgbClr val="373B3F"/>
                </a:solidFill>
              </a:defRPr>
            </a:pPr>
            <a:r>
              <a:rPr dirty="0">
                <a:latin typeface="Aptos" panose="020B0004020202020204" pitchFamily="34" charset="0"/>
              </a:rPr>
              <a:t>Set </a:t>
            </a:r>
            <a:r>
              <a:rPr dirty="0" err="1">
                <a:latin typeface="Aptos" panose="020B0004020202020204" pitchFamily="34" charset="0"/>
              </a:rPr>
              <a:t>validate_certs</a:t>
            </a:r>
            <a:r>
              <a:rPr dirty="0">
                <a:latin typeface="Aptos" panose="020B0004020202020204" pitchFamily="34" charset="0"/>
              </a:rPr>
              <a:t>=no for lab-only HTTPS with self-signed certs (avoid in prod)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487AA5-AE11-933F-83BF-4E129ABA3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923032"/>
            <a:ext cx="8229600" cy="3660330"/>
          </a:xfrm>
          <a:prstGeom prst="rect">
            <a:avLst/>
          </a:prstGeom>
        </p:spPr>
      </p:pic>
      <p:pic>
        <p:nvPicPr>
          <p:cNvPr id="6" name="Picture 5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9C796E25-0AD8-6881-07F0-39BD8635B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2" y="-1"/>
            <a:ext cx="1252728" cy="9186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684264" cy="1143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>
              <a:defRPr>
                <a:solidFill>
                  <a:srgbClr val="212529"/>
                </a:solidFill>
              </a:defRPr>
            </a:pPr>
            <a:r>
              <a:rPr dirty="0">
                <a:latin typeface="Aptos" panose="020B0004020202020204" pitchFamily="34" charset="0"/>
              </a:rPr>
              <a:t>Example — </a:t>
            </a:r>
            <a:r>
              <a:rPr dirty="0" err="1">
                <a:latin typeface="Aptos" panose="020B0004020202020204" pitchFamily="34" charset="0"/>
              </a:rPr>
              <a:t>url</a:t>
            </a:r>
            <a:r>
              <a:rPr dirty="0">
                <a:latin typeface="Aptos" panose="020B0004020202020204" pitchFamily="34" charset="0"/>
              </a:rPr>
              <a:t> lookup (JSON)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45654"/>
            <a:ext cx="7854696" cy="243143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rPr lang="en-US" sz="1900" dirty="0">
                <a:latin typeface="Aptos" panose="020B0004020202020204" pitchFamily="34" charset="0"/>
              </a:rPr>
              <a:t>Example1 </a:t>
            </a:r>
          </a:p>
          <a:p>
            <a:pPr>
              <a:defRPr sz="1600">
                <a:latin typeface="Courier New"/>
              </a:defRPr>
            </a:pPr>
            <a:r>
              <a:rPr sz="1900" dirty="0">
                <a:latin typeface="Aptos" panose="020B0004020202020204" pitchFamily="34" charset="0"/>
              </a:rPr>
              <a:t>vars:</a:t>
            </a:r>
            <a:br>
              <a:rPr sz="1900" dirty="0">
                <a:latin typeface="Aptos" panose="020B0004020202020204" pitchFamily="34" charset="0"/>
              </a:rPr>
            </a:br>
            <a:r>
              <a:rPr sz="1900" dirty="0">
                <a:latin typeface="Aptos" panose="020B0004020202020204" pitchFamily="34" charset="0"/>
              </a:rPr>
              <a:t>  </a:t>
            </a:r>
            <a:r>
              <a:rPr sz="1900" dirty="0" err="1">
                <a:latin typeface="Aptos" panose="020B0004020202020204" pitchFamily="34" charset="0"/>
              </a:rPr>
              <a:t>raw_json</a:t>
            </a:r>
            <a:r>
              <a:rPr sz="1900" dirty="0">
                <a:latin typeface="Aptos" panose="020B0004020202020204" pitchFamily="34" charset="0"/>
              </a:rPr>
              <a:t>: "{{ lookup('</a:t>
            </a:r>
            <a:r>
              <a:rPr sz="1900" dirty="0" err="1">
                <a:latin typeface="Aptos" panose="020B0004020202020204" pitchFamily="34" charset="0"/>
              </a:rPr>
              <a:t>url</a:t>
            </a:r>
            <a:r>
              <a:rPr sz="1900" dirty="0">
                <a:latin typeface="Aptos" panose="020B0004020202020204" pitchFamily="34" charset="0"/>
              </a:rPr>
              <a:t>', 'https://httpbin.org/</a:t>
            </a:r>
            <a:r>
              <a:rPr sz="1900" dirty="0" err="1">
                <a:latin typeface="Aptos" panose="020B0004020202020204" pitchFamily="34" charset="0"/>
              </a:rPr>
              <a:t>json</a:t>
            </a:r>
            <a:r>
              <a:rPr sz="1900" dirty="0">
                <a:latin typeface="Aptos" panose="020B0004020202020204" pitchFamily="34" charset="0"/>
              </a:rPr>
              <a:t>', </a:t>
            </a:r>
            <a:r>
              <a:rPr sz="1900" dirty="0" err="1">
                <a:latin typeface="Aptos" panose="020B0004020202020204" pitchFamily="34" charset="0"/>
              </a:rPr>
              <a:t>split_lines</a:t>
            </a:r>
            <a:r>
              <a:rPr sz="1900" dirty="0">
                <a:latin typeface="Aptos" panose="020B0004020202020204" pitchFamily="34" charset="0"/>
              </a:rPr>
              <a:t>=False) }}"</a:t>
            </a:r>
            <a:br>
              <a:rPr sz="1900" dirty="0">
                <a:latin typeface="Aptos" panose="020B0004020202020204" pitchFamily="34" charset="0"/>
              </a:rPr>
            </a:br>
            <a:r>
              <a:rPr sz="1900" dirty="0">
                <a:latin typeface="Aptos" panose="020B0004020202020204" pitchFamily="34" charset="0"/>
              </a:rPr>
              <a:t>  data: "{{ </a:t>
            </a:r>
            <a:r>
              <a:rPr sz="1900" dirty="0" err="1">
                <a:latin typeface="Aptos" panose="020B0004020202020204" pitchFamily="34" charset="0"/>
              </a:rPr>
              <a:t>raw_json</a:t>
            </a:r>
            <a:r>
              <a:rPr sz="1900" dirty="0">
                <a:latin typeface="Aptos" panose="020B0004020202020204" pitchFamily="34" charset="0"/>
              </a:rPr>
              <a:t> | </a:t>
            </a:r>
            <a:r>
              <a:rPr sz="1900" dirty="0" err="1">
                <a:latin typeface="Aptos" panose="020B0004020202020204" pitchFamily="34" charset="0"/>
              </a:rPr>
              <a:t>from_json</a:t>
            </a:r>
            <a:r>
              <a:rPr sz="1900" dirty="0">
                <a:latin typeface="Aptos" panose="020B0004020202020204" pitchFamily="34" charset="0"/>
              </a:rPr>
              <a:t> }}"</a:t>
            </a:r>
            <a:br>
              <a:rPr sz="1900" dirty="0">
                <a:latin typeface="Aptos" panose="020B0004020202020204" pitchFamily="34" charset="0"/>
              </a:rPr>
            </a:br>
            <a:br>
              <a:rPr sz="1900" dirty="0">
                <a:latin typeface="Aptos" panose="020B0004020202020204" pitchFamily="34" charset="0"/>
              </a:rPr>
            </a:br>
            <a:r>
              <a:rPr sz="1900" dirty="0">
                <a:latin typeface="Aptos" panose="020B0004020202020204" pitchFamily="34" charset="0"/>
              </a:rPr>
              <a:t>- name: Show title from JSON</a:t>
            </a:r>
            <a:br>
              <a:rPr sz="1900" dirty="0">
                <a:latin typeface="Aptos" panose="020B0004020202020204" pitchFamily="34" charset="0"/>
              </a:rPr>
            </a:br>
            <a:r>
              <a:rPr sz="1900" dirty="0">
                <a:latin typeface="Aptos" panose="020B0004020202020204" pitchFamily="34" charset="0"/>
              </a:rPr>
              <a:t>  ansible.builtin.debug:</a:t>
            </a:r>
            <a:br>
              <a:rPr sz="1900" dirty="0">
                <a:latin typeface="Aptos" panose="020B0004020202020204" pitchFamily="34" charset="0"/>
              </a:rPr>
            </a:br>
            <a:r>
              <a:rPr sz="1900" dirty="0">
                <a:latin typeface="Aptos" panose="020B0004020202020204" pitchFamily="34" charset="0"/>
              </a:rPr>
              <a:t>    msg: "{{ </a:t>
            </a:r>
            <a:r>
              <a:rPr sz="1900" dirty="0" err="1">
                <a:latin typeface="Aptos" panose="020B0004020202020204" pitchFamily="34" charset="0"/>
              </a:rPr>
              <a:t>data.slideshow.title</a:t>
            </a:r>
            <a:r>
              <a:rPr sz="1900" dirty="0">
                <a:latin typeface="Aptos" panose="020B0004020202020204" pitchFamily="34" charset="0"/>
              </a:rPr>
              <a:t> }}"</a:t>
            </a:r>
          </a:p>
        </p:txBody>
      </p:sp>
      <p:pic>
        <p:nvPicPr>
          <p:cNvPr id="4" name="Picture 3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BB6D47BB-67FF-1BC0-77B4-C68E02D82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272" y="-1"/>
            <a:ext cx="1252728" cy="9186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0A62CC-673E-8D65-F685-0F7BE4E2E02D}"/>
              </a:ext>
            </a:extLst>
          </p:cNvPr>
          <p:cNvSpPr txBox="1"/>
          <p:nvPr/>
        </p:nvSpPr>
        <p:spPr>
          <a:xfrm>
            <a:off x="457200" y="4059605"/>
            <a:ext cx="7790688" cy="163121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000" dirty="0">
                <a:latin typeface="Aptos" panose="020B0004020202020204" pitchFamily="34" charset="0"/>
              </a:rPr>
              <a:t>Example 2</a:t>
            </a:r>
          </a:p>
          <a:p>
            <a:r>
              <a:rPr lang="en-IN" sz="2000" dirty="0">
                <a:latin typeface="Aptos" panose="020B0004020202020204" pitchFamily="34" charset="0"/>
              </a:rPr>
              <a:t>vars:</a:t>
            </a:r>
          </a:p>
          <a:p>
            <a:r>
              <a:rPr lang="en-IN" sz="2000" dirty="0">
                <a:latin typeface="Aptos" panose="020B0004020202020204" pitchFamily="34" charset="0"/>
              </a:rPr>
              <a:t>  </a:t>
            </a:r>
            <a:r>
              <a:rPr lang="en-IN" sz="2000" dirty="0" err="1">
                <a:latin typeface="Aptos" panose="020B0004020202020204" pitchFamily="34" charset="0"/>
              </a:rPr>
              <a:t>raw_yaml</a:t>
            </a:r>
            <a:r>
              <a:rPr lang="en-IN" sz="2000" dirty="0">
                <a:latin typeface="Aptos" panose="020B0004020202020204" pitchFamily="34" charset="0"/>
              </a:rPr>
              <a:t>: "{{ lookup('</a:t>
            </a:r>
            <a:r>
              <a:rPr lang="en-IN" sz="2000" dirty="0" err="1">
                <a:latin typeface="Aptos" panose="020B0004020202020204" pitchFamily="34" charset="0"/>
              </a:rPr>
              <a:t>url</a:t>
            </a:r>
            <a:r>
              <a:rPr lang="en-IN" sz="2000" dirty="0">
                <a:latin typeface="Aptos" panose="020B0004020202020204" pitchFamily="34" charset="0"/>
              </a:rPr>
              <a:t>', 'https://example.local/config.yaml', </a:t>
            </a:r>
            <a:r>
              <a:rPr lang="en-IN" sz="2000" dirty="0" err="1">
                <a:latin typeface="Aptos" panose="020B0004020202020204" pitchFamily="34" charset="0"/>
              </a:rPr>
              <a:t>split_lines</a:t>
            </a:r>
            <a:r>
              <a:rPr lang="en-IN" sz="2000" dirty="0">
                <a:latin typeface="Aptos" panose="020B0004020202020204" pitchFamily="34" charset="0"/>
              </a:rPr>
              <a:t>=False) }}"</a:t>
            </a:r>
          </a:p>
          <a:p>
            <a:r>
              <a:rPr lang="en-IN" sz="2000" dirty="0">
                <a:latin typeface="Aptos" panose="020B0004020202020204" pitchFamily="34" charset="0"/>
              </a:rPr>
              <a:t>  </a:t>
            </a:r>
            <a:r>
              <a:rPr lang="en-IN" sz="2000" dirty="0" err="1">
                <a:latin typeface="Aptos" panose="020B0004020202020204" pitchFamily="34" charset="0"/>
              </a:rPr>
              <a:t>cfg</a:t>
            </a:r>
            <a:r>
              <a:rPr lang="en-IN" sz="2000" dirty="0">
                <a:latin typeface="Aptos" panose="020B0004020202020204" pitchFamily="34" charset="0"/>
              </a:rPr>
              <a:t>: "{{ </a:t>
            </a:r>
            <a:r>
              <a:rPr lang="en-IN" sz="2000" dirty="0" err="1">
                <a:latin typeface="Aptos" panose="020B0004020202020204" pitchFamily="34" charset="0"/>
              </a:rPr>
              <a:t>raw_yaml</a:t>
            </a:r>
            <a:r>
              <a:rPr lang="en-IN" sz="2000" dirty="0">
                <a:latin typeface="Aptos" panose="020B0004020202020204" pitchFamily="34" charset="0"/>
              </a:rPr>
              <a:t> | </a:t>
            </a:r>
            <a:r>
              <a:rPr lang="en-IN" sz="2000" dirty="0" err="1">
                <a:latin typeface="Aptos" panose="020B0004020202020204" pitchFamily="34" charset="0"/>
              </a:rPr>
              <a:t>from_yaml</a:t>
            </a:r>
            <a:r>
              <a:rPr lang="en-IN" sz="2000" dirty="0">
                <a:latin typeface="Aptos" panose="020B0004020202020204" pitchFamily="34" charset="0"/>
              </a:rPr>
              <a:t> }}"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538728" cy="740346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>
              <a:defRPr>
                <a:solidFill>
                  <a:srgbClr val="212529"/>
                </a:solidFill>
              </a:defRPr>
            </a:pPr>
            <a:r>
              <a:rPr dirty="0" err="1">
                <a:latin typeface="Aptos" panose="020B0004020202020204" pitchFamily="34" charset="0"/>
              </a:rPr>
              <a:t>ini</a:t>
            </a:r>
            <a:endParaRPr dirty="0">
              <a:latin typeface="Aptos" panose="020B00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6424"/>
            <a:ext cx="8229600" cy="1143001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 sz="2000">
                <a:solidFill>
                  <a:srgbClr val="373B3F"/>
                </a:solidFill>
              </a:defRPr>
            </a:pPr>
            <a:r>
              <a:rPr dirty="0">
                <a:latin typeface="Aptos" panose="020B0004020202020204" pitchFamily="34" charset="0"/>
              </a:rPr>
              <a:t>Read values from INI-style configuration files</a:t>
            </a:r>
          </a:p>
          <a:p>
            <a:pPr>
              <a:defRPr sz="2000">
                <a:solidFill>
                  <a:srgbClr val="373B3F"/>
                </a:solidFill>
              </a:defRPr>
            </a:pPr>
            <a:r>
              <a:rPr dirty="0">
                <a:latin typeface="Aptos" panose="020B0004020202020204" pitchFamily="34" charset="0"/>
              </a:rPr>
              <a:t>Great for reusing app config already stored in .</a:t>
            </a:r>
            <a:r>
              <a:rPr dirty="0" err="1">
                <a:latin typeface="Aptos" panose="020B0004020202020204" pitchFamily="34" charset="0"/>
              </a:rPr>
              <a:t>ini</a:t>
            </a:r>
            <a:r>
              <a:rPr dirty="0">
                <a:latin typeface="Aptos" panose="020B0004020202020204" pitchFamily="34" charset="0"/>
              </a:rPr>
              <a:t>/.properties</a:t>
            </a:r>
          </a:p>
          <a:p>
            <a:pPr>
              <a:defRPr sz="2000">
                <a:solidFill>
                  <a:srgbClr val="373B3F"/>
                </a:solidFill>
              </a:defRPr>
            </a:pPr>
            <a:r>
              <a:rPr dirty="0">
                <a:latin typeface="Aptos" panose="020B0004020202020204" pitchFamily="34" charset="0"/>
              </a:rPr>
              <a:t>Specify section, option, and file path</a:t>
            </a:r>
          </a:p>
        </p:txBody>
      </p:sp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71213384-5CE5-B4C6-B857-16BEF64AD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37221"/>
            <a:ext cx="8229600" cy="3739578"/>
          </a:xfrm>
          <a:prstGeom prst="rect">
            <a:avLst/>
          </a:prstGeom>
        </p:spPr>
      </p:pic>
      <p:pic>
        <p:nvPicPr>
          <p:cNvPr id="6" name="Picture 5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8B8C6771-99B2-DB5E-3F3E-F192D9C15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2" y="-1"/>
            <a:ext cx="1252728" cy="9186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885432" cy="831786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>
                <a:solidFill>
                  <a:srgbClr val="212529"/>
                </a:solidFill>
              </a:defRPr>
            </a:pPr>
            <a:r>
              <a:rPr dirty="0">
                <a:latin typeface="Aptos" panose="020B0004020202020204" pitchFamily="34" charset="0"/>
              </a:rPr>
              <a:t>Example — </a:t>
            </a:r>
            <a:r>
              <a:rPr dirty="0" err="1">
                <a:latin typeface="Aptos" panose="020B0004020202020204" pitchFamily="34" charset="0"/>
              </a:rPr>
              <a:t>ini</a:t>
            </a:r>
            <a:r>
              <a:rPr dirty="0">
                <a:latin typeface="Aptos" panose="020B0004020202020204" pitchFamily="34" charset="0"/>
              </a:rPr>
              <a:t> lookup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00784"/>
            <a:ext cx="8412480" cy="213904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rPr sz="1900" dirty="0">
                <a:latin typeface="Aptos" panose="020B0004020202020204" pitchFamily="34" charset="0"/>
              </a:rPr>
              <a:t>vars:</a:t>
            </a:r>
            <a:br>
              <a:rPr sz="1900" dirty="0">
                <a:latin typeface="Aptos" panose="020B0004020202020204" pitchFamily="34" charset="0"/>
              </a:rPr>
            </a:br>
            <a:r>
              <a:rPr sz="1900" dirty="0">
                <a:latin typeface="Aptos" panose="020B0004020202020204" pitchFamily="34" charset="0"/>
              </a:rPr>
              <a:t>  </a:t>
            </a:r>
            <a:r>
              <a:rPr sz="1900" dirty="0" err="1">
                <a:latin typeface="Aptos" panose="020B0004020202020204" pitchFamily="34" charset="0"/>
              </a:rPr>
              <a:t>db_user</a:t>
            </a:r>
            <a:r>
              <a:rPr sz="1900" dirty="0">
                <a:latin typeface="Aptos" panose="020B0004020202020204" pitchFamily="34" charset="0"/>
              </a:rPr>
              <a:t>: "{{ lookup('</a:t>
            </a:r>
            <a:r>
              <a:rPr sz="1900" dirty="0" err="1">
                <a:latin typeface="Aptos" panose="020B0004020202020204" pitchFamily="34" charset="0"/>
              </a:rPr>
              <a:t>ini</a:t>
            </a:r>
            <a:r>
              <a:rPr sz="1900" dirty="0">
                <a:latin typeface="Aptos" panose="020B0004020202020204" pitchFamily="34" charset="0"/>
              </a:rPr>
              <a:t>', 'user section=database file=files/app.ini') }}"</a:t>
            </a:r>
            <a:br>
              <a:rPr sz="1900" dirty="0">
                <a:latin typeface="Aptos" panose="020B0004020202020204" pitchFamily="34" charset="0"/>
              </a:rPr>
            </a:br>
            <a:r>
              <a:rPr sz="1900" dirty="0">
                <a:latin typeface="Aptos" panose="020B0004020202020204" pitchFamily="34" charset="0"/>
              </a:rPr>
              <a:t>  </a:t>
            </a:r>
            <a:r>
              <a:rPr sz="1900" dirty="0" err="1">
                <a:latin typeface="Aptos" panose="020B0004020202020204" pitchFamily="34" charset="0"/>
              </a:rPr>
              <a:t>db_host</a:t>
            </a:r>
            <a:r>
              <a:rPr sz="1900" dirty="0">
                <a:latin typeface="Aptos" panose="020B0004020202020204" pitchFamily="34" charset="0"/>
              </a:rPr>
              <a:t>: "{{ lookup('</a:t>
            </a:r>
            <a:r>
              <a:rPr sz="1900" dirty="0" err="1">
                <a:latin typeface="Aptos" panose="020B0004020202020204" pitchFamily="34" charset="0"/>
              </a:rPr>
              <a:t>ini</a:t>
            </a:r>
            <a:r>
              <a:rPr sz="1900" dirty="0">
                <a:latin typeface="Aptos" panose="020B0004020202020204" pitchFamily="34" charset="0"/>
              </a:rPr>
              <a:t>', 'host section=database file=files/app.ini') }}"</a:t>
            </a:r>
            <a:br>
              <a:rPr sz="1900" dirty="0">
                <a:latin typeface="Aptos" panose="020B0004020202020204" pitchFamily="34" charset="0"/>
              </a:rPr>
            </a:br>
            <a:br>
              <a:rPr sz="1900" dirty="0">
                <a:latin typeface="Aptos" panose="020B0004020202020204" pitchFamily="34" charset="0"/>
              </a:rPr>
            </a:br>
            <a:r>
              <a:rPr sz="1900" dirty="0">
                <a:latin typeface="Aptos" panose="020B0004020202020204" pitchFamily="34" charset="0"/>
              </a:rPr>
              <a:t>- name: Show DB settings</a:t>
            </a:r>
            <a:br>
              <a:rPr sz="1900" dirty="0">
                <a:latin typeface="Aptos" panose="020B0004020202020204" pitchFamily="34" charset="0"/>
              </a:rPr>
            </a:br>
            <a:r>
              <a:rPr sz="1900" dirty="0">
                <a:latin typeface="Aptos" panose="020B0004020202020204" pitchFamily="34" charset="0"/>
              </a:rPr>
              <a:t>  ansible.builtin.debug:</a:t>
            </a:r>
            <a:br>
              <a:rPr sz="1900" dirty="0">
                <a:latin typeface="Aptos" panose="020B0004020202020204" pitchFamily="34" charset="0"/>
              </a:rPr>
            </a:br>
            <a:r>
              <a:rPr sz="1900" dirty="0">
                <a:latin typeface="Aptos" panose="020B0004020202020204" pitchFamily="34" charset="0"/>
              </a:rPr>
              <a:t>    msg: "</a:t>
            </a:r>
            <a:r>
              <a:rPr sz="1900" dirty="0" err="1">
                <a:latin typeface="Aptos" panose="020B0004020202020204" pitchFamily="34" charset="0"/>
              </a:rPr>
              <a:t>db_user</a:t>
            </a:r>
            <a:r>
              <a:rPr sz="1900" dirty="0">
                <a:latin typeface="Aptos" panose="020B0004020202020204" pitchFamily="34" charset="0"/>
              </a:rPr>
              <a:t>={{ </a:t>
            </a:r>
            <a:r>
              <a:rPr sz="1900" dirty="0" err="1">
                <a:latin typeface="Aptos" panose="020B0004020202020204" pitchFamily="34" charset="0"/>
              </a:rPr>
              <a:t>db_user</a:t>
            </a:r>
            <a:r>
              <a:rPr sz="1900" dirty="0">
                <a:latin typeface="Aptos" panose="020B0004020202020204" pitchFamily="34" charset="0"/>
              </a:rPr>
              <a:t> }}, </a:t>
            </a:r>
            <a:r>
              <a:rPr sz="1900" dirty="0" err="1">
                <a:latin typeface="Aptos" panose="020B0004020202020204" pitchFamily="34" charset="0"/>
              </a:rPr>
              <a:t>db_host</a:t>
            </a:r>
            <a:r>
              <a:rPr sz="1900" dirty="0">
                <a:latin typeface="Aptos" panose="020B0004020202020204" pitchFamily="34" charset="0"/>
              </a:rPr>
              <a:t>={{ </a:t>
            </a:r>
            <a:r>
              <a:rPr sz="1900" dirty="0" err="1">
                <a:latin typeface="Aptos" panose="020B0004020202020204" pitchFamily="34" charset="0"/>
              </a:rPr>
              <a:t>db_host</a:t>
            </a:r>
            <a:r>
              <a:rPr sz="1900" dirty="0">
                <a:latin typeface="Aptos" panose="020B0004020202020204" pitchFamily="34" charset="0"/>
              </a:rPr>
              <a:t> }}"</a:t>
            </a:r>
          </a:p>
        </p:txBody>
      </p:sp>
      <p:pic>
        <p:nvPicPr>
          <p:cNvPr id="4" name="Picture 3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5C22BC8E-DB44-CF66-3B26-22713323B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272" y="-1"/>
            <a:ext cx="1252728" cy="9186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888736" cy="918629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>
                <a:solidFill>
                  <a:srgbClr val="212529"/>
                </a:solidFill>
              </a:defRPr>
            </a:pPr>
            <a:r>
              <a:rPr dirty="0" err="1">
                <a:latin typeface="Aptos" panose="020B0004020202020204" pitchFamily="34" charset="0"/>
              </a:rPr>
              <a:t>fileglob</a:t>
            </a:r>
            <a:r>
              <a:rPr dirty="0">
                <a:latin typeface="Aptos" panose="020B0004020202020204" pitchFamily="34" charset="0"/>
              </a:rPr>
              <a:t> —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3098"/>
            <a:ext cx="8229600" cy="122529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 sz="2000">
                <a:solidFill>
                  <a:srgbClr val="373B3F"/>
                </a:solidFill>
              </a:defRPr>
            </a:pPr>
            <a:r>
              <a:rPr dirty="0">
                <a:latin typeface="Aptos" panose="020B0004020202020204" pitchFamily="34" charset="0"/>
              </a:rPr>
              <a:t>Return a list of matching files from the controller</a:t>
            </a:r>
          </a:p>
          <a:p>
            <a:pPr>
              <a:defRPr sz="2000">
                <a:solidFill>
                  <a:srgbClr val="373B3F"/>
                </a:solidFill>
              </a:defRPr>
            </a:pPr>
            <a:r>
              <a:rPr dirty="0">
                <a:latin typeface="Aptos" panose="020B0004020202020204" pitchFamily="34" charset="0"/>
              </a:rPr>
              <a:t>Use query() (returns list) — perfect with loops</a:t>
            </a:r>
          </a:p>
          <a:p>
            <a:pPr>
              <a:defRPr sz="2000">
                <a:solidFill>
                  <a:srgbClr val="373B3F"/>
                </a:solidFill>
              </a:defRPr>
            </a:pPr>
            <a:r>
              <a:rPr dirty="0">
                <a:latin typeface="Aptos" panose="020B0004020202020204" pitchFamily="34" charset="0"/>
              </a:rPr>
              <a:t>Common for batching templates or config fragments</a:t>
            </a:r>
          </a:p>
        </p:txBody>
      </p:sp>
      <p:pic>
        <p:nvPicPr>
          <p:cNvPr id="4" name="Picture 3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93A697E1-6EA6-C99B-75BC-4F1463B81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272" y="-1"/>
            <a:ext cx="1252728" cy="918629"/>
          </a:xfrm>
          <a:prstGeom prst="rect">
            <a:avLst/>
          </a:prstGeom>
        </p:spPr>
      </p:pic>
      <p:pic>
        <p:nvPicPr>
          <p:cNvPr id="6" name="Picture 5" descr="A screen shot of a computer">
            <a:extLst>
              <a:ext uri="{FF2B5EF4-FFF2-40B4-BE49-F238E27FC236}">
                <a16:creationId xmlns:a16="http://schemas.microsoft.com/office/drawing/2014/main" id="{9470787B-76AB-AEE5-F33F-CA34180C9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41320"/>
            <a:ext cx="8229600" cy="37368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55664" cy="1143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>
                <a:solidFill>
                  <a:srgbClr val="212529"/>
                </a:solidFill>
              </a:defRPr>
            </a:pPr>
            <a:r>
              <a:rPr dirty="0">
                <a:latin typeface="Aptos" panose="020B0004020202020204" pitchFamily="34" charset="0"/>
              </a:rPr>
              <a:t>Example — </a:t>
            </a:r>
            <a:r>
              <a:rPr dirty="0" err="1">
                <a:latin typeface="Aptos" panose="020B0004020202020204" pitchFamily="34" charset="0"/>
              </a:rPr>
              <a:t>fileglob</a:t>
            </a:r>
            <a:r>
              <a:rPr dirty="0">
                <a:latin typeface="Aptos" panose="020B0004020202020204" pitchFamily="34" charset="0"/>
              </a:rPr>
              <a:t> 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591056"/>
            <a:ext cx="8412480" cy="330859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rPr sz="1900" dirty="0">
                <a:latin typeface="Aptos" panose="020B0004020202020204" pitchFamily="34" charset="0"/>
              </a:rPr>
              <a:t>- name: Find all .conf files</a:t>
            </a:r>
            <a:br>
              <a:rPr sz="1900" dirty="0">
                <a:latin typeface="Aptos" panose="020B0004020202020204" pitchFamily="34" charset="0"/>
              </a:rPr>
            </a:br>
            <a:r>
              <a:rPr sz="1900" dirty="0">
                <a:latin typeface="Aptos" panose="020B0004020202020204" pitchFamily="34" charset="0"/>
              </a:rPr>
              <a:t>  vars:</a:t>
            </a:r>
            <a:br>
              <a:rPr sz="1900" dirty="0">
                <a:latin typeface="Aptos" panose="020B0004020202020204" pitchFamily="34" charset="0"/>
              </a:rPr>
            </a:br>
            <a:r>
              <a:rPr sz="1900" dirty="0">
                <a:latin typeface="Aptos" panose="020B0004020202020204" pitchFamily="34" charset="0"/>
              </a:rPr>
              <a:t>    files: "{{ query('</a:t>
            </a:r>
            <a:r>
              <a:rPr sz="1900" dirty="0" err="1">
                <a:latin typeface="Aptos" panose="020B0004020202020204" pitchFamily="34" charset="0"/>
              </a:rPr>
              <a:t>fileglob</a:t>
            </a:r>
            <a:r>
              <a:rPr sz="1900" dirty="0">
                <a:latin typeface="Aptos" panose="020B0004020202020204" pitchFamily="34" charset="0"/>
              </a:rPr>
              <a:t>', 'files/*.conf') }}"</a:t>
            </a:r>
            <a:br>
              <a:rPr sz="1900" dirty="0">
                <a:latin typeface="Aptos" panose="020B0004020202020204" pitchFamily="34" charset="0"/>
              </a:rPr>
            </a:br>
            <a:r>
              <a:rPr sz="1900" dirty="0">
                <a:latin typeface="Aptos" panose="020B0004020202020204" pitchFamily="34" charset="0"/>
              </a:rPr>
              <a:t>  ansible.builtin.debug:</a:t>
            </a:r>
            <a:br>
              <a:rPr sz="1900" dirty="0">
                <a:latin typeface="Aptos" panose="020B0004020202020204" pitchFamily="34" charset="0"/>
              </a:rPr>
            </a:br>
            <a:r>
              <a:rPr sz="1900" dirty="0">
                <a:latin typeface="Aptos" panose="020B0004020202020204" pitchFamily="34" charset="0"/>
              </a:rPr>
              <a:t>    var: files</a:t>
            </a:r>
            <a:br>
              <a:rPr sz="1900" dirty="0">
                <a:latin typeface="Aptos" panose="020B0004020202020204" pitchFamily="34" charset="0"/>
              </a:rPr>
            </a:br>
            <a:br>
              <a:rPr sz="1900" dirty="0">
                <a:latin typeface="Aptos" panose="020B0004020202020204" pitchFamily="34" charset="0"/>
              </a:rPr>
            </a:br>
            <a:r>
              <a:rPr sz="1900" dirty="0">
                <a:latin typeface="Aptos" panose="020B0004020202020204" pitchFamily="34" charset="0"/>
              </a:rPr>
              <a:t>- name: Deploy configs</a:t>
            </a:r>
            <a:br>
              <a:rPr sz="1900" dirty="0">
                <a:latin typeface="Aptos" panose="020B0004020202020204" pitchFamily="34" charset="0"/>
              </a:rPr>
            </a:br>
            <a:r>
              <a:rPr sz="1900" dirty="0">
                <a:latin typeface="Aptos" panose="020B0004020202020204" pitchFamily="34" charset="0"/>
              </a:rPr>
              <a:t>  ansible.builtin.copy:</a:t>
            </a:r>
            <a:br>
              <a:rPr sz="1900" dirty="0">
                <a:latin typeface="Aptos" panose="020B0004020202020204" pitchFamily="34" charset="0"/>
              </a:rPr>
            </a:br>
            <a:r>
              <a:rPr sz="1900" dirty="0">
                <a:latin typeface="Aptos" panose="020B0004020202020204" pitchFamily="34" charset="0"/>
              </a:rPr>
              <a:t>    </a:t>
            </a:r>
            <a:r>
              <a:rPr sz="1900" dirty="0" err="1">
                <a:latin typeface="Aptos" panose="020B0004020202020204" pitchFamily="34" charset="0"/>
              </a:rPr>
              <a:t>src</a:t>
            </a:r>
            <a:r>
              <a:rPr sz="1900" dirty="0">
                <a:latin typeface="Aptos" panose="020B0004020202020204" pitchFamily="34" charset="0"/>
              </a:rPr>
              <a:t>: "{{ item }}"</a:t>
            </a:r>
            <a:br>
              <a:rPr sz="1900" dirty="0">
                <a:latin typeface="Aptos" panose="020B0004020202020204" pitchFamily="34" charset="0"/>
              </a:rPr>
            </a:br>
            <a:r>
              <a:rPr sz="1900" dirty="0">
                <a:latin typeface="Aptos" panose="020B0004020202020204" pitchFamily="34" charset="0"/>
              </a:rPr>
              <a:t>    </a:t>
            </a:r>
            <a:r>
              <a:rPr sz="1900" dirty="0" err="1">
                <a:latin typeface="Aptos" panose="020B0004020202020204" pitchFamily="34" charset="0"/>
              </a:rPr>
              <a:t>dest</a:t>
            </a:r>
            <a:r>
              <a:rPr sz="1900" dirty="0">
                <a:latin typeface="Aptos" panose="020B0004020202020204" pitchFamily="34" charset="0"/>
              </a:rPr>
              <a:t>: "/etc/</a:t>
            </a:r>
            <a:r>
              <a:rPr sz="1900" dirty="0" err="1">
                <a:latin typeface="Aptos" panose="020B0004020202020204" pitchFamily="34" charset="0"/>
              </a:rPr>
              <a:t>myapp</a:t>
            </a:r>
            <a:r>
              <a:rPr sz="1900" dirty="0">
                <a:latin typeface="Aptos" panose="020B0004020202020204" pitchFamily="34" charset="0"/>
              </a:rPr>
              <a:t>/{{ item | </a:t>
            </a:r>
            <a:r>
              <a:rPr sz="1900" dirty="0" err="1">
                <a:latin typeface="Aptos" panose="020B0004020202020204" pitchFamily="34" charset="0"/>
              </a:rPr>
              <a:t>basename</a:t>
            </a:r>
            <a:r>
              <a:rPr sz="1900" dirty="0">
                <a:latin typeface="Aptos" panose="020B0004020202020204" pitchFamily="34" charset="0"/>
              </a:rPr>
              <a:t> }}"</a:t>
            </a:r>
            <a:br>
              <a:rPr sz="1900" dirty="0">
                <a:latin typeface="Aptos" panose="020B0004020202020204" pitchFamily="34" charset="0"/>
              </a:rPr>
            </a:br>
            <a:r>
              <a:rPr sz="1900" dirty="0">
                <a:latin typeface="Aptos" panose="020B0004020202020204" pitchFamily="34" charset="0"/>
              </a:rPr>
              <a:t>  loop: "{{ files }}"</a:t>
            </a:r>
          </a:p>
        </p:txBody>
      </p:sp>
      <p:pic>
        <p:nvPicPr>
          <p:cNvPr id="4" name="Picture 3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1BEF66B5-0910-4DF2-E538-B6F7B689F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272" y="-1"/>
            <a:ext cx="1252728" cy="9186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349240" cy="79521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>
                <a:solidFill>
                  <a:srgbClr val="212529"/>
                </a:solidFill>
              </a:defRPr>
            </a:pPr>
            <a:r>
              <a:rPr dirty="0" err="1">
                <a:latin typeface="Aptos" panose="020B0004020202020204" pitchFamily="34" charset="0"/>
              </a:rPr>
              <a:t>first_found</a:t>
            </a:r>
            <a:r>
              <a:rPr dirty="0">
                <a:latin typeface="Aptos" panose="020B0004020202020204" pitchFamily="34" charset="0"/>
              </a:rPr>
              <a:t> — lookup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3363"/>
            <a:ext cx="8229600" cy="1243583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defRPr sz="2000">
                <a:solidFill>
                  <a:srgbClr val="373B3F"/>
                </a:solidFill>
              </a:defRPr>
            </a:pPr>
            <a:r>
              <a:rPr dirty="0">
                <a:latin typeface="Aptos" panose="020B0004020202020204" pitchFamily="34" charset="0"/>
              </a:rPr>
              <a:t>Return the contents of the first existing file from a list</a:t>
            </a:r>
          </a:p>
          <a:p>
            <a:pPr>
              <a:defRPr sz="2000">
                <a:solidFill>
                  <a:srgbClr val="373B3F"/>
                </a:solidFill>
              </a:defRPr>
            </a:pPr>
            <a:r>
              <a:rPr dirty="0">
                <a:latin typeface="Aptos" panose="020B0004020202020204" pitchFamily="34" charset="0"/>
              </a:rPr>
              <a:t>Useful for env overrides: prod &gt; </a:t>
            </a:r>
            <a:r>
              <a:rPr dirty="0" err="1">
                <a:latin typeface="Aptos" panose="020B0004020202020204" pitchFamily="34" charset="0"/>
              </a:rPr>
              <a:t>qa</a:t>
            </a:r>
            <a:r>
              <a:rPr dirty="0">
                <a:latin typeface="Aptos" panose="020B0004020202020204" pitchFamily="34" charset="0"/>
              </a:rPr>
              <a:t> &gt; dev</a:t>
            </a:r>
          </a:p>
          <a:p>
            <a:pPr>
              <a:defRPr sz="2000">
                <a:solidFill>
                  <a:srgbClr val="373B3F"/>
                </a:solidFill>
              </a:defRPr>
            </a:pPr>
            <a:r>
              <a:rPr dirty="0">
                <a:latin typeface="Aptos" panose="020B0004020202020204" pitchFamily="34" charset="0"/>
              </a:rPr>
              <a:t>Combine with errors=ignore to avoid fatal failures</a:t>
            </a:r>
          </a:p>
        </p:txBody>
      </p:sp>
      <p:pic>
        <p:nvPicPr>
          <p:cNvPr id="4" name="Picture 3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1A62A5C0-BB90-A7AF-9F43-2160B1A15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272" y="-1"/>
            <a:ext cx="1252728" cy="918629"/>
          </a:xfrm>
          <a:prstGeom prst="rect">
            <a:avLst/>
          </a:prstGeom>
        </p:spPr>
      </p:pic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BC5DBD9E-2FA1-4BC8-A062-49385663B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31858"/>
            <a:ext cx="8229600" cy="36515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1836"/>
            <a:ext cx="5650992" cy="82327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>
                <a:solidFill>
                  <a:srgbClr val="212529"/>
                </a:solidFill>
              </a:defRPr>
            </a:pPr>
            <a:r>
              <a:rPr dirty="0">
                <a:latin typeface="Aptos" panose="020B0004020202020204" pitchFamily="34" charset="0"/>
              </a:rPr>
              <a:t>Example — </a:t>
            </a:r>
            <a:r>
              <a:rPr dirty="0" err="1">
                <a:latin typeface="Aptos" panose="020B0004020202020204" pitchFamily="34" charset="0"/>
              </a:rPr>
              <a:t>first_found</a:t>
            </a:r>
            <a:endParaRPr dirty="0">
              <a:latin typeface="Aptos" panose="020B00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412480" cy="30162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rPr sz="1900" dirty="0">
                <a:latin typeface="Aptos" panose="020B0004020202020204" pitchFamily="34" charset="0"/>
              </a:rPr>
              <a:t>vars:</a:t>
            </a:r>
            <a:br>
              <a:rPr sz="1900" dirty="0">
                <a:latin typeface="Aptos" panose="020B0004020202020204" pitchFamily="34" charset="0"/>
              </a:rPr>
            </a:br>
            <a:r>
              <a:rPr sz="1900" dirty="0">
                <a:latin typeface="Aptos" panose="020B0004020202020204" pitchFamily="34" charset="0"/>
              </a:rPr>
              <a:t>  </a:t>
            </a:r>
            <a:r>
              <a:rPr sz="1900" dirty="0" err="1">
                <a:latin typeface="Aptos" panose="020B0004020202020204" pitchFamily="34" charset="0"/>
              </a:rPr>
              <a:t>cfg</a:t>
            </a:r>
            <a:r>
              <a:rPr sz="1900" dirty="0">
                <a:latin typeface="Aptos" panose="020B0004020202020204" pitchFamily="34" charset="0"/>
              </a:rPr>
              <a:t>: "{{ lookup('</a:t>
            </a:r>
            <a:r>
              <a:rPr sz="1900" dirty="0" err="1">
                <a:latin typeface="Aptos" panose="020B0004020202020204" pitchFamily="34" charset="0"/>
              </a:rPr>
              <a:t>first_found</a:t>
            </a:r>
            <a:r>
              <a:rPr sz="1900" dirty="0">
                <a:latin typeface="Aptos" panose="020B0004020202020204" pitchFamily="34" charset="0"/>
              </a:rPr>
              <a:t>', params, errors='ignore') }}"</a:t>
            </a:r>
            <a:br>
              <a:rPr sz="1900" dirty="0">
                <a:latin typeface="Aptos" panose="020B0004020202020204" pitchFamily="34" charset="0"/>
              </a:rPr>
            </a:br>
            <a:r>
              <a:rPr sz="1900" dirty="0">
                <a:latin typeface="Aptos" panose="020B0004020202020204" pitchFamily="34" charset="0"/>
              </a:rPr>
              <a:t>  params:</a:t>
            </a:r>
            <a:br>
              <a:rPr sz="1900" dirty="0">
                <a:latin typeface="Aptos" panose="020B0004020202020204" pitchFamily="34" charset="0"/>
              </a:rPr>
            </a:br>
            <a:r>
              <a:rPr sz="1900" dirty="0">
                <a:latin typeface="Aptos" panose="020B0004020202020204" pitchFamily="34" charset="0"/>
              </a:rPr>
              <a:t>    files:</a:t>
            </a:r>
            <a:br>
              <a:rPr sz="1900" dirty="0">
                <a:latin typeface="Aptos" panose="020B0004020202020204" pitchFamily="34" charset="0"/>
              </a:rPr>
            </a:br>
            <a:r>
              <a:rPr sz="1900" dirty="0">
                <a:latin typeface="Aptos" panose="020B0004020202020204" pitchFamily="34" charset="0"/>
              </a:rPr>
              <a:t>      - "files/config/{{ env }}.</a:t>
            </a:r>
            <a:r>
              <a:rPr sz="1900" dirty="0" err="1">
                <a:latin typeface="Aptos" panose="020B0004020202020204" pitchFamily="34" charset="0"/>
              </a:rPr>
              <a:t>cfg</a:t>
            </a:r>
            <a:r>
              <a:rPr sz="1900" dirty="0">
                <a:latin typeface="Aptos" panose="020B0004020202020204" pitchFamily="34" charset="0"/>
              </a:rPr>
              <a:t>"</a:t>
            </a:r>
            <a:br>
              <a:rPr sz="1900" dirty="0">
                <a:latin typeface="Aptos" panose="020B0004020202020204" pitchFamily="34" charset="0"/>
              </a:rPr>
            </a:br>
            <a:r>
              <a:rPr sz="1900" dirty="0">
                <a:latin typeface="Aptos" panose="020B0004020202020204" pitchFamily="34" charset="0"/>
              </a:rPr>
              <a:t>      - "files/config/</a:t>
            </a:r>
            <a:r>
              <a:rPr sz="1900" dirty="0" err="1">
                <a:latin typeface="Aptos" panose="020B0004020202020204" pitchFamily="34" charset="0"/>
              </a:rPr>
              <a:t>default.cfg</a:t>
            </a:r>
            <a:r>
              <a:rPr sz="1900" dirty="0">
                <a:latin typeface="Aptos" panose="020B0004020202020204" pitchFamily="34" charset="0"/>
              </a:rPr>
              <a:t>"</a:t>
            </a:r>
            <a:br>
              <a:rPr sz="1900" dirty="0">
                <a:latin typeface="Aptos" panose="020B0004020202020204" pitchFamily="34" charset="0"/>
              </a:rPr>
            </a:br>
            <a:br>
              <a:rPr sz="1900" dirty="0">
                <a:latin typeface="Aptos" panose="020B0004020202020204" pitchFamily="34" charset="0"/>
              </a:rPr>
            </a:br>
            <a:r>
              <a:rPr sz="1900" dirty="0">
                <a:latin typeface="Aptos" panose="020B0004020202020204" pitchFamily="34" charset="0"/>
              </a:rPr>
              <a:t>- name: Show selected config</a:t>
            </a:r>
            <a:br>
              <a:rPr sz="1900" dirty="0">
                <a:latin typeface="Aptos" panose="020B0004020202020204" pitchFamily="34" charset="0"/>
              </a:rPr>
            </a:br>
            <a:r>
              <a:rPr sz="1900" dirty="0">
                <a:latin typeface="Aptos" panose="020B0004020202020204" pitchFamily="34" charset="0"/>
              </a:rPr>
              <a:t>  ansible.builtin.debug:</a:t>
            </a:r>
            <a:br>
              <a:rPr sz="1900" dirty="0">
                <a:latin typeface="Aptos" panose="020B0004020202020204" pitchFamily="34" charset="0"/>
              </a:rPr>
            </a:br>
            <a:r>
              <a:rPr sz="1900" dirty="0">
                <a:latin typeface="Aptos" panose="020B0004020202020204" pitchFamily="34" charset="0"/>
              </a:rPr>
              <a:t>    msg: "{{ </a:t>
            </a:r>
            <a:r>
              <a:rPr sz="1900" dirty="0" err="1">
                <a:latin typeface="Aptos" panose="020B0004020202020204" pitchFamily="34" charset="0"/>
              </a:rPr>
              <a:t>cfg</a:t>
            </a:r>
            <a:r>
              <a:rPr sz="1900" dirty="0">
                <a:latin typeface="Aptos" panose="020B0004020202020204" pitchFamily="34" charset="0"/>
              </a:rPr>
              <a:t> }}"</a:t>
            </a:r>
          </a:p>
        </p:txBody>
      </p:sp>
      <p:pic>
        <p:nvPicPr>
          <p:cNvPr id="4" name="Picture 3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04B70B00-A4B1-DFD5-F209-3D3670507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272" y="-1"/>
            <a:ext cx="1252728" cy="9186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848856" cy="1143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>
                <a:solidFill>
                  <a:srgbClr val="212529"/>
                </a:solidFill>
              </a:defRPr>
            </a:pPr>
            <a:r>
              <a:rPr dirty="0"/>
              <a:t>password — lookup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59105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 sz="2000">
                <a:solidFill>
                  <a:srgbClr val="373B3F"/>
                </a:solidFill>
              </a:defRPr>
            </a:pPr>
            <a:r>
              <a:rPr dirty="0"/>
              <a:t>Generate or retrieve a password and (optionally) store it on the controller</a:t>
            </a:r>
          </a:p>
          <a:p>
            <a:pPr>
              <a:defRPr sz="2000">
                <a:solidFill>
                  <a:srgbClr val="373B3F"/>
                </a:solidFill>
              </a:defRPr>
            </a:pPr>
            <a:r>
              <a:rPr dirty="0"/>
              <a:t>Great for idempotent secrets during first run</a:t>
            </a:r>
          </a:p>
          <a:p>
            <a:pPr>
              <a:defRPr sz="2000">
                <a:solidFill>
                  <a:srgbClr val="373B3F"/>
                </a:solidFill>
              </a:defRPr>
            </a:pPr>
            <a:r>
              <a:rPr dirty="0"/>
              <a:t>Control length and character set via options</a:t>
            </a:r>
          </a:p>
        </p:txBody>
      </p:sp>
      <p:pic>
        <p:nvPicPr>
          <p:cNvPr id="4" name="Picture 3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C56CD5EC-2885-E5EE-E584-E45735889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272" y="-1"/>
            <a:ext cx="1252728" cy="918629"/>
          </a:xfrm>
          <a:prstGeom prst="rect">
            <a:avLst/>
          </a:prstGeom>
        </p:spPr>
      </p:pic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5A26FE4D-0F9E-98E2-10BD-70A7D9DF0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3373820"/>
            <a:ext cx="8293608" cy="32095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6885432" cy="69002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>
              <a:defRPr>
                <a:solidFill>
                  <a:srgbClr val="212529"/>
                </a:solidFill>
              </a:defRPr>
            </a:pPr>
            <a:r>
              <a:rPr dirty="0"/>
              <a:t>Example — password lookup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52144"/>
            <a:ext cx="8412480" cy="213904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rPr sz="1900" dirty="0">
                <a:latin typeface="Aptos" panose="020B0004020202020204" pitchFamily="34" charset="0"/>
              </a:rPr>
              <a:t>vars:</a:t>
            </a:r>
            <a:br>
              <a:rPr sz="1900" dirty="0">
                <a:latin typeface="Aptos" panose="020B0004020202020204" pitchFamily="34" charset="0"/>
              </a:rPr>
            </a:br>
            <a:r>
              <a:rPr sz="1900" dirty="0">
                <a:latin typeface="Aptos" panose="020B0004020202020204" pitchFamily="34" charset="0"/>
              </a:rPr>
              <a:t>  </a:t>
            </a:r>
            <a:r>
              <a:rPr sz="1900" dirty="0" err="1">
                <a:latin typeface="Aptos" panose="020B0004020202020204" pitchFamily="34" charset="0"/>
              </a:rPr>
              <a:t>app_password</a:t>
            </a:r>
            <a:r>
              <a:rPr sz="1900" dirty="0">
                <a:latin typeface="Aptos" panose="020B0004020202020204" pitchFamily="34" charset="0"/>
              </a:rPr>
              <a:t>: "{{ lookup('password', '/</a:t>
            </a:r>
            <a:r>
              <a:rPr sz="1900" dirty="0" err="1">
                <a:latin typeface="Aptos" panose="020B0004020202020204" pitchFamily="34" charset="0"/>
              </a:rPr>
              <a:t>tmp</a:t>
            </a:r>
            <a:r>
              <a:rPr sz="1900" dirty="0">
                <a:latin typeface="Aptos" panose="020B0004020202020204" pitchFamily="34" charset="0"/>
              </a:rPr>
              <a:t>/.</a:t>
            </a:r>
            <a:r>
              <a:rPr sz="1900" dirty="0" err="1">
                <a:latin typeface="Aptos" panose="020B0004020202020204" pitchFamily="34" charset="0"/>
              </a:rPr>
              <a:t>app_pass</a:t>
            </a:r>
            <a:r>
              <a:rPr sz="1900" dirty="0">
                <a:latin typeface="Aptos" panose="020B0004020202020204" pitchFamily="34" charset="0"/>
              </a:rPr>
              <a:t> length=20 chars=</a:t>
            </a:r>
            <a:r>
              <a:rPr sz="1900" dirty="0" err="1">
                <a:latin typeface="Aptos" panose="020B0004020202020204" pitchFamily="34" charset="0"/>
              </a:rPr>
              <a:t>ascii_letters,digits</a:t>
            </a:r>
            <a:r>
              <a:rPr sz="1900" dirty="0">
                <a:latin typeface="Aptos" panose="020B0004020202020204" pitchFamily="34" charset="0"/>
              </a:rPr>
              <a:t>') }}"</a:t>
            </a:r>
            <a:br>
              <a:rPr sz="1900" dirty="0">
                <a:latin typeface="Aptos" panose="020B0004020202020204" pitchFamily="34" charset="0"/>
              </a:rPr>
            </a:br>
            <a:br>
              <a:rPr sz="1900" dirty="0">
                <a:latin typeface="Aptos" panose="020B0004020202020204" pitchFamily="34" charset="0"/>
              </a:rPr>
            </a:br>
            <a:r>
              <a:rPr sz="1900" dirty="0">
                <a:latin typeface="Aptos" panose="020B0004020202020204" pitchFamily="34" charset="0"/>
              </a:rPr>
              <a:t>- name: Use generated password</a:t>
            </a:r>
            <a:br>
              <a:rPr sz="1900" dirty="0">
                <a:latin typeface="Aptos" panose="020B0004020202020204" pitchFamily="34" charset="0"/>
              </a:rPr>
            </a:br>
            <a:r>
              <a:rPr sz="1900" dirty="0">
                <a:latin typeface="Aptos" panose="020B0004020202020204" pitchFamily="34" charset="0"/>
              </a:rPr>
              <a:t>  ansible.builtin.debug:</a:t>
            </a:r>
            <a:br>
              <a:rPr sz="1900" dirty="0">
                <a:latin typeface="Aptos" panose="020B0004020202020204" pitchFamily="34" charset="0"/>
              </a:rPr>
            </a:br>
            <a:r>
              <a:rPr sz="1900" dirty="0">
                <a:latin typeface="Aptos" panose="020B0004020202020204" pitchFamily="34" charset="0"/>
              </a:rPr>
              <a:t>    msg: "Generated password length={{ </a:t>
            </a:r>
            <a:r>
              <a:rPr sz="1900" dirty="0" err="1">
                <a:latin typeface="Aptos" panose="020B0004020202020204" pitchFamily="34" charset="0"/>
              </a:rPr>
              <a:t>app_password</a:t>
            </a:r>
            <a:r>
              <a:rPr sz="1900" dirty="0">
                <a:latin typeface="Aptos" panose="020B0004020202020204" pitchFamily="34" charset="0"/>
              </a:rPr>
              <a:t> | length }}"</a:t>
            </a:r>
          </a:p>
        </p:txBody>
      </p:sp>
      <p:pic>
        <p:nvPicPr>
          <p:cNvPr id="4" name="Picture 3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310F0CEB-3021-DBAB-606D-9E1CFB6F2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272" y="-1"/>
            <a:ext cx="1252728" cy="9186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647688" cy="918629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>
                <a:solidFill>
                  <a:srgbClr val="212529"/>
                </a:solidFill>
              </a:defRPr>
            </a:pPr>
            <a:r>
              <a:rPr dirty="0">
                <a:latin typeface="Aptos" panose="020B0004020202020204" pitchFamily="34" charset="0"/>
              </a:rP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268"/>
            <a:ext cx="8229600" cy="237744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 sz="2000">
                <a:solidFill>
                  <a:srgbClr val="373B3F"/>
                </a:solidFill>
              </a:defRPr>
            </a:pPr>
            <a:r>
              <a:rPr dirty="0">
                <a:latin typeface="Aptos" panose="020B0004020202020204" pitchFamily="34" charset="0"/>
              </a:rPr>
              <a:t>Use errors=ignore when optional data may be missing</a:t>
            </a:r>
          </a:p>
          <a:p>
            <a:pPr>
              <a:defRPr sz="2000">
                <a:solidFill>
                  <a:srgbClr val="373B3F"/>
                </a:solidFill>
              </a:defRPr>
            </a:pPr>
            <a:r>
              <a:rPr dirty="0">
                <a:latin typeface="Aptos" panose="020B0004020202020204" pitchFamily="34" charset="0"/>
              </a:rPr>
              <a:t>Use </a:t>
            </a:r>
            <a:r>
              <a:rPr dirty="0" err="1">
                <a:latin typeface="Aptos" panose="020B0004020202020204" pitchFamily="34" charset="0"/>
              </a:rPr>
              <a:t>split_lines</a:t>
            </a:r>
            <a:r>
              <a:rPr dirty="0">
                <a:latin typeface="Aptos" panose="020B0004020202020204" pitchFamily="34" charset="0"/>
              </a:rPr>
              <a:t>=false to keep JSON intact; then parse with </a:t>
            </a:r>
            <a:r>
              <a:rPr dirty="0" err="1">
                <a:latin typeface="Aptos" panose="020B0004020202020204" pitchFamily="34" charset="0"/>
              </a:rPr>
              <a:t>from_json</a:t>
            </a:r>
            <a:endParaRPr dirty="0">
              <a:latin typeface="Aptos" panose="020B0004020202020204" pitchFamily="34" charset="0"/>
            </a:endParaRPr>
          </a:p>
          <a:p>
            <a:pPr>
              <a:defRPr sz="2000">
                <a:solidFill>
                  <a:srgbClr val="373B3F"/>
                </a:solidFill>
              </a:defRPr>
            </a:pPr>
            <a:r>
              <a:rPr dirty="0">
                <a:latin typeface="Aptos" panose="020B0004020202020204" pitchFamily="34" charset="0"/>
              </a:rPr>
              <a:t>Prefer query() when looping (lists) to avoid type surprises</a:t>
            </a:r>
          </a:p>
          <a:p>
            <a:pPr>
              <a:defRPr sz="2000">
                <a:solidFill>
                  <a:srgbClr val="373B3F"/>
                </a:solidFill>
              </a:defRPr>
            </a:pPr>
            <a:r>
              <a:rPr dirty="0">
                <a:latin typeface="Aptos" panose="020B0004020202020204" pitchFamily="34" charset="0"/>
              </a:rPr>
              <a:t>Keep secrets out of Git; use env, Vault, or password lookup</a:t>
            </a:r>
          </a:p>
          <a:p>
            <a:pPr>
              <a:defRPr sz="2000">
                <a:solidFill>
                  <a:srgbClr val="373B3F"/>
                </a:solidFill>
              </a:defRPr>
            </a:pPr>
            <a:r>
              <a:rPr dirty="0">
                <a:latin typeface="Aptos" panose="020B0004020202020204" pitchFamily="34" charset="0"/>
              </a:rPr>
              <a:t>Validate data and add sensible defaults to avoid task failures</a:t>
            </a:r>
          </a:p>
        </p:txBody>
      </p:sp>
      <p:pic>
        <p:nvPicPr>
          <p:cNvPr id="4" name="Picture 3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193A5E8E-FFCB-854D-3257-F78A6DE5B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272" y="-1"/>
            <a:ext cx="1252728" cy="9186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605272" cy="1143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>
                <a:solidFill>
                  <a:srgbClr val="212529"/>
                </a:solidFill>
              </a:defRPr>
            </a:pPr>
            <a:r>
              <a:rPr dirty="0">
                <a:latin typeface="Aptos" panose="020B0004020202020204" pitchFamily="34" charset="0"/>
              </a:rPr>
              <a:t>Troubleshooting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54533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 sz="2000">
                <a:solidFill>
                  <a:srgbClr val="373B3F"/>
                </a:solidFill>
              </a:defRPr>
            </a:pPr>
            <a:r>
              <a:rPr dirty="0">
                <a:latin typeface="Aptos" panose="020B0004020202020204" pitchFamily="34" charset="0"/>
              </a:rPr>
              <a:t>Add -</a:t>
            </a:r>
            <a:r>
              <a:rPr dirty="0" err="1">
                <a:latin typeface="Aptos" panose="020B0004020202020204" pitchFamily="34" charset="0"/>
              </a:rPr>
              <a:t>vvv</a:t>
            </a:r>
            <a:r>
              <a:rPr dirty="0">
                <a:latin typeface="Aptos" panose="020B0004020202020204" pitchFamily="34" charset="0"/>
              </a:rPr>
              <a:t> to see lookup execution details on the controller</a:t>
            </a:r>
          </a:p>
          <a:p>
            <a:pPr>
              <a:defRPr sz="2000">
                <a:solidFill>
                  <a:srgbClr val="373B3F"/>
                </a:solidFill>
              </a:defRPr>
            </a:pPr>
            <a:r>
              <a:rPr dirty="0">
                <a:latin typeface="Aptos" panose="020B0004020202020204" pitchFamily="34" charset="0"/>
              </a:rPr>
              <a:t>Confirm working directory if relative paths fail</a:t>
            </a:r>
          </a:p>
          <a:p>
            <a:pPr>
              <a:defRPr sz="2000">
                <a:solidFill>
                  <a:srgbClr val="373B3F"/>
                </a:solidFill>
              </a:defRPr>
            </a:pPr>
            <a:r>
              <a:rPr dirty="0">
                <a:latin typeface="Aptos" panose="020B0004020202020204" pitchFamily="34" charset="0"/>
              </a:rPr>
              <a:t>Check permissions for files/commands used by pipe and file lookups</a:t>
            </a:r>
          </a:p>
          <a:p>
            <a:pPr>
              <a:defRPr sz="2000">
                <a:solidFill>
                  <a:srgbClr val="373B3F"/>
                </a:solidFill>
              </a:defRPr>
            </a:pPr>
            <a:r>
              <a:rPr dirty="0">
                <a:latin typeface="Aptos" panose="020B0004020202020204" pitchFamily="34" charset="0"/>
              </a:rPr>
              <a:t>When in doubt, run against localhost and register results</a:t>
            </a:r>
          </a:p>
        </p:txBody>
      </p:sp>
      <p:pic>
        <p:nvPicPr>
          <p:cNvPr id="4" name="Picture 3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A3276AF8-A2DE-3910-3D26-CC03A3F8D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272" y="-1"/>
            <a:ext cx="1252728" cy="91862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64685-AD6B-24EE-16AC-6F35326C4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13A4B-A689-197E-F7F3-AC56F851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Where lookup runs vs where task runs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3" name="Picture 2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A0ECB96F-6100-DB68-40C2-BF95B275D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15779"/>
            <a:ext cx="886968" cy="6276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8FC958-40E7-B1CF-66A9-5F17BC8C5E25}"/>
              </a:ext>
            </a:extLst>
          </p:cNvPr>
          <p:cNvSpPr txBox="1"/>
          <p:nvPr/>
        </p:nvSpPr>
        <p:spPr>
          <a:xfrm>
            <a:off x="783956" y="142074"/>
            <a:ext cx="7106520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dirty="0">
                <a:solidFill>
                  <a:schemeClr val="dk1"/>
                </a:solidFill>
                <a:latin typeface="Aptos" panose="020B0004020202020204" pitchFamily="34" charset="0"/>
              </a:rPr>
              <a:t>Key Takeaways — Lookup Plugins in Action</a:t>
            </a:r>
            <a:endParaRPr lang="en-IN" sz="2800" dirty="0">
              <a:solidFill>
                <a:schemeClr val="dk1"/>
              </a:solidFill>
              <a:latin typeface="Aptos" panose="020B0004020202020204" pitchFamily="34" charset="0"/>
            </a:endParaRPr>
          </a:p>
        </p:txBody>
      </p:sp>
      <p:pic>
        <p:nvPicPr>
          <p:cNvPr id="6" name="Picture 5" descr="A qr code with a red and black square">
            <a:extLst>
              <a:ext uri="{FF2B5EF4-FFF2-40B4-BE49-F238E27FC236}">
                <a16:creationId xmlns:a16="http://schemas.microsoft.com/office/drawing/2014/main" id="{B762ACAD-6DFC-C059-9E20-E89B61DED2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580" y="4538941"/>
            <a:ext cx="2590420" cy="22572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BDD484-F9F3-21A3-5006-1B8E38C4AF05}"/>
              </a:ext>
            </a:extLst>
          </p:cNvPr>
          <p:cNvSpPr txBox="1"/>
          <p:nvPr/>
        </p:nvSpPr>
        <p:spPr>
          <a:xfrm>
            <a:off x="6517577" y="4108481"/>
            <a:ext cx="250317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IN" sz="2400" dirty="0">
                <a:solidFill>
                  <a:srgbClr val="002060"/>
                </a:solidFill>
                <a:latin typeface="Haettenschweiler" panose="020B0706040902060204" pitchFamily="34" charset="0"/>
              </a:rPr>
              <a:t>Scan to Subscribe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84A549-78AE-DD92-3D04-C417C51F5270}"/>
              </a:ext>
            </a:extLst>
          </p:cNvPr>
          <p:cNvSpPr txBox="1"/>
          <p:nvPr/>
        </p:nvSpPr>
        <p:spPr>
          <a:xfrm>
            <a:off x="840622" y="723366"/>
            <a:ext cx="7049853" cy="34163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You practiced controller‑side lookups that fetch first, then tasks run on targets.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You can now use </a:t>
            </a:r>
            <a:r>
              <a:rPr lang="en-IN" dirty="0" err="1">
                <a:latin typeface="Aptos" panose="020B0004020202020204" pitchFamily="34" charset="0"/>
              </a:rPr>
              <a:t>url</a:t>
            </a:r>
            <a:r>
              <a:rPr lang="en-IN" dirty="0">
                <a:latin typeface="Aptos" panose="020B0004020202020204" pitchFamily="34" charset="0"/>
              </a:rPr>
              <a:t> (fetch HTTP/HTTPS content) and parse safely with </a:t>
            </a:r>
            <a:r>
              <a:rPr lang="en-IN" dirty="0" err="1">
                <a:latin typeface="Aptos" panose="020B0004020202020204" pitchFamily="34" charset="0"/>
              </a:rPr>
              <a:t>from_json</a:t>
            </a:r>
            <a:r>
              <a:rPr lang="en-IN" dirty="0">
                <a:latin typeface="Aptos" panose="020B0004020202020204" pitchFamily="34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You can read config from </a:t>
            </a:r>
            <a:r>
              <a:rPr lang="en-IN" dirty="0" err="1">
                <a:latin typeface="Aptos" panose="020B0004020202020204" pitchFamily="34" charset="0"/>
              </a:rPr>
              <a:t>ini</a:t>
            </a:r>
            <a:r>
              <a:rPr lang="en-IN" dirty="0">
                <a:latin typeface="Aptos" panose="020B0004020202020204" pitchFamily="34" charset="0"/>
              </a:rPr>
              <a:t> files and cleanly inject them into tasks.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You batch files with </a:t>
            </a:r>
            <a:r>
              <a:rPr lang="en-IN" dirty="0" err="1">
                <a:latin typeface="Aptos" panose="020B0004020202020204" pitchFamily="34" charset="0"/>
              </a:rPr>
              <a:t>fileglob</a:t>
            </a:r>
            <a:r>
              <a:rPr lang="en-IN" dirty="0">
                <a:latin typeface="Aptos" panose="020B0004020202020204" pitchFamily="34" charset="0"/>
              </a:rPr>
              <a:t> (use query() for lists and loops).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You select environment‑specific configs with </a:t>
            </a:r>
            <a:r>
              <a:rPr lang="en-IN" dirty="0" err="1">
                <a:latin typeface="Aptos" panose="020B0004020202020204" pitchFamily="34" charset="0"/>
              </a:rPr>
              <a:t>first_found</a:t>
            </a:r>
            <a:r>
              <a:rPr lang="en-IN" dirty="0">
                <a:latin typeface="Aptos" panose="020B0004020202020204" pitchFamily="34" charset="0"/>
              </a:rPr>
              <a:t> (with safe fallbacks).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You generate idempotent secrets via password lookup (stored on the controller).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Best practices reinforced: errors=ignore, </a:t>
            </a:r>
            <a:r>
              <a:rPr lang="en-IN" dirty="0" err="1">
                <a:latin typeface="Aptos" panose="020B0004020202020204" pitchFamily="34" charset="0"/>
              </a:rPr>
              <a:t>split_lines</a:t>
            </a:r>
            <a:r>
              <a:rPr lang="en-IN" dirty="0">
                <a:latin typeface="Aptos" panose="020B0004020202020204" pitchFamily="34" charset="0"/>
              </a:rPr>
              <a:t>=false, parse JSON/YAML, prefer query() when looping.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4AFFDD-2A6F-4683-54CF-C30C973C4A46}"/>
              </a:ext>
            </a:extLst>
          </p:cNvPr>
          <p:cNvSpPr txBox="1"/>
          <p:nvPr/>
        </p:nvSpPr>
        <p:spPr>
          <a:xfrm>
            <a:off x="902031" y="4691534"/>
            <a:ext cx="5105577" cy="64633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</a:rPr>
              <a:t>Up Next:</a:t>
            </a:r>
          </a:p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• Mini Project showcasing demo of each lookup</a:t>
            </a:r>
            <a:endParaRPr lang="en-IN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82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962</Words>
  <Application>Microsoft Office PowerPoint</Application>
  <PresentationFormat>On-screen Show (4:3)</PresentationFormat>
  <Paragraphs>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Haettenschweiler</vt:lpstr>
      <vt:lpstr>Office Theme</vt:lpstr>
      <vt:lpstr> Ansible Lookup Plugins</vt:lpstr>
      <vt:lpstr>Recap — Execution Flow</vt:lpstr>
      <vt:lpstr>url</vt:lpstr>
      <vt:lpstr>Example — url lookup (JSON)</vt:lpstr>
      <vt:lpstr>ini</vt:lpstr>
      <vt:lpstr>Example — ini lookup</vt:lpstr>
      <vt:lpstr>fileglob — query</vt:lpstr>
      <vt:lpstr>Example — fileglob query</vt:lpstr>
      <vt:lpstr>first_found — lookup</vt:lpstr>
      <vt:lpstr>Example — first_found</vt:lpstr>
      <vt:lpstr>password — lookup</vt:lpstr>
      <vt:lpstr>Example — password lookup</vt:lpstr>
      <vt:lpstr>Best Practices</vt:lpstr>
      <vt:lpstr>Troubleshooting Tips</vt:lpstr>
      <vt:lpstr>Where lookup runs vs where task runs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Pal, Soumyendu</cp:lastModifiedBy>
  <cp:revision>12</cp:revision>
  <dcterms:created xsi:type="dcterms:W3CDTF">2013-01-27T09:14:16Z</dcterms:created>
  <dcterms:modified xsi:type="dcterms:W3CDTF">2026-01-18T12:45:16Z</dcterms:modified>
  <cp:category/>
</cp:coreProperties>
</file>