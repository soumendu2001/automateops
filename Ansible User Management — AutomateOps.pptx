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2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, Soumyendu" userId="68503d3d-ac8d-4828-9c3f-abc5a97f3674" providerId="ADAL" clId="{C619CCC9-C04B-4407-8927-7DE24DA5E3CB}"/>
    <pc:docChg chg="undo custSel delSld modSld">
      <pc:chgData name="Pal, Soumyendu" userId="68503d3d-ac8d-4828-9c3f-abc5a97f3674" providerId="ADAL" clId="{C619CCC9-C04B-4407-8927-7DE24DA5E3CB}" dt="2026-04-25T09:32:03.445" v="136" actId="113"/>
      <pc:docMkLst>
        <pc:docMk/>
      </pc:docMkLst>
      <pc:sldChg chg="addSp modSp mod setBg">
        <pc:chgData name="Pal, Soumyendu" userId="68503d3d-ac8d-4828-9c3f-abc5a97f3674" providerId="ADAL" clId="{C619CCC9-C04B-4407-8927-7DE24DA5E3CB}" dt="2026-04-13T08:41:02.759" v="79" actId="2711"/>
        <pc:sldMkLst>
          <pc:docMk/>
          <pc:sldMk cId="0" sldId="256"/>
        </pc:sldMkLst>
        <pc:spChg chg="mod">
          <ac:chgData name="Pal, Soumyendu" userId="68503d3d-ac8d-4828-9c3f-abc5a97f3674" providerId="ADAL" clId="{C619CCC9-C04B-4407-8927-7DE24DA5E3CB}" dt="2026-04-13T08:40:55.853" v="78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1:02.759" v="79" actId="2711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9:58.708" v="73" actId="14100"/>
          <ac:picMkLst>
            <pc:docMk/>
            <pc:sldMk cId="0" sldId="256"/>
            <ac:picMk id="5" creationId="{D57E50C0-0EAB-2010-248F-4C849246EF38}"/>
          </ac:picMkLst>
        </pc:picChg>
      </pc:sldChg>
      <pc:sldChg chg="addSp delSp modSp mod setBg">
        <pc:chgData name="Pal, Soumyendu" userId="68503d3d-ac8d-4828-9c3f-abc5a97f3674" providerId="ADAL" clId="{C619CCC9-C04B-4407-8927-7DE24DA5E3CB}" dt="2026-04-13T08:40:23.315" v="76" actId="2711"/>
        <pc:sldMkLst>
          <pc:docMk/>
          <pc:sldMk cId="0" sldId="257"/>
        </pc:sldMkLst>
        <pc:spChg chg="mod">
          <ac:chgData name="Pal, Soumyendu" userId="68503d3d-ac8d-4828-9c3f-abc5a97f3674" providerId="ADAL" clId="{C619CCC9-C04B-4407-8927-7DE24DA5E3CB}" dt="2026-04-13T08:40:23.315" v="76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0:19.104" v="75" actId="2711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5:54.844" v="15" actId="14100"/>
          <ac:picMkLst>
            <pc:docMk/>
            <pc:sldMk cId="0" sldId="257"/>
            <ac:picMk id="4" creationId="{180A0824-5651-4A55-2AE4-1ACD4A5E6A7E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1:17.882" v="81" actId="2711"/>
        <pc:sldMkLst>
          <pc:docMk/>
          <pc:sldMk cId="0" sldId="258"/>
        </pc:sldMkLst>
        <pc:spChg chg="mod">
          <ac:chgData name="Pal, Soumyendu" userId="68503d3d-ac8d-4828-9c3f-abc5a97f3674" providerId="ADAL" clId="{C619CCC9-C04B-4407-8927-7DE24DA5E3CB}" dt="2026-04-13T08:41:17.882" v="81" actId="2711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6:01.633" v="17" actId="14100"/>
          <ac:picMkLst>
            <pc:docMk/>
            <pc:sldMk cId="0" sldId="258"/>
            <ac:picMk id="4" creationId="{DED20A92-D118-2124-57E5-5BF5EE0B238A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1:46.197" v="86" actId="1076"/>
        <pc:sldMkLst>
          <pc:docMk/>
          <pc:sldMk cId="0" sldId="259"/>
        </pc:sldMkLst>
        <pc:spChg chg="mod">
          <ac:chgData name="Pal, Soumyendu" userId="68503d3d-ac8d-4828-9c3f-abc5a97f3674" providerId="ADAL" clId="{C619CCC9-C04B-4407-8927-7DE24DA5E3CB}" dt="2026-04-13T08:41:46.197" v="86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1:43.660" v="85" actId="14100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6:12.645" v="20" actId="14100"/>
          <ac:picMkLst>
            <pc:docMk/>
            <pc:sldMk cId="0" sldId="259"/>
            <ac:picMk id="4" creationId="{1E4AC8BF-D727-5F8D-7565-5274F8BCA8B2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25T09:32:03.445" v="136" actId="113"/>
        <pc:sldMkLst>
          <pc:docMk/>
          <pc:sldMk cId="0" sldId="260"/>
        </pc:sldMkLst>
        <pc:spChg chg="mod">
          <ac:chgData name="Pal, Soumyendu" userId="68503d3d-ac8d-4828-9c3f-abc5a97f3674" providerId="ADAL" clId="{C619CCC9-C04B-4407-8927-7DE24DA5E3CB}" dt="2026-04-13T08:42:08.953" v="88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25T09:32:03.445" v="136" actId="113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6:27.265" v="23"/>
          <ac:picMkLst>
            <pc:docMk/>
            <pc:sldMk cId="0" sldId="260"/>
            <ac:picMk id="4" creationId="{DD2F7F34-7496-5FFC-3D0C-EBCEF2274CBB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2:33.753" v="92" actId="2711"/>
        <pc:sldMkLst>
          <pc:docMk/>
          <pc:sldMk cId="0" sldId="261"/>
        </pc:sldMkLst>
        <pc:spChg chg="mod">
          <ac:chgData name="Pal, Soumyendu" userId="68503d3d-ac8d-4828-9c3f-abc5a97f3674" providerId="ADAL" clId="{C619CCC9-C04B-4407-8927-7DE24DA5E3CB}" dt="2026-04-13T08:42:26.540" v="91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2:33.753" v="92" actId="2711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6:49.231" v="32" actId="14100"/>
          <ac:picMkLst>
            <pc:docMk/>
            <pc:sldMk cId="0" sldId="261"/>
            <ac:picMk id="4" creationId="{0DB9080B-B221-AE78-3104-A67E19BE837A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5:55.295" v="115" actId="113"/>
        <pc:sldMkLst>
          <pc:docMk/>
          <pc:sldMk cId="0" sldId="262"/>
        </pc:sldMkLst>
        <pc:spChg chg="mod">
          <ac:chgData name="Pal, Soumyendu" userId="68503d3d-ac8d-4828-9c3f-abc5a97f3674" providerId="ADAL" clId="{C619CCC9-C04B-4407-8927-7DE24DA5E3CB}" dt="2026-04-13T08:45:42.308" v="112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5:55.295" v="115" actId="113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6:56.201" v="33"/>
          <ac:picMkLst>
            <pc:docMk/>
            <pc:sldMk cId="0" sldId="262"/>
            <ac:picMk id="4" creationId="{BD66FF70-95BF-2B64-A7C0-B3396E740440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7:06.768" v="124"/>
        <pc:sldMkLst>
          <pc:docMk/>
          <pc:sldMk cId="0" sldId="263"/>
        </pc:sldMkLst>
        <pc:spChg chg="mod">
          <ac:chgData name="Pal, Soumyendu" userId="68503d3d-ac8d-4828-9c3f-abc5a97f3674" providerId="ADAL" clId="{C619CCC9-C04B-4407-8927-7DE24DA5E3CB}" dt="2026-04-13T08:47:01.892" v="123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6:11.046" v="118" actId="113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7:24.395" v="42" actId="1076"/>
          <ac:picMkLst>
            <pc:docMk/>
            <pc:sldMk cId="0" sldId="263"/>
            <ac:picMk id="4" creationId="{AF20E514-004E-522A-D753-63562E3E27CE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7:46.379" v="131"/>
        <pc:sldMkLst>
          <pc:docMk/>
          <pc:sldMk cId="0" sldId="264"/>
        </pc:sldMkLst>
        <pc:spChg chg="mod">
          <ac:chgData name="Pal, Soumyendu" userId="68503d3d-ac8d-4828-9c3f-abc5a97f3674" providerId="ADAL" clId="{C619CCC9-C04B-4407-8927-7DE24DA5E3CB}" dt="2026-04-13T08:47:39.177" v="130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7:34.142" v="129" actId="403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7:37.310" v="46" actId="14100"/>
          <ac:picMkLst>
            <pc:docMk/>
            <pc:sldMk cId="0" sldId="264"/>
            <ac:picMk id="4" creationId="{39EDA7F9-A7DF-D59F-5A28-596C955224B1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4:57.830" v="110" actId="113"/>
        <pc:sldMkLst>
          <pc:docMk/>
          <pc:sldMk cId="0" sldId="265"/>
        </pc:sldMkLst>
        <pc:spChg chg="mod">
          <ac:chgData name="Pal, Soumyendu" userId="68503d3d-ac8d-4828-9c3f-abc5a97f3674" providerId="ADAL" clId="{C619CCC9-C04B-4407-8927-7DE24DA5E3CB}" dt="2026-04-13T08:44:28.052" v="105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4:57.830" v="110" actId="113"/>
          <ac:spMkLst>
            <pc:docMk/>
            <pc:sldMk cId="0" sldId="265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7:50.238" v="50"/>
          <ac:picMkLst>
            <pc:docMk/>
            <pc:sldMk cId="0" sldId="265"/>
            <ac:picMk id="4" creationId="{E60F759A-74BE-0FF8-B61A-11B60395FEEC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13:51:36.580" v="133" actId="1076"/>
        <pc:sldMkLst>
          <pc:docMk/>
          <pc:sldMk cId="0" sldId="266"/>
        </pc:sldMkLst>
        <pc:spChg chg="mod">
          <ac:chgData name="Pal, Soumyendu" userId="68503d3d-ac8d-4828-9c3f-abc5a97f3674" providerId="ADAL" clId="{C619CCC9-C04B-4407-8927-7DE24DA5E3CB}" dt="2026-04-13T08:43:50.245" v="99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13:51:36.580" v="133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4:09.547" v="103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4:18.449" v="104" actId="207"/>
          <ac:spMkLst>
            <pc:docMk/>
            <pc:sldMk cId="0" sldId="266"/>
            <ac:spMk id="5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8:04.777" v="52" actId="14100"/>
          <ac:picMkLst>
            <pc:docMk/>
            <pc:sldMk cId="0" sldId="266"/>
            <ac:picMk id="8" creationId="{E7EC2849-9663-C8D7-A214-3619321FE1BF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12:27:21.408" v="132"/>
        <pc:sldMkLst>
          <pc:docMk/>
          <pc:sldMk cId="0" sldId="267"/>
        </pc:sldMkLst>
        <pc:spChg chg="mod">
          <ac:chgData name="Pal, Soumyendu" userId="68503d3d-ac8d-4828-9c3f-abc5a97f3674" providerId="ADAL" clId="{C619CCC9-C04B-4407-8927-7DE24DA5E3CB}" dt="2026-04-13T08:43:30.895" v="96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3:36.059" v="98" actId="27636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8:51.148" v="56" actId="14100"/>
          <ac:picMkLst>
            <pc:docMk/>
            <pc:sldMk cId="0" sldId="267"/>
            <ac:picMk id="4" creationId="{8F8D3D90-C550-3E10-ECD0-1E281EBEADA8}"/>
          </ac:picMkLst>
        </pc:picChg>
      </pc:sldChg>
      <pc:sldChg chg="addSp modSp mod setBg">
        <pc:chgData name="Pal, Soumyendu" userId="68503d3d-ac8d-4828-9c3f-abc5a97f3674" providerId="ADAL" clId="{C619CCC9-C04B-4407-8927-7DE24DA5E3CB}" dt="2026-04-13T08:43:07.934" v="95"/>
        <pc:sldMkLst>
          <pc:docMk/>
          <pc:sldMk cId="0" sldId="269"/>
        </pc:sldMkLst>
        <pc:spChg chg="mod">
          <ac:chgData name="Pal, Soumyendu" userId="68503d3d-ac8d-4828-9c3f-abc5a97f3674" providerId="ADAL" clId="{C619CCC9-C04B-4407-8927-7DE24DA5E3CB}" dt="2026-04-13T08:42:45.381" v="93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Pal, Soumyendu" userId="68503d3d-ac8d-4828-9c3f-abc5a97f3674" providerId="ADAL" clId="{C619CCC9-C04B-4407-8927-7DE24DA5E3CB}" dt="2026-04-13T08:42:49.693" v="94" actId="2711"/>
          <ac:spMkLst>
            <pc:docMk/>
            <pc:sldMk cId="0" sldId="269"/>
            <ac:spMk id="3" creationId="{00000000-0000-0000-0000-000000000000}"/>
          </ac:spMkLst>
        </pc:spChg>
        <pc:picChg chg="add mod">
          <ac:chgData name="Pal, Soumyendu" userId="68503d3d-ac8d-4828-9c3f-abc5a97f3674" providerId="ADAL" clId="{C619CCC9-C04B-4407-8927-7DE24DA5E3CB}" dt="2026-04-13T08:39:22.121" v="70" actId="1036"/>
          <ac:picMkLst>
            <pc:docMk/>
            <pc:sldMk cId="0" sldId="269"/>
            <ac:picMk id="4" creationId="{CDC77E49-3B72-7E26-1EFF-441E163067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267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AutomateOps! In this session, we’ll automate Linux user and group</a:t>
            </a:r>
          </a:p>
          <a:p>
            <a:r>
              <a:t>management with Ansible—securely, repeatably, and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the risk of drift with manual user management. Ansible’s idempotence</a:t>
            </a:r>
          </a:p>
          <a:p>
            <a:r>
              <a:t>prevents accidental changes and provides an auditable trail.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Call out that 'state: locked' is invalid—use password_lock yes/no.</a:t>
            </a:r>
          </a:p>
          <a:p>
            <a:r>
              <a:t>Also clarify that password_expire: yes forces change at next login, not 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mkpasswd --method=SHA-512 and explain why a static, vaulted hash keeps runs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group then user creation; emphasize idempotence.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Demonstrate id john before and after. Stress append: yes to avoid wiping memberships.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state: present does not unlock. Use password_lock.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password_expire: yes vs aging settings; suggest login_defs or chage for 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how to convert a date to epoch seconds for the expires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Warn about orphaned home directories without remove: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Narrate end-to-end: declare, apply, verify across fleet.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these gotchas; they cause the most confusion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 in comments; tease next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Ansible User Management —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AutomateOps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Create, secure, and manage Linux identities at scale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E50C0-0EAB-2010-248F-4C849246E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433" y="0"/>
            <a:ext cx="2732567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371" y="5794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User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n-US" dirty="0"/>
              <a:t> with Ansible?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371" y="2057399"/>
            <a:ext cx="8229600" cy="45259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Security &amp; compliance: consistent identities across fleets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Idempotence: declare desired state; Ansible does the rest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Speed &amp; scale: manage thousands of servers reliably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Auditability: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Playbooks become living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0A0824-5651-4A55-2AE4-1ACD4A5E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127" y="-47690"/>
            <a:ext cx="1822873" cy="845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ansible.builtin.user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create/delete accounts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passwords &amp; expiration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primary/secondary groups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lock/unlock password</a:t>
            </a: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ansible.builtin.group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create/delete groups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Extras (optional):</a:t>
            </a: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community.general.login_defs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for system defaults</a:t>
            </a:r>
          </a:p>
          <a:p>
            <a:pPr lvl="1"/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chage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command for aging fields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20A92-D118-2124-57E5-5BF5EE0B2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-47690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26" y="714080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Password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62447"/>
            <a:ext cx="8229600" cy="3563716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Pre-hash passwords; store in Ansible Vault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Avoid plaintext in playbooks and vars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update_password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on_create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to prevent rehash churn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Consider SSH keys where possible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4AC8BF-D727-5F8D-7565-5274F8BCA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059" y="0"/>
            <a:ext cx="1398941" cy="6485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77" y="1018917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Create User &amp; Group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57870"/>
            <a:ext cx="8229600" cy="2968293"/>
          </a:xfrm>
        </p:spPr>
        <p:txBody>
          <a:bodyPr>
            <a:normAutofit fontScale="92500" lnSpcReduction="10000"/>
          </a:bodyPr>
          <a:lstStyle/>
          <a:p>
            <a:pPr>
              <a:defRPr sz="1400">
                <a:latin typeface="Courier New"/>
              </a:defRPr>
            </a:pPr>
            <a:r>
              <a:rPr sz="1800" b="1" dirty="0"/>
              <a:t>- name: Ensure group </a:t>
            </a:r>
            <a:r>
              <a:rPr sz="1800" b="1" dirty="0" err="1"/>
              <a:t>devs</a:t>
            </a:r>
            <a:br>
              <a:rPr sz="1800" b="1" dirty="0"/>
            </a:br>
            <a:r>
              <a:rPr sz="1800" b="1" dirty="0"/>
              <a:t>  group:</a:t>
            </a:r>
            <a:br>
              <a:rPr sz="1800" b="1" dirty="0"/>
            </a:br>
            <a:r>
              <a:rPr sz="1800" b="1" dirty="0"/>
              <a:t>    name: </a:t>
            </a:r>
            <a:r>
              <a:rPr sz="1800" b="1" dirty="0" err="1"/>
              <a:t>devs</a:t>
            </a:r>
            <a:br>
              <a:rPr sz="1800" b="1" dirty="0"/>
            </a:br>
            <a:r>
              <a:rPr sz="1800" b="1" dirty="0"/>
              <a:t>    state: present</a:t>
            </a:r>
            <a:br>
              <a:rPr sz="1800" b="1" dirty="0"/>
            </a:br>
            <a:br>
              <a:rPr sz="1800" b="1" dirty="0"/>
            </a:br>
            <a:r>
              <a:rPr sz="1800" b="1" dirty="0"/>
              <a:t>- name: Ensure user john exists</a:t>
            </a:r>
            <a:br>
              <a:rPr sz="1800" b="1" dirty="0"/>
            </a:br>
            <a:r>
              <a:rPr sz="1800" b="1" dirty="0"/>
              <a:t>  user:</a:t>
            </a:r>
            <a:br>
              <a:rPr sz="1800" b="1" dirty="0"/>
            </a:br>
            <a:r>
              <a:rPr sz="1800" b="1" dirty="0"/>
              <a:t>    name: john</a:t>
            </a:r>
            <a:br>
              <a:rPr sz="1800" b="1" dirty="0"/>
            </a:br>
            <a:r>
              <a:rPr sz="1800" b="1" dirty="0"/>
              <a:t>    shell: /bin/bash</a:t>
            </a:r>
            <a:br>
              <a:rPr sz="1800" b="1" dirty="0"/>
            </a:br>
            <a:r>
              <a:rPr sz="1800" b="1" dirty="0"/>
              <a:t>    </a:t>
            </a:r>
            <a:r>
              <a:rPr sz="1800" b="1" dirty="0" err="1"/>
              <a:t>create_home</a:t>
            </a:r>
            <a:r>
              <a:rPr sz="1800" b="1" dirty="0"/>
              <a:t>: yes</a:t>
            </a:r>
            <a:br>
              <a:rPr sz="1800" b="1" dirty="0"/>
            </a:br>
            <a:r>
              <a:rPr sz="1800" b="1" dirty="0"/>
              <a:t>    state: present</a:t>
            </a:r>
            <a:br>
              <a:rPr sz="1800" b="1" dirty="0"/>
            </a:br>
            <a:endParaRPr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2F7F34-7496-5FFC-3D0C-EBCEF227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-47690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777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Manage Primary &amp; Secondary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1033"/>
            <a:ext cx="8229600" cy="291513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Secondary groups: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groups: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devs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append: yes (don't drop others)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Primary group:</a:t>
            </a:r>
          </a:p>
          <a:p>
            <a:pPr lvl="1"/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group: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devs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B9080B-B221-AE78-3104-A67E19BE8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0"/>
            <a:ext cx="1845805" cy="10100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446" y="822214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Lock &amp; Unlock Password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2925763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400">
                <a:latin typeface="Courier New"/>
              </a:defRPr>
            </a:pPr>
            <a:r>
              <a:rPr sz="1800" b="1" dirty="0"/>
              <a:t>- name: Lock john password</a:t>
            </a:r>
            <a:br>
              <a:rPr sz="1800" b="1" dirty="0"/>
            </a:br>
            <a:r>
              <a:rPr sz="1800" b="1" dirty="0"/>
              <a:t>  user:</a:t>
            </a:r>
            <a:br>
              <a:rPr sz="1800" b="1" dirty="0"/>
            </a:br>
            <a:r>
              <a:rPr sz="1800" b="1" dirty="0"/>
              <a:t>    name: john</a:t>
            </a:r>
            <a:br>
              <a:rPr sz="1800" b="1" dirty="0"/>
            </a:br>
            <a:r>
              <a:rPr sz="1800" b="1" dirty="0"/>
              <a:t>    </a:t>
            </a:r>
            <a:r>
              <a:rPr sz="1800" b="1" dirty="0" err="1"/>
              <a:t>password_lock</a:t>
            </a:r>
            <a:r>
              <a:rPr sz="1800" b="1" dirty="0"/>
              <a:t>: yes</a:t>
            </a:r>
            <a:br>
              <a:rPr sz="1800" b="1" dirty="0"/>
            </a:br>
            <a:br>
              <a:rPr sz="1800" b="1" dirty="0"/>
            </a:br>
            <a:r>
              <a:rPr sz="1800" b="1" dirty="0"/>
              <a:t>- name: Unlock john password</a:t>
            </a:r>
            <a:br>
              <a:rPr sz="1800" b="1" dirty="0"/>
            </a:br>
            <a:r>
              <a:rPr sz="1800" b="1" dirty="0"/>
              <a:t>  user:</a:t>
            </a:r>
            <a:br>
              <a:rPr sz="1800" b="1" dirty="0"/>
            </a:br>
            <a:r>
              <a:rPr sz="1800" b="1" dirty="0"/>
              <a:t>    name: john</a:t>
            </a:r>
            <a:br>
              <a:rPr sz="1800" b="1" dirty="0"/>
            </a:br>
            <a:r>
              <a:rPr sz="1800" b="1" dirty="0"/>
              <a:t>    </a:t>
            </a:r>
            <a:r>
              <a:rPr sz="1800" b="1" dirty="0" err="1"/>
              <a:t>password_lock</a:t>
            </a:r>
            <a:r>
              <a:rPr sz="1800" b="1" dirty="0"/>
              <a:t>: no</a:t>
            </a:r>
            <a:br>
              <a:rPr sz="1800" b="1" dirty="0"/>
            </a:br>
            <a:endParaRPr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6FF70-95BF-2B64-A7C0-B3396E740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-47690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2" y="1614341"/>
            <a:ext cx="8229600" cy="1143000"/>
          </a:xfrm>
        </p:spPr>
        <p:txBody>
          <a:bodyPr>
            <a:normAutofit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Set Password &amp; Force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1033"/>
            <a:ext cx="8229600" cy="291513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400">
                <a:latin typeface="Courier New"/>
              </a:defRPr>
            </a:pPr>
            <a:r>
              <a:rPr sz="1600" b="1" dirty="0"/>
              <a:t>- name: Set john password (vaulted hash)</a:t>
            </a:r>
            <a:br>
              <a:rPr sz="1600" b="1" dirty="0"/>
            </a:br>
            <a:r>
              <a:rPr sz="1600" b="1" dirty="0"/>
              <a:t>  user:</a:t>
            </a:r>
            <a:br>
              <a:rPr sz="1600" b="1" dirty="0"/>
            </a:br>
            <a:r>
              <a:rPr sz="1600" b="1" dirty="0"/>
              <a:t>    name: john</a:t>
            </a:r>
            <a:br>
              <a:rPr sz="1600" b="1" dirty="0"/>
            </a:br>
            <a:r>
              <a:rPr sz="1600" b="1" dirty="0"/>
              <a:t>    password: '{{ </a:t>
            </a:r>
            <a:r>
              <a:rPr sz="1600" b="1" dirty="0" err="1"/>
              <a:t>john_password_hash</a:t>
            </a:r>
            <a:r>
              <a:rPr sz="1600" b="1" dirty="0"/>
              <a:t> }}'</a:t>
            </a:r>
            <a:br>
              <a:rPr sz="1600" b="1" dirty="0"/>
            </a:br>
            <a:r>
              <a:rPr sz="1600" b="1" dirty="0"/>
              <a:t>    </a:t>
            </a:r>
            <a:r>
              <a:rPr sz="1600" b="1" dirty="0" err="1"/>
              <a:t>update_password</a:t>
            </a:r>
            <a:r>
              <a:rPr sz="1600" b="1" dirty="0"/>
              <a:t>: </a:t>
            </a:r>
            <a:r>
              <a:rPr sz="1600" b="1" dirty="0" err="1"/>
              <a:t>on_create</a:t>
            </a:r>
            <a:br>
              <a:rPr sz="1600" b="1" dirty="0"/>
            </a:br>
            <a:br>
              <a:rPr sz="1600" b="1" dirty="0"/>
            </a:br>
            <a:r>
              <a:rPr sz="1600" b="1" dirty="0"/>
              <a:t>- name: Force change at next login</a:t>
            </a:r>
            <a:br>
              <a:rPr sz="1600" b="1" dirty="0"/>
            </a:br>
            <a:r>
              <a:rPr sz="1600" b="1" dirty="0"/>
              <a:t>  user:</a:t>
            </a:r>
            <a:br>
              <a:rPr sz="1600" b="1" dirty="0"/>
            </a:br>
            <a:r>
              <a:rPr sz="1600" b="1" dirty="0"/>
              <a:t>    name: john</a:t>
            </a:r>
            <a:br>
              <a:rPr sz="1600" b="1" dirty="0"/>
            </a:br>
            <a:r>
              <a:rPr sz="1600" b="1" dirty="0"/>
              <a:t>    </a:t>
            </a:r>
            <a:r>
              <a:rPr sz="1600" b="1" dirty="0" err="1"/>
              <a:t>password_expire</a:t>
            </a:r>
            <a:r>
              <a:rPr sz="1600" b="1" dirty="0"/>
              <a:t>: yes</a:t>
            </a:r>
            <a:br>
              <a:rPr sz="1600" b="1" dirty="0"/>
            </a:br>
            <a:endParaRPr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0E514-004E-522A-D753-63562E3E2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0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651" y="1536406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Account Expiration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21395"/>
            <a:ext cx="8229600" cy="240476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>
              <a:defRPr sz="1400">
                <a:latin typeface="Courier New"/>
              </a:defRPr>
            </a:pPr>
            <a:r>
              <a:rPr sz="1800" b="1" dirty="0"/>
              <a:t>- name: Expire john account on a date</a:t>
            </a:r>
            <a:br>
              <a:rPr sz="1800" b="1" dirty="0"/>
            </a:br>
            <a:r>
              <a:rPr sz="1800" b="1" dirty="0"/>
              <a:t>  user:</a:t>
            </a:r>
            <a:br>
              <a:rPr sz="1800" b="1" dirty="0"/>
            </a:br>
            <a:r>
              <a:rPr sz="1800" b="1" dirty="0"/>
              <a:t>    name: john</a:t>
            </a:r>
            <a:br>
              <a:rPr sz="1800" b="1" dirty="0"/>
            </a:br>
            <a:r>
              <a:rPr sz="1800" b="1" dirty="0"/>
              <a:t>    expires: 1767225599  # 2026-12-31 23:59:59 UTC</a:t>
            </a:r>
            <a:br>
              <a:rPr sz="1800" b="1" dirty="0"/>
            </a:br>
            <a:endParaRPr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EDA7F9-A7DF-D59F-5A28-596C95522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0"/>
            <a:ext cx="1845805" cy="8080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772" y="1337894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Cleanup (Demo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1665"/>
            <a:ext cx="8229600" cy="290449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defRPr sz="1400">
                <a:latin typeface="Courier New"/>
              </a:defRPr>
            </a:pPr>
            <a:r>
              <a:rPr sz="1600" b="1" dirty="0"/>
              <a:t>- name: Remove user john (and home)</a:t>
            </a:r>
            <a:br>
              <a:rPr sz="1600" b="1" dirty="0"/>
            </a:br>
            <a:r>
              <a:rPr sz="1600" b="1" dirty="0"/>
              <a:t>  user:</a:t>
            </a:r>
            <a:br>
              <a:rPr sz="1600" b="1" dirty="0"/>
            </a:br>
            <a:r>
              <a:rPr sz="1600" b="1" dirty="0"/>
              <a:t>    name: john</a:t>
            </a:r>
            <a:br>
              <a:rPr sz="1600" b="1" dirty="0"/>
            </a:br>
            <a:r>
              <a:rPr sz="1600" b="1" dirty="0"/>
              <a:t>    state: absent</a:t>
            </a:r>
            <a:br>
              <a:rPr sz="1600" b="1" dirty="0"/>
            </a:br>
            <a:r>
              <a:rPr sz="1600" b="1" dirty="0"/>
              <a:t>    remove: yes</a:t>
            </a:r>
            <a:br>
              <a:rPr sz="1600" b="1" dirty="0"/>
            </a:br>
            <a:br>
              <a:rPr sz="1600" b="1" dirty="0"/>
            </a:br>
            <a:r>
              <a:rPr sz="1600" b="1" dirty="0"/>
              <a:t>- name: Remove group </a:t>
            </a:r>
            <a:r>
              <a:rPr sz="1600" b="1" dirty="0" err="1"/>
              <a:t>devs</a:t>
            </a:r>
            <a:r>
              <a:rPr sz="1600" b="1" dirty="0"/>
              <a:t> (if empty)</a:t>
            </a:r>
            <a:br>
              <a:rPr sz="1600" b="1" dirty="0"/>
            </a:br>
            <a:r>
              <a:rPr sz="1600" b="1" dirty="0"/>
              <a:t>  group:</a:t>
            </a:r>
            <a:br>
              <a:rPr sz="1600" b="1" dirty="0"/>
            </a:br>
            <a:r>
              <a:rPr sz="1600" b="1" dirty="0"/>
              <a:t>    name: </a:t>
            </a:r>
            <a:r>
              <a:rPr sz="1600" b="1" dirty="0" err="1"/>
              <a:t>devs</a:t>
            </a:r>
            <a:br>
              <a:rPr sz="1600" b="1" dirty="0"/>
            </a:br>
            <a:r>
              <a:rPr sz="1600" b="1" dirty="0"/>
              <a:t>    state: absent</a:t>
            </a:r>
            <a:br>
              <a:rPr sz="1600" b="1" dirty="0"/>
            </a:br>
            <a:endParaRPr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0F759A-74BE-0FF8-B61A-11B60395F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-47690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Playbook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774371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Declare desired state</a:t>
            </a:r>
          </a:p>
          <a:p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(YAML playbook)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Ansible applies</a:t>
            </a:r>
          </a:p>
          <a:p>
            <a:r>
              <a: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(idempotent tasks)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2860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users</a:t>
            </a:r>
          </a:p>
          <a:p>
            <a:r>
              <a:rPr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groups across hosts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7EC2849-9663-C8D7-A214-3619321F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0"/>
            <a:ext cx="1845805" cy="808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3224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7898"/>
            <a:ext cx="8229600" cy="3808265"/>
          </a:xfrm>
        </p:spPr>
        <p:txBody>
          <a:bodyPr>
            <a:normAutofit fontScale="925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Using state: locked (invalid) — use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password_lock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yes/no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Forgetting append: yes — wipes other groups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Rehashing every run — use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update_password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on_create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Deleting without remove: yes — leaves home directories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8D3D90-C550-3E10-ECD0-1E281EBEA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0"/>
            <a:ext cx="1845805" cy="808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53043"/>
            <a:ext cx="8229600" cy="1143000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Q&amp;A and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96093"/>
            <a:ext cx="8229600" cy="2830070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Module docs: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ansible.builtin.user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ansible.builtin.group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AutomateOps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GitHub repo (playbooks &amp; examples)</a:t>
            </a:r>
          </a:p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Subscribe for next episode: SSH keys &amp; sudo policies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77E49-3B72-7E26-1EFF-441E16306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95" y="16108"/>
            <a:ext cx="1845805" cy="8557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768</Words>
  <Application>Microsoft Office PowerPoint</Application>
  <PresentationFormat>On-screen Show (4:3)</PresentationFormat>
  <Paragraphs>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Ansible User Management — AutomateOps</vt:lpstr>
      <vt:lpstr>Why User Management with Ansible?</vt:lpstr>
      <vt:lpstr>Core Modules</vt:lpstr>
      <vt:lpstr>Password Best Practices</vt:lpstr>
      <vt:lpstr>Create User &amp; Group (Example)</vt:lpstr>
      <vt:lpstr>Manage Primary &amp; Secondary Groups</vt:lpstr>
      <vt:lpstr>Lock &amp; Unlock Password</vt:lpstr>
      <vt:lpstr>Set Password &amp; Force Change</vt:lpstr>
      <vt:lpstr>Account Expiration (Optional)</vt:lpstr>
      <vt:lpstr>Cleanup (Demo Only)</vt:lpstr>
      <vt:lpstr>Playbook Flow</vt:lpstr>
      <vt:lpstr>Common Pitfalls</vt:lpstr>
      <vt:lpstr>Q&amp;A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 User Management — AutomateOps</dc:title>
  <dc:subject>Managing Linux users and groups with Ansible</dc:subject>
  <dc:creator>AutomateOps (Soumyendu Pal)</dc:creator>
  <cp:keywords/>
  <dc:description>generated using python-pptx</dc:description>
  <cp:lastModifiedBy>Pal, Soumyendu</cp:lastModifiedBy>
  <cp:revision>1</cp:revision>
  <dcterms:created xsi:type="dcterms:W3CDTF">2013-01-27T09:14:16Z</dcterms:created>
  <dcterms:modified xsi:type="dcterms:W3CDTF">2026-04-25T09:32:08Z</dcterms:modified>
  <cp:category/>
</cp:coreProperties>
</file>